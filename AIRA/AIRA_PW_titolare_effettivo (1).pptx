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sldIdLst>
    <p:sldId id="256" r:id="rId5"/>
    <p:sldId id="281" r:id="rId6"/>
    <p:sldId id="302" r:id="rId7"/>
    <p:sldId id="344" r:id="rId8"/>
    <p:sldId id="345" r:id="rId9"/>
    <p:sldId id="346" r:id="rId10"/>
    <p:sldId id="347" r:id="rId11"/>
    <p:sldId id="348" r:id="rId12"/>
    <p:sldId id="349" r:id="rId13"/>
    <p:sldId id="350" r:id="rId14"/>
    <p:sldId id="351" r:id="rId15"/>
    <p:sldId id="354" r:id="rId16"/>
    <p:sldId id="358" r:id="rId17"/>
    <p:sldId id="360" r:id="rId1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09" autoAdjust="0"/>
    <p:restoredTop sz="94660"/>
  </p:normalViewPr>
  <p:slideViewPr>
    <p:cSldViewPr snapToGrid="0">
      <p:cViewPr>
        <p:scale>
          <a:sx n="70" d="100"/>
          <a:sy n="70" d="100"/>
        </p:scale>
        <p:origin x="70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98AEDB-375F-4065-9B9B-070E9603C0C1}" type="datetimeFigureOut">
              <a:rPr lang="it-IT" smtClean="0"/>
              <a:t>19/06/2026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E15B98-999D-4CC2-ADC8-F2C16D67756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38218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E15B98-999D-4CC2-ADC8-F2C16D677569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031203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2C2BB65-C393-00B1-5BAD-135BC48FDA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9501830F-2FD1-C8F2-086D-3F43626B5A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D61CBFF-282B-0D82-23E9-A36C2701F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13636-6D80-416E-8C99-5B5BA3DB3D06}" type="datetimeFigureOut">
              <a:rPr lang="it-IT" smtClean="0"/>
              <a:t>19/06/2026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5D9CCD3-4D0A-373F-7612-75A3076A5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955639B-336F-4AFA-498B-13C616442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29EFC-B687-4DE9-9C20-CE3CCF34D07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12059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A3DE4B2-5CFF-06BB-3F8D-11F6EC514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F0081F8-D5BC-250C-CF99-DDBF349BB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7BBA233-5AEF-5098-417E-95F02177E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13636-6D80-416E-8C99-5B5BA3DB3D06}" type="datetimeFigureOut">
              <a:rPr lang="it-IT" smtClean="0"/>
              <a:t>19/06/2026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3C8ADDC-A860-78BF-2843-CD3062F9B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6EE37F7-E982-11B6-BAA5-A981C82EC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29EFC-B687-4DE9-9C20-CE3CCF34D07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11231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EB1FB88-8BAE-0840-D847-3B5B597E1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F8487F4-8FAA-3333-0A07-D0E0854A80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A00E60E-358F-72B9-C3F8-77C93D3F5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13636-6D80-416E-8C99-5B5BA3DB3D06}" type="datetimeFigureOut">
              <a:rPr lang="it-IT" smtClean="0"/>
              <a:t>19/06/2026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30C7765-50FB-71A2-E3EE-60A19F59F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F485B34-7B57-BAFE-7E23-62037B75A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29EFC-B687-4DE9-9C20-CE3CCF34D07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86967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CA6216A-3F01-4557-4C2C-65DA309B6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7BC51FC-DF5A-9F0D-7C0F-29A29ECD77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168E9E6-5A5C-8D52-71C9-8AB3413112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C9A83DB-7F5F-A052-B2B6-A9F68D6E8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13636-6D80-416E-8C99-5B5BA3DB3D06}" type="datetimeFigureOut">
              <a:rPr lang="it-IT" smtClean="0"/>
              <a:t>19/06/2026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184BD67-A6E5-3560-F9DF-A55713FFF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43F5624-1CC4-147E-551C-13834A7C2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29EFC-B687-4DE9-9C20-CE3CCF34D07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47797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A1694C8-D7DA-3674-8DFD-C02ED88C4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FEEEB71-F56A-9CE7-1808-CABF8D8DF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84D0270-F678-3B28-00BC-C0EA3DBCFF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CF6F45C2-C30A-2D39-8D75-0C185273ED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D6BA0C99-368F-2B0F-0C71-774D5D5001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376D200D-F79C-A87C-A656-AEFBA79D2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13636-6D80-416E-8C99-5B5BA3DB3D06}" type="datetimeFigureOut">
              <a:rPr lang="it-IT" smtClean="0"/>
              <a:t>19/06/2026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E846349C-832B-62F5-7AB2-5336E37BB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C361E3B8-86FB-C9E2-8219-13785C484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29EFC-B687-4DE9-9C20-CE3CCF34D07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8973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9DEA0A1-EEBA-E7F2-E6B6-6E21FD3BD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5D5CDC93-903E-7D26-A923-51C98B803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13636-6D80-416E-8C99-5B5BA3DB3D06}" type="datetimeFigureOut">
              <a:rPr lang="it-IT" smtClean="0"/>
              <a:t>19/06/2026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35991E1-4C62-8DB6-BB8D-1494BB40C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3D85526-4439-ACB9-4D49-49B4E6BB4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29EFC-B687-4DE9-9C20-CE3CCF34D07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78464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1F9ED454-3F1E-0483-C62A-F04D88C01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13636-6D80-416E-8C99-5B5BA3DB3D06}" type="datetimeFigureOut">
              <a:rPr lang="it-IT" smtClean="0"/>
              <a:t>19/06/2026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5CBBE7E0-53F6-08A5-77F6-A609327C1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5134A06-16A2-A522-4659-3A6A23952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29EFC-B687-4DE9-9C20-CE3CCF34D07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64857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9350DF6-4A37-0CA2-F43E-40487F1B3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FB43639-E2B9-6D0E-78EF-1D56219F11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9747E4A7-17BA-6289-49C3-FCE1E4FF83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8C7A8D7-6A4E-C198-0A83-6DE0E9FBE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13636-6D80-416E-8C99-5B5BA3DB3D06}" type="datetimeFigureOut">
              <a:rPr lang="it-IT" smtClean="0"/>
              <a:t>19/06/2026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2B5E44B-C459-8D4F-09DC-C33EFAD5D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047957D-84A5-CFB4-F297-38121362B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29EFC-B687-4DE9-9C20-CE3CCF34D07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11307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A8FB847-2BB7-C498-1D06-8E57A7DBA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27F6BC12-9C07-F348-AFD4-49245D7694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B3D23541-EB47-A733-D615-9C8F7A2EE0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E4ED5EC-07B1-5588-1CBA-D2B625D85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13636-6D80-416E-8C99-5B5BA3DB3D06}" type="datetimeFigureOut">
              <a:rPr lang="it-IT" smtClean="0"/>
              <a:t>19/06/2026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B886C5F-B4BC-877B-A5F7-E949FDE12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104B0B5-FA9F-1E5A-C8A2-3C2FF9AE2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29EFC-B687-4DE9-9C20-CE3CCF34D07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53658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EA4F5D1-03E9-1CB2-026C-B4D112EE1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4F38A7BA-F05D-6793-51B8-68E1BB905F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31BA2D1-D30A-6EC2-2775-AF4C185A4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13636-6D80-416E-8C99-5B5BA3DB3D06}" type="datetimeFigureOut">
              <a:rPr lang="it-IT" smtClean="0"/>
              <a:t>19/06/2026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D8487AD-C467-7CA0-5370-651A3D174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4865A54-3209-ED05-A17D-99B12F312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29EFC-B687-4DE9-9C20-CE3CCF34D07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69346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7CA3FAB8-00EE-382C-F078-6E05F7FF1F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BC52BDF-C228-4305-E4D6-34B473C7E1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720253A-E061-B200-7351-4E4C8B809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13636-6D80-416E-8C99-5B5BA3DB3D06}" type="datetimeFigureOut">
              <a:rPr lang="it-IT" smtClean="0"/>
              <a:t>19/06/2026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0E76091-62AB-8748-DC14-D7EFAB5BC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FFAAE91-9A0F-4CBD-3E5C-6FED3073C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29EFC-B687-4DE9-9C20-CE3CCF34D07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115862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e de titr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ommaire"/>
          <p:cNvSpPr>
            <a:spLocks noGrp="1"/>
          </p:cNvSpPr>
          <p:nvPr>
            <p:ph type="title"/>
          </p:nvPr>
        </p:nvSpPr>
        <p:spPr>
          <a:xfrm>
            <a:off x="365056" y="1689545"/>
            <a:ext cx="11461612" cy="449642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defRPr sz="2224">
                <a:solidFill>
                  <a:srgbClr val="00008F"/>
                </a:solidFill>
                <a:latin typeface="+mj-lt"/>
              </a:defRPr>
            </a:lvl1pPr>
          </a:lstStyle>
          <a:p>
            <a:r>
              <a:rPr lang="it-IT" noProof="0"/>
              <a:t>Fare clic per modificare stile</a:t>
            </a:r>
            <a:endParaRPr lang="en-GB" noProof="0"/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1"/>
          </p:nvPr>
        </p:nvSpPr>
        <p:spPr>
          <a:xfrm>
            <a:off x="365193" y="2901595"/>
            <a:ext cx="11461475" cy="337232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sz="1756">
                <a:solidFill>
                  <a:srgbClr val="027180"/>
                </a:solidFill>
                <a:latin typeface="+mj-lt"/>
              </a:defRPr>
            </a:lvl1pPr>
          </a:lstStyle>
          <a:p>
            <a:pPr lv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4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9206355" y="6384492"/>
            <a:ext cx="2743200" cy="3651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A9C98EE-450B-490D-BB40-F6FB412E3B59}" type="slidenum">
              <a:rPr lang="en-GB" altLang="it-IT"/>
              <a:pPr>
                <a:defRPr/>
              </a:pPr>
              <a:t>‹N›</a:t>
            </a:fld>
            <a:endParaRPr lang="en-GB" altLang="it-IT"/>
          </a:p>
        </p:txBody>
      </p:sp>
      <p:sp>
        <p:nvSpPr>
          <p:cNvPr id="5" name="Espace réservé de la date 1"/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Title of the presentation l Date</a:t>
            </a:r>
          </a:p>
        </p:txBody>
      </p:sp>
      <p:cxnSp>
        <p:nvCxnSpPr>
          <p:cNvPr id="3" name="Connettore diritto 2">
            <a:extLst>
              <a:ext uri="{FF2B5EF4-FFF2-40B4-BE49-F238E27FC236}">
                <a16:creationId xmlns:a16="http://schemas.microsoft.com/office/drawing/2014/main" id="{6A87A280-6A40-4F41-89F1-D0117AC1A729}"/>
              </a:ext>
            </a:extLst>
          </p:cNvPr>
          <p:cNvCxnSpPr>
            <a:cxnSpLocks/>
          </p:cNvCxnSpPr>
          <p:nvPr userDrawn="1"/>
        </p:nvCxnSpPr>
        <p:spPr>
          <a:xfrm>
            <a:off x="360000" y="748149"/>
            <a:ext cx="11579306" cy="1"/>
          </a:xfrm>
          <a:prstGeom prst="line">
            <a:avLst/>
          </a:prstGeom>
          <a:ln>
            <a:gradFill>
              <a:gsLst>
                <a:gs pos="43364">
                  <a:srgbClr val="7290AB"/>
                </a:gs>
                <a:gs pos="0">
                  <a:srgbClr val="143350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93065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5C827035-ED91-A0AF-1220-D9C5169E2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51092E3-E8C5-C24B-15C8-27092355A1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E9E17A3-8CCA-1FCC-A368-1357A534A1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C13636-6D80-416E-8C99-5B5BA3DB3D06}" type="datetimeFigureOut">
              <a:rPr lang="it-IT" smtClean="0"/>
              <a:t>19/06/2026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EC01DF9-8CDD-A179-EABC-9C36BEE6CD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00ABA56-622C-F745-ECD2-F386AEE732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629EFC-B687-4DE9-9C20-CE3CCF34D07B}" type="slidenum">
              <a:rPr lang="it-IT" smtClean="0"/>
              <a:t>‹N›</a:t>
            </a:fld>
            <a:endParaRPr lang="it-IT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E753075C-DD38-00CF-BC0E-7E1784BA44FD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209436" y="92713"/>
            <a:ext cx="1091280" cy="574500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DACC6CE6-C6F0-63D8-BE56-F325058FABF3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4375" y="39690"/>
            <a:ext cx="1732976" cy="683489"/>
          </a:xfrm>
          <a:prstGeom prst="rect">
            <a:avLst/>
          </a:prstGeom>
        </p:spPr>
      </p:pic>
      <p:pic>
        <p:nvPicPr>
          <p:cNvPr id="9" name="Picture 2" descr="AIRA">
            <a:extLst>
              <a:ext uri="{FF2B5EF4-FFF2-40B4-BE49-F238E27FC236}">
                <a16:creationId xmlns:a16="http://schemas.microsoft.com/office/drawing/2014/main" id="{E29A497B-0CFE-34AA-D3E4-CA218834599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1500" y="-34037"/>
            <a:ext cx="6068999" cy="82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4A2A6585-1E38-986F-9EE1-3ED5848E59D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91950" y="6642100"/>
            <a:ext cx="8334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it-IT" sz="1000">
                <a:solidFill>
                  <a:srgbClr val="3CB371">
                    <a:alpha val="50000"/>
                  </a:srgbClr>
                </a:solidFill>
                <a:latin typeface="Aptos" panose="020B0004020202020204" pitchFamily="34" charset="0"/>
              </a:rPr>
              <a:t>Ad Uso Interno</a:t>
            </a:r>
          </a:p>
        </p:txBody>
      </p:sp>
    </p:spTree>
    <p:extLst>
      <p:ext uri="{BB962C8B-B14F-4D97-AF65-F5344CB8AC3E}">
        <p14:creationId xmlns:p14="http://schemas.microsoft.com/office/powerpoint/2010/main" val="1948735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968B4C3C-A3E3-4CF5-8AA0-6A5C33F62E6D}"/>
              </a:ext>
            </a:extLst>
          </p:cNvPr>
          <p:cNvSpPr txBox="1">
            <a:spLocks/>
          </p:cNvSpPr>
          <p:nvPr/>
        </p:nvSpPr>
        <p:spPr>
          <a:xfrm>
            <a:off x="2518117" y="5570806"/>
            <a:ext cx="6865033" cy="45226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it-IT" sz="2200" b="1" i="1" dirty="0">
              <a:solidFill>
                <a:srgbClr val="143350"/>
              </a:solidFill>
            </a:endParaRPr>
          </a:p>
        </p:txBody>
      </p:sp>
      <p:sp>
        <p:nvSpPr>
          <p:cNvPr id="6" name="Titolo 1">
            <a:extLst>
              <a:ext uri="{FF2B5EF4-FFF2-40B4-BE49-F238E27FC236}">
                <a16:creationId xmlns:a16="http://schemas.microsoft.com/office/drawing/2014/main" id="{968B4C3C-A3E3-4CF5-8AA0-6A5C33F62E6D}"/>
              </a:ext>
            </a:extLst>
          </p:cNvPr>
          <p:cNvSpPr txBox="1">
            <a:spLocks/>
          </p:cNvSpPr>
          <p:nvPr/>
        </p:nvSpPr>
        <p:spPr>
          <a:xfrm>
            <a:off x="2518115" y="3664533"/>
            <a:ext cx="6865033" cy="45226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2200" b="1" i="1" dirty="0">
                <a:solidFill>
                  <a:srgbClr val="143350"/>
                </a:solidFill>
              </a:rPr>
              <a:t>13 Luglio 2026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995CE040-7E6E-4BC1-863E-FF06EB234A42}"/>
              </a:ext>
            </a:extLst>
          </p:cNvPr>
          <p:cNvSpPr txBox="1"/>
          <p:nvPr/>
        </p:nvSpPr>
        <p:spPr>
          <a:xfrm>
            <a:off x="1524000" y="1446027"/>
            <a:ext cx="9144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i="1" dirty="0">
                <a:solidFill>
                  <a:srgbClr val="143350"/>
                </a:solidFill>
                <a:latin typeface="+mj-lt"/>
                <a:ea typeface="+mj-ea"/>
                <a:cs typeface="+mj-cs"/>
              </a:rPr>
              <a:t>ESAME AIRA PER L’OTTENIMENTO DELLA CERTIFICAZIONE DELLE COMPETENZE</a:t>
            </a:r>
            <a:r>
              <a:rPr lang="it-IT" sz="2800" b="1" dirty="0">
                <a:latin typeface="Arial Narrow"/>
                <a:cs typeface="Arial Narrow"/>
              </a:rPr>
              <a:t> </a:t>
            </a:r>
            <a:r>
              <a:rPr lang="it-IT" sz="2800" b="1" i="1" dirty="0">
                <a:solidFill>
                  <a:srgbClr val="143350"/>
                </a:solidFill>
                <a:latin typeface="+mj-lt"/>
                <a:ea typeface="+mj-ea"/>
                <a:cs typeface="+mj-cs"/>
              </a:rPr>
              <a:t>(AML CERTIFICATE®)   </a:t>
            </a:r>
          </a:p>
          <a:p>
            <a:r>
              <a:rPr lang="it-IT" sz="2800" b="1" i="1" dirty="0">
                <a:solidFill>
                  <a:srgbClr val="143350"/>
                </a:solidFill>
                <a:latin typeface="+mj-lt"/>
                <a:ea typeface="+mj-ea"/>
                <a:cs typeface="+mj-cs"/>
              </a:rPr>
              <a:t>PROT.AIRA/0005_2026_AML1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873C1ECD-5D10-FA3F-6867-DF10F4913689}"/>
              </a:ext>
            </a:extLst>
          </p:cNvPr>
          <p:cNvSpPr txBox="1"/>
          <p:nvPr/>
        </p:nvSpPr>
        <p:spPr>
          <a:xfrm>
            <a:off x="3045726" y="4842586"/>
            <a:ext cx="610054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400" b="1" i="1" dirty="0">
                <a:solidFill>
                  <a:srgbClr val="143350"/>
                </a:solidFill>
                <a:latin typeface="+mj-lt"/>
                <a:ea typeface="+mj-ea"/>
                <a:cs typeface="+mj-cs"/>
              </a:rPr>
              <a:t>SARA BALDUCCI </a:t>
            </a:r>
          </a:p>
          <a:p>
            <a:pPr algn="ctr"/>
            <a:r>
              <a:rPr lang="it-IT" sz="2000" b="1" i="1" dirty="0">
                <a:solidFill>
                  <a:srgbClr val="143350"/>
                </a:solidFill>
                <a:latin typeface="+mj-lt"/>
                <a:ea typeface="+mj-ea"/>
                <a:cs typeface="+mj-cs"/>
              </a:rPr>
              <a:t>FINANCIAL SECURITY ANALYST</a:t>
            </a:r>
          </a:p>
          <a:p>
            <a:pPr algn="ctr"/>
            <a:r>
              <a:rPr lang="it-IT" sz="2000" b="1" i="1" dirty="0">
                <a:solidFill>
                  <a:srgbClr val="143350"/>
                </a:solidFill>
                <a:latin typeface="+mj-lt"/>
                <a:ea typeface="+mj-ea"/>
                <a:cs typeface="+mj-cs"/>
              </a:rPr>
              <a:t>Credit Agricole Italia</a:t>
            </a:r>
          </a:p>
        </p:txBody>
      </p:sp>
    </p:spTree>
    <p:extLst>
      <p:ext uri="{BB962C8B-B14F-4D97-AF65-F5344CB8AC3E}">
        <p14:creationId xmlns:p14="http://schemas.microsoft.com/office/powerpoint/2010/main" val="277012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1"/>
          <p:cNvSpPr txBox="1">
            <a:spLocks/>
          </p:cNvSpPr>
          <p:nvPr/>
        </p:nvSpPr>
        <p:spPr>
          <a:xfrm>
            <a:off x="693099" y="3094593"/>
            <a:ext cx="10156874" cy="165576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endParaRPr lang="it-IT" sz="2000" dirty="0">
              <a:solidFill>
                <a:srgbClr val="143350"/>
              </a:solidFill>
            </a:endParaRPr>
          </a:p>
          <a:p>
            <a:pPr algn="r"/>
            <a:r>
              <a:rPr lang="it-IT" sz="2000" dirty="0">
                <a:solidFill>
                  <a:srgbClr val="143350"/>
                </a:solidFill>
              </a:rPr>
              <a:t>13 Luglio 2026</a:t>
            </a:r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E149AB8E-765A-CE81-B737-4007F60BCB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7563" y="1762106"/>
            <a:ext cx="10156874" cy="2160368"/>
          </a:xfrm>
        </p:spPr>
        <p:txBody>
          <a:bodyPr>
            <a:noAutofit/>
          </a:bodyPr>
          <a:lstStyle/>
          <a:p>
            <a:r>
              <a:rPr lang="it-IT" sz="3000" dirty="0">
                <a:solidFill>
                  <a:srgbClr val="1433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TITOLARITA’ EFFETTIVA TRA VECCHIE PRASSI E REGOLAMENTO (UE) 2024/1624 </a:t>
            </a:r>
            <a:br>
              <a:rPr lang="it-IT" sz="3000" dirty="0">
                <a:solidFill>
                  <a:srgbClr val="1433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it-IT" sz="3000" dirty="0">
                <a:solidFill>
                  <a:srgbClr val="1433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it-IT" sz="3000" dirty="0">
                <a:solidFill>
                  <a:srgbClr val="1433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Principali novità dei criteri di individuazione e possibili impatti organizzativi per i soggetti obbligati</a:t>
            </a:r>
          </a:p>
        </p:txBody>
      </p:sp>
    </p:spTree>
    <p:extLst>
      <p:ext uri="{BB962C8B-B14F-4D97-AF65-F5344CB8AC3E}">
        <p14:creationId xmlns:p14="http://schemas.microsoft.com/office/powerpoint/2010/main" val="4165071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2">
            <a:extLst>
              <a:ext uri="{FF2B5EF4-FFF2-40B4-BE49-F238E27FC236}">
                <a16:creationId xmlns:a16="http://schemas.microsoft.com/office/drawing/2014/main" id="{D2036EEF-91B8-4A12-B816-019ADEC8D015}"/>
              </a:ext>
            </a:extLst>
          </p:cNvPr>
          <p:cNvSpPr txBox="1"/>
          <p:nvPr/>
        </p:nvSpPr>
        <p:spPr>
          <a:xfrm>
            <a:off x="0" y="1048930"/>
            <a:ext cx="2933898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4000" b="1" spc="600" dirty="0" err="1">
                <a:solidFill>
                  <a:srgbClr val="143350"/>
                </a:solidFill>
                <a:latin typeface="+mj-lt"/>
                <a:cs typeface="Arial" pitchFamily="34" charset="0"/>
              </a:rPr>
              <a:t>Indice</a:t>
            </a:r>
            <a:endParaRPr lang="ko-KR" altLang="en-US" sz="4000" b="1" spc="600" dirty="0">
              <a:solidFill>
                <a:srgbClr val="143350"/>
              </a:solidFill>
              <a:latin typeface="+mj-lt"/>
              <a:cs typeface="Arial" pitchFamily="34" charset="0"/>
            </a:endParaRPr>
          </a:p>
        </p:txBody>
      </p:sp>
      <p:sp>
        <p:nvSpPr>
          <p:cNvPr id="62" name="Segnaposto numero diapositiva 3">
            <a:extLst>
              <a:ext uri="{FF2B5EF4-FFF2-40B4-BE49-F238E27FC236}">
                <a16:creationId xmlns:a16="http://schemas.microsoft.com/office/drawing/2014/main" id="{3380B7FC-B686-4DA5-B45E-4DEF878C38B9}"/>
              </a:ext>
            </a:extLst>
          </p:cNvPr>
          <p:cNvSpPr txBox="1">
            <a:spLocks/>
          </p:cNvSpPr>
          <p:nvPr/>
        </p:nvSpPr>
        <p:spPr bwMode="auto">
          <a:xfrm>
            <a:off x="10953480" y="6322505"/>
            <a:ext cx="990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News Gothic MT" charset="0"/>
                <a:ea typeface="MS PGothic" panose="020B0600070205080204" pitchFamily="34" charset="-128"/>
                <a:cs typeface="+mn-cs"/>
              </a:defRPr>
            </a:lvl1pPr>
            <a:lvl2pPr marL="742950" indent="-285750" algn="l" defTabSz="914400" rtl="0" eaLnBrk="1" latinLnBrk="0" hangingPunct="1">
              <a:defRPr sz="1800" kern="1200">
                <a:solidFill>
                  <a:schemeClr val="tx1"/>
                </a:solidFill>
                <a:latin typeface="News Gothic MT" charset="0"/>
                <a:ea typeface="MS PGothic" panose="020B0600070205080204" pitchFamily="34" charset="-128"/>
                <a:cs typeface="+mn-cs"/>
              </a:defRPr>
            </a:lvl2pPr>
            <a:lvl3pPr marL="1143000" indent="-228600" algn="l" defTabSz="914400" rtl="0" eaLnBrk="1" latinLnBrk="0" hangingPunct="1">
              <a:defRPr sz="1800" kern="1200">
                <a:solidFill>
                  <a:schemeClr val="tx1"/>
                </a:solidFill>
                <a:latin typeface="News Gothic MT" charset="0"/>
                <a:ea typeface="MS PGothic" panose="020B0600070205080204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defRPr sz="1800" kern="1200">
                <a:solidFill>
                  <a:schemeClr val="tx1"/>
                </a:solidFill>
                <a:latin typeface="News Gothic MT" charset="0"/>
                <a:ea typeface="MS PGothic" panose="020B0600070205080204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defRPr sz="1800" kern="1200">
                <a:solidFill>
                  <a:schemeClr val="tx1"/>
                </a:solidFill>
                <a:latin typeface="News Gothic MT" charset="0"/>
                <a:ea typeface="MS PGothic" panose="020B0600070205080204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News Gothic MT" charset="0"/>
                <a:ea typeface="MS PGothic" panose="020B0600070205080204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News Gothic MT" charset="0"/>
                <a:ea typeface="MS PGothic" panose="020B0600070205080204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News Gothic MT" charset="0"/>
                <a:ea typeface="MS PGothic" panose="020B0600070205080204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News Gothic MT" charset="0"/>
                <a:ea typeface="MS PGothic" panose="020B0600070205080204" pitchFamily="34" charset="-128"/>
                <a:cs typeface="+mn-cs"/>
              </a:defRPr>
            </a:lvl9pPr>
          </a:lstStyle>
          <a:p>
            <a:fld id="{CB4F2903-5929-45AD-8483-C4FF9E9DD2C3}" type="slidenum">
              <a:rPr lang="en-GB" altLang="it-IT" sz="1000" smtClean="0">
                <a:latin typeface="Source Sans Pro" charset="0"/>
              </a:rPr>
              <a:pPr/>
              <a:t>3</a:t>
            </a:fld>
            <a:endParaRPr lang="en-GB" altLang="it-IT" sz="1000" dirty="0">
              <a:latin typeface="Source Sans Pro" charset="0"/>
            </a:endParaRPr>
          </a:p>
        </p:txBody>
      </p:sp>
      <p:sp>
        <p:nvSpPr>
          <p:cNvPr id="4" name="Segnaposto contenuto 3"/>
          <p:cNvSpPr txBox="1">
            <a:spLocks/>
          </p:cNvSpPr>
          <p:nvPr/>
        </p:nvSpPr>
        <p:spPr>
          <a:xfrm>
            <a:off x="548780" y="1953930"/>
            <a:ext cx="10900000" cy="38551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it-IT" b="1" dirty="0">
                <a:solidFill>
                  <a:srgbClr val="143350"/>
                </a:solidFill>
              </a:rPr>
              <a:t>La titolarità effettiva perno dell'adeguata verifica</a:t>
            </a: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it-IT" b="1" dirty="0">
                <a:solidFill>
                  <a:srgbClr val="143350"/>
                </a:solidFill>
              </a:rPr>
              <a:t>I criteri vigenti di individuazione del titolare effettivo</a:t>
            </a: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it-IT" b="1" dirty="0">
                <a:solidFill>
                  <a:srgbClr val="143350"/>
                </a:solidFill>
              </a:rPr>
              <a:t>I nuovi criteri AMLR (artt. 51 e 53): definizione e approccio simultaneo</a:t>
            </a: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it-IT" b="1" dirty="0">
                <a:solidFill>
                  <a:srgbClr val="143350"/>
                </a:solidFill>
              </a:rPr>
              <a:t>I nuovi criteri AMLR (artt. 52 e 54): soglia, proprietà indiretta, strutture a più livelli</a:t>
            </a: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it-IT" b="1" dirty="0">
                <a:solidFill>
                  <a:srgbClr val="143350"/>
                </a:solidFill>
              </a:rPr>
              <a:t>Esempio pratico: normativa vigente vs nuovo approccio </a:t>
            </a: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it-IT" b="1" dirty="0">
                <a:solidFill>
                  <a:srgbClr val="143350"/>
                </a:solidFill>
              </a:rPr>
              <a:t>La saga del Registro: dalla sospensione alla riattivazione</a:t>
            </a: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it-IT" b="1" dirty="0">
                <a:solidFill>
                  <a:srgbClr val="143350"/>
                </a:solidFill>
              </a:rPr>
              <a:t>Impatti organizzativi per i soggetti obbligati</a:t>
            </a: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endParaRPr lang="it-IT" b="1" i="1" dirty="0">
              <a:solidFill>
                <a:srgbClr val="143350"/>
              </a:solidFill>
            </a:endParaRP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endParaRPr lang="it-IT" b="1" i="1" dirty="0">
              <a:solidFill>
                <a:srgbClr val="143350"/>
              </a:solidFill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endParaRPr lang="it-IT" b="1" i="1" dirty="0">
              <a:solidFill>
                <a:srgbClr val="143350"/>
              </a:solidFill>
            </a:endParaRP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endParaRPr lang="it-IT" b="1" i="1" dirty="0">
              <a:solidFill>
                <a:srgbClr val="143350"/>
              </a:solidFill>
            </a:endParaRPr>
          </a:p>
          <a:p>
            <a:pPr marL="457200" indent="-457200" rtl="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endParaRPr lang="it-IT" sz="1800" b="1" dirty="0">
              <a:solidFill>
                <a:srgbClr val="143350"/>
              </a:solidFill>
              <a:latin typeface="Calibri"/>
            </a:endParaRPr>
          </a:p>
          <a:p>
            <a:pPr marL="457200" indent="-457200" rtl="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endParaRPr lang="it-IT" sz="1800" b="1" dirty="0">
              <a:solidFill>
                <a:srgbClr val="143350"/>
              </a:solidFill>
              <a:latin typeface="Calibri"/>
            </a:endParaRPr>
          </a:p>
          <a:p>
            <a:pPr marL="457200" indent="-457200" rtl="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endParaRPr lang="it-IT" sz="1800" b="1" dirty="0">
              <a:solidFill>
                <a:srgbClr val="14335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04265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/>
          <p:cNvSpPr/>
          <p:nvPr/>
        </p:nvSpPr>
        <p:spPr>
          <a:xfrm>
            <a:off x="548780" y="1054000"/>
            <a:ext cx="10900000" cy="4750000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normAutofit/>
          </a:bodyPr>
          <a:lstStyle/>
          <a:p>
            <a:pPr algn="l">
              <a:spcBef>
                <a:spcPts val="600"/>
              </a:spcBef>
              <a:spcAft>
                <a:spcPts val="200"/>
              </a:spcAft>
              <a:buNone/>
            </a:pPr>
            <a:r>
              <a:rPr lang="it-IT" sz="2000" b="1" i="1" dirty="0">
                <a:solidFill>
                  <a:srgbClr val="143350"/>
                </a:solidFill>
                <a:latin typeface="Calibri"/>
              </a:rPr>
              <a:t>La titolarità effettiva  perno dell'adeguata verifica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buNone/>
            </a:pPr>
            <a:endParaRPr lang="it-IT" sz="2000" b="1" i="1" dirty="0">
              <a:solidFill>
                <a:srgbClr val="143350"/>
              </a:solidFill>
              <a:latin typeface="Calibri"/>
            </a:endParaRPr>
          </a:p>
          <a:p>
            <a:pPr algn="l">
              <a:spcBef>
                <a:spcPts val="600"/>
              </a:spcBef>
              <a:spcAft>
                <a:spcPts val="200"/>
              </a:spcAft>
              <a:buNone/>
            </a:pPr>
            <a:endParaRPr lang="it-IT" sz="2000" b="1" i="1" dirty="0">
              <a:solidFill>
                <a:srgbClr val="143350"/>
              </a:solidFill>
              <a:latin typeface="Calibri"/>
            </a:endParaRPr>
          </a:p>
          <a:p>
            <a:pPr algn="l">
              <a:spcBef>
                <a:spcPts val="600"/>
              </a:spcBef>
              <a:spcAft>
                <a:spcPts val="200"/>
              </a:spcAft>
              <a:buNone/>
            </a:pPr>
            <a:endParaRPr lang="it-IT" sz="2000" b="1" i="1" dirty="0">
              <a:solidFill>
                <a:srgbClr val="143350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lang="it-IT" sz="1300" dirty="0">
                <a:solidFill>
                  <a:srgbClr val="143350"/>
                </a:solidFill>
                <a:latin typeface="Calibri"/>
              </a:rPr>
              <a:t>Identificare la persona fisica che possiede o controlla il cliente è la precondizione di ogni presidio antiriciclaggio.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buNone/>
            </a:pPr>
            <a:endParaRPr lang="it-IT" sz="1300" dirty="0">
              <a:solidFill>
                <a:srgbClr val="143350"/>
              </a:solidFill>
              <a:latin typeface="Calibri"/>
            </a:endParaRPr>
          </a:p>
        </p:txBody>
      </p:sp>
      <p:sp>
        <p:nvSpPr>
          <p:cNvPr id="12" name="Segnaposto numero diapositiva 3"/>
          <p:cNvSpPr>
            <a:spLocks noGrp="1"/>
          </p:cNvSpPr>
          <p:nvPr>
            <p:ph type="sldNum" sz="quarter" idx="12"/>
          </p:nvPr>
        </p:nvSpPr>
        <p:spPr bwMode="auto">
          <a:xfrm>
            <a:off x="10953480" y="6322505"/>
            <a:ext cx="990600" cy="365125"/>
          </a:xfrm>
          <a:noFill/>
        </p:spPr>
        <p:txBody>
          <a:bodyPr/>
          <a:lstStyle/>
          <a:p>
            <a:fld id="{CB4F2903-5929-45AD-8483-C4FF9E9DD2C3}" type="slidenum">
              <a:rPr lang="en-GB" altLang="it-IT" sz="1000">
                <a:latin typeface="Source Sans Pro" charset="0"/>
              </a:rPr>
              <a:pPr/>
              <a:t>4</a:t>
            </a:fld>
            <a:endParaRPr lang="en-GB" altLang="it-IT" sz="1000" dirty="0">
              <a:latin typeface="Source Sans Pro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/>
        </p:nvSpPr>
        <p:spPr>
          <a:xfrm>
            <a:off x="300000" y="780000"/>
            <a:ext cx="11550000" cy="9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it-IT" sz="2000" b="1" i="1" dirty="0">
                <a:solidFill>
                  <a:srgbClr val="143350"/>
                </a:solidFill>
                <a:latin typeface="Calibri"/>
              </a:rPr>
              <a:t>I criteri vigenti di individuazione del titolare effettivo</a:t>
            </a:r>
          </a:p>
        </p:txBody>
      </p:sp>
      <p:sp>
        <p:nvSpPr>
          <p:cNvPr id="6" name="Rettangolo 5"/>
          <p:cNvSpPr/>
          <p:nvPr/>
        </p:nvSpPr>
        <p:spPr>
          <a:xfrm>
            <a:off x="646000" y="1720000"/>
            <a:ext cx="10900000" cy="4750000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normAutofit/>
          </a:bodyPr>
          <a:lstStyle/>
          <a:p>
            <a:pPr algn="l">
              <a:spcBef>
                <a:spcPts val="600"/>
              </a:spcBef>
              <a:spcAft>
                <a:spcPts val="200"/>
              </a:spcAft>
              <a:buNone/>
            </a:pPr>
            <a:r>
              <a:rPr lang="it-IT" sz="1500" b="1" dirty="0">
                <a:solidFill>
                  <a:srgbClr val="143350"/>
                </a:solidFill>
                <a:latin typeface="Calibri"/>
              </a:rPr>
              <a:t>Tre criteri applicati in sequenza (approccio a cascata)</a:t>
            </a:r>
          </a:p>
          <a:p>
            <a:pPr marL="285750" indent="-285750" algn="l">
              <a:spcAft>
                <a:spcPts val="200"/>
              </a:spcAft>
              <a:buFont typeface="Arial"/>
              <a:buChar char="•"/>
            </a:pPr>
            <a:r>
              <a:rPr lang="it-IT" sz="1300" dirty="0">
                <a:solidFill>
                  <a:srgbClr val="143350"/>
                </a:solidFill>
                <a:latin typeface="Calibri"/>
              </a:rPr>
              <a:t>1. Proprietà: persona fisica titolare, diretta o indiretta, di una partecipazione superiore al 25% del capitale.</a:t>
            </a:r>
          </a:p>
          <a:p>
            <a:pPr marL="285750" indent="-285750" algn="l">
              <a:spcAft>
                <a:spcPts val="200"/>
              </a:spcAft>
              <a:buFont typeface="Arial"/>
              <a:buChar char="•"/>
            </a:pPr>
            <a:r>
              <a:rPr lang="it-IT" sz="1300" dirty="0">
                <a:solidFill>
                  <a:srgbClr val="143350"/>
                </a:solidFill>
                <a:latin typeface="Calibri"/>
              </a:rPr>
              <a:t>2. Controllo: in mancanza, chi controlla la società (maggioranza dei voti, influenza dominante - art. 2359 c.c.).</a:t>
            </a:r>
          </a:p>
          <a:p>
            <a:pPr marL="285750" indent="-285750" algn="l">
              <a:spcAft>
                <a:spcPts val="200"/>
              </a:spcAft>
              <a:buFont typeface="Arial"/>
              <a:buChar char="•"/>
            </a:pPr>
            <a:r>
              <a:rPr lang="it-IT" sz="1300" dirty="0">
                <a:solidFill>
                  <a:srgbClr val="143350"/>
                </a:solidFill>
                <a:latin typeface="Calibri"/>
              </a:rPr>
              <a:t>3. Criterio residuale: in via residuale, i titolari di poteri di amministrazione o direzione.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buNone/>
            </a:pPr>
            <a:r>
              <a:rPr lang="it-IT" sz="1500" b="1" dirty="0">
                <a:solidFill>
                  <a:srgbClr val="143350"/>
                </a:solidFill>
                <a:latin typeface="Calibri"/>
              </a:rPr>
              <a:t>Proprietà indiretta - interpretazione MEF 2023</a:t>
            </a:r>
          </a:p>
          <a:p>
            <a:pPr marL="285750" indent="-285750" algn="l">
              <a:spcAft>
                <a:spcPts val="200"/>
              </a:spcAft>
              <a:buFont typeface="Arial"/>
              <a:buChar char="•"/>
            </a:pPr>
            <a:r>
              <a:rPr lang="it-IT" sz="1300" dirty="0">
                <a:solidFill>
                  <a:srgbClr val="143350"/>
                </a:solidFill>
                <a:latin typeface="Calibri"/>
              </a:rPr>
              <a:t>La soglia del 25% +1 si riferisce al capitale della società cliente; si risale poi la catena per individuare chi esercita il controllo ex art. 2359, c.1, c.c.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buNone/>
            </a:pPr>
            <a:r>
              <a:rPr lang="it-IT" sz="1500" b="1" dirty="0">
                <a:solidFill>
                  <a:srgbClr val="143350"/>
                </a:solidFill>
                <a:latin typeface="Calibri"/>
              </a:rPr>
              <a:t>Logica</a:t>
            </a:r>
          </a:p>
          <a:p>
            <a:pPr marL="285750" indent="-285750" algn="l">
              <a:spcAft>
                <a:spcPts val="200"/>
              </a:spcAft>
              <a:buFont typeface="Arial"/>
              <a:buChar char="•"/>
            </a:pPr>
            <a:r>
              <a:rPr lang="it-IT" sz="1300" dirty="0">
                <a:solidFill>
                  <a:srgbClr val="143350"/>
                </a:solidFill>
                <a:latin typeface="Calibri"/>
              </a:rPr>
              <a:t>Si applica un criterio per volta: al controllo si arriva solo se la proprietà non individua alcun titolare effettivo.</a:t>
            </a:r>
          </a:p>
        </p:txBody>
      </p:sp>
      <p:sp>
        <p:nvSpPr>
          <p:cNvPr id="12" name="Segnaposto numero diapositiva 3"/>
          <p:cNvSpPr>
            <a:spLocks noGrp="1"/>
          </p:cNvSpPr>
          <p:nvPr>
            <p:ph type="sldNum" sz="quarter" idx="12"/>
          </p:nvPr>
        </p:nvSpPr>
        <p:spPr bwMode="auto">
          <a:xfrm>
            <a:off x="10953480" y="6322505"/>
            <a:ext cx="990600" cy="365125"/>
          </a:xfrm>
          <a:noFill/>
        </p:spPr>
        <p:txBody>
          <a:bodyPr/>
          <a:lstStyle/>
          <a:p>
            <a:fld id="{CB4F2903-5929-45AD-8483-C4FF9E9DD2C3}" type="slidenum">
              <a:rPr lang="en-GB" altLang="it-IT" sz="1000">
                <a:latin typeface="Source Sans Pro" charset="0"/>
              </a:rPr>
              <a:pPr/>
              <a:t>5</a:t>
            </a:fld>
            <a:endParaRPr lang="en-GB" altLang="it-IT" sz="1000" dirty="0">
              <a:latin typeface="Source Sans Pro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/>
        </p:nvSpPr>
        <p:spPr>
          <a:xfrm>
            <a:off x="300000" y="780000"/>
            <a:ext cx="11550000" cy="9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it-IT" sz="2000" b="1" i="1" dirty="0">
                <a:solidFill>
                  <a:srgbClr val="143350"/>
                </a:solidFill>
                <a:latin typeface="Calibri"/>
              </a:rPr>
              <a:t>I nuovi criteri AMLR (artt. 51 e 53): definizione e approccio simultaneo</a:t>
            </a:r>
          </a:p>
        </p:txBody>
      </p:sp>
      <p:sp>
        <p:nvSpPr>
          <p:cNvPr id="6" name="Rettangolo 5"/>
          <p:cNvSpPr/>
          <p:nvPr/>
        </p:nvSpPr>
        <p:spPr>
          <a:xfrm>
            <a:off x="646000" y="1720000"/>
            <a:ext cx="10900000" cy="4750000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normAutofit/>
          </a:bodyPr>
          <a:lstStyle/>
          <a:p>
            <a:pPr algn="l">
              <a:spcBef>
                <a:spcPts val="600"/>
              </a:spcBef>
              <a:spcAft>
                <a:spcPts val="200"/>
              </a:spcAft>
              <a:buNone/>
            </a:pPr>
            <a:r>
              <a:rPr lang="it-IT" sz="1500" b="1" dirty="0">
                <a:solidFill>
                  <a:srgbClr val="143350"/>
                </a:solidFill>
                <a:latin typeface="Calibri"/>
              </a:rPr>
              <a:t>Definizione (art. 51)</a:t>
            </a:r>
          </a:p>
          <a:p>
            <a:pPr marL="285750" indent="-285750" algn="l">
              <a:spcAft>
                <a:spcPts val="200"/>
              </a:spcAft>
              <a:buFont typeface="Arial"/>
              <a:buChar char="•"/>
            </a:pPr>
            <a:r>
              <a:rPr lang="it-IT" sz="1300" dirty="0">
                <a:solidFill>
                  <a:srgbClr val="143350"/>
                </a:solidFill>
                <a:latin typeface="Calibri"/>
              </a:rPr>
              <a:t>È titolare effettivo la persona fisica che, direttamente o indirettamente: (a) detiene una partecipazione nella società, oppure (b) la controlla tramite partecipazione o con altri mezzi.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buNone/>
            </a:pPr>
            <a:r>
              <a:rPr lang="it-IT" sz="1500" b="1" dirty="0">
                <a:solidFill>
                  <a:srgbClr val="143350"/>
                </a:solidFill>
                <a:latin typeface="Calibri"/>
              </a:rPr>
              <a:t>Cambio di paradigma: da sequenziale a simultaneo</a:t>
            </a:r>
          </a:p>
          <a:p>
            <a:pPr marL="285750" indent="-285750" algn="l">
              <a:spcAft>
                <a:spcPts val="200"/>
              </a:spcAft>
              <a:buFont typeface="Arial"/>
              <a:buChar char="•"/>
            </a:pPr>
            <a:r>
              <a:rPr lang="it-IT" sz="1300" dirty="0">
                <a:solidFill>
                  <a:srgbClr val="143350"/>
                </a:solidFill>
                <a:latin typeface="Calibri"/>
              </a:rPr>
              <a:t>Reg. 2015/849: approccio sequenziale (al controllo si ricorre solo se la proprietà non individua il TE).</a:t>
            </a:r>
          </a:p>
          <a:p>
            <a:pPr marL="285750" indent="-285750" algn="l">
              <a:spcAft>
                <a:spcPts val="200"/>
              </a:spcAft>
              <a:buFont typeface="Arial"/>
              <a:buChar char="•"/>
            </a:pPr>
            <a:r>
              <a:rPr lang="it-IT" sz="1300" dirty="0">
                <a:solidFill>
                  <a:srgbClr val="143350"/>
                </a:solidFill>
                <a:latin typeface="Calibri"/>
              </a:rPr>
              <a:t>AMLR 2024/1624: approccio simultaneo (proprietà e controllo valutati in parallelo).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buNone/>
            </a:pPr>
            <a:r>
              <a:rPr lang="it-IT" sz="1500" b="1" dirty="0">
                <a:solidFill>
                  <a:srgbClr val="143350"/>
                </a:solidFill>
                <a:latin typeface="Calibri"/>
              </a:rPr>
              <a:t>Controllo con altri mezzi (art. 53)</a:t>
            </a:r>
          </a:p>
          <a:p>
            <a:pPr marL="285750" indent="-285750" algn="l">
              <a:spcAft>
                <a:spcPts val="200"/>
              </a:spcAft>
              <a:buFont typeface="Arial"/>
              <a:buChar char="•"/>
            </a:pPr>
            <a:r>
              <a:rPr lang="it-IT" sz="1300" dirty="0">
                <a:solidFill>
                  <a:srgbClr val="143350"/>
                </a:solidFill>
                <a:latin typeface="Calibri"/>
              </a:rPr>
              <a:t>Individuato a prescindere dalla partecipazione: ad esempio diritto di nomina o revoca degli amministratori, diritti di veto, influenza dominante.</a:t>
            </a:r>
          </a:p>
          <a:p>
            <a:pPr marL="285750" indent="-285750" algn="l">
              <a:spcAft>
                <a:spcPts val="200"/>
              </a:spcAft>
              <a:buFont typeface="Arial"/>
              <a:buChar char="•"/>
            </a:pPr>
            <a:r>
              <a:rPr lang="it-IT" sz="1300" b="1" dirty="0">
                <a:solidFill>
                  <a:srgbClr val="143350"/>
                </a:solidFill>
                <a:latin typeface="Calibri"/>
              </a:rPr>
              <a:t>Conseguenza: per uno stesso cliente possono emergere più titolari effettivi, sia per proprietà sia per controllo.</a:t>
            </a:r>
          </a:p>
        </p:txBody>
      </p:sp>
      <p:sp>
        <p:nvSpPr>
          <p:cNvPr id="12" name="Segnaposto numero diapositiva 3"/>
          <p:cNvSpPr>
            <a:spLocks noGrp="1"/>
          </p:cNvSpPr>
          <p:nvPr>
            <p:ph type="sldNum" sz="quarter" idx="12"/>
          </p:nvPr>
        </p:nvSpPr>
        <p:spPr bwMode="auto">
          <a:xfrm>
            <a:off x="10953480" y="6322505"/>
            <a:ext cx="990600" cy="365125"/>
          </a:xfrm>
          <a:noFill/>
        </p:spPr>
        <p:txBody>
          <a:bodyPr/>
          <a:lstStyle/>
          <a:p>
            <a:fld id="{CB4F2903-5929-45AD-8483-C4FF9E9DD2C3}" type="slidenum">
              <a:rPr lang="en-GB" altLang="it-IT" sz="1000">
                <a:latin typeface="Source Sans Pro" charset="0"/>
              </a:rPr>
              <a:pPr/>
              <a:t>6</a:t>
            </a:fld>
            <a:endParaRPr lang="en-GB" altLang="it-IT" sz="1000" dirty="0">
              <a:latin typeface="Source Sans Pro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/>
        </p:nvSpPr>
        <p:spPr>
          <a:xfrm>
            <a:off x="300000" y="780000"/>
            <a:ext cx="11550000" cy="9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it-IT" sz="2000" b="1" i="1" dirty="0">
                <a:solidFill>
                  <a:srgbClr val="143350"/>
                </a:solidFill>
                <a:latin typeface="Calibri"/>
              </a:rPr>
              <a:t>I nuovi criteri AMLR (artt. 52 e 54): soglia, proprietà indiretta, strutture a più livelli</a:t>
            </a:r>
          </a:p>
        </p:txBody>
      </p:sp>
      <p:sp>
        <p:nvSpPr>
          <p:cNvPr id="6" name="Rettangolo 5"/>
          <p:cNvSpPr/>
          <p:nvPr/>
        </p:nvSpPr>
        <p:spPr>
          <a:xfrm>
            <a:off x="646000" y="1720000"/>
            <a:ext cx="10900000" cy="4750000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normAutofit/>
          </a:bodyPr>
          <a:lstStyle/>
          <a:p>
            <a:pPr algn="l">
              <a:spcBef>
                <a:spcPts val="600"/>
              </a:spcBef>
              <a:spcAft>
                <a:spcPts val="200"/>
              </a:spcAft>
              <a:buNone/>
            </a:pPr>
            <a:r>
              <a:rPr lang="it-IT" sz="1500" b="1" dirty="0">
                <a:solidFill>
                  <a:srgbClr val="143350"/>
                </a:solidFill>
                <a:latin typeface="Calibri"/>
              </a:rPr>
              <a:t>Soglia di partecipazione (art. 52)</a:t>
            </a:r>
          </a:p>
          <a:p>
            <a:pPr marL="285750" indent="-285750" algn="l">
              <a:spcAft>
                <a:spcPts val="200"/>
              </a:spcAft>
              <a:buFont typeface="Arial"/>
              <a:buChar char="•"/>
            </a:pPr>
            <a:r>
              <a:rPr lang="it-IT" sz="1300" dirty="0">
                <a:solidFill>
                  <a:srgbClr val="143350"/>
                </a:solidFill>
                <a:latin typeface="Calibri"/>
              </a:rPr>
              <a:t>Almeno il 25% (in precedenza: 25% più una quota).</a:t>
            </a:r>
          </a:p>
          <a:p>
            <a:pPr marL="285750" indent="-285750" algn="l">
              <a:spcAft>
                <a:spcPts val="200"/>
              </a:spcAft>
              <a:buFont typeface="Arial"/>
              <a:buChar char="•"/>
            </a:pPr>
            <a:r>
              <a:rPr lang="it-IT" sz="1300" dirty="0">
                <a:solidFill>
                  <a:srgbClr val="143350"/>
                </a:solidFill>
                <a:latin typeface="Calibri"/>
              </a:rPr>
              <a:t>Estesa oltre azioni e diritti di voto: comprende altri diritti, inclusa la quota agli utili.</a:t>
            </a:r>
          </a:p>
          <a:p>
            <a:pPr marL="285750" indent="-285750" algn="l">
              <a:spcAft>
                <a:spcPts val="200"/>
              </a:spcAft>
              <a:buFont typeface="Arial"/>
              <a:buChar char="•"/>
            </a:pPr>
            <a:r>
              <a:rPr lang="it-IT" sz="1300" dirty="0">
                <a:solidFill>
                  <a:srgbClr val="143350"/>
                </a:solidFill>
                <a:latin typeface="Calibri"/>
              </a:rPr>
              <a:t>Possibile abbassamento al 15% per categorie ad alto rischio (atto delegato della Commissione entro il 10 luglio 2029).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buNone/>
            </a:pPr>
            <a:r>
              <a:rPr lang="it-IT" sz="1500" b="1" dirty="0">
                <a:solidFill>
                  <a:srgbClr val="143350"/>
                </a:solidFill>
                <a:latin typeface="Calibri"/>
              </a:rPr>
              <a:t>Calcolo della proprietà indiretta</a:t>
            </a:r>
          </a:p>
          <a:p>
            <a:pPr marL="285750" indent="-285750" algn="l">
              <a:spcAft>
                <a:spcPts val="200"/>
              </a:spcAft>
              <a:buFont typeface="Arial"/>
              <a:buChar char="•"/>
            </a:pPr>
            <a:r>
              <a:rPr lang="it-IT" sz="1300" dirty="0">
                <a:solidFill>
                  <a:srgbClr val="143350"/>
                </a:solidFill>
                <a:latin typeface="Calibri"/>
              </a:rPr>
              <a:t>Si moltiplicano le partecipazioni lungo ciascuna catena e si sommano i risultati delle diverse catene.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buNone/>
            </a:pPr>
            <a:r>
              <a:rPr lang="it-IT" sz="1500" b="1" dirty="0">
                <a:solidFill>
                  <a:srgbClr val="143350"/>
                </a:solidFill>
                <a:latin typeface="Calibri"/>
              </a:rPr>
              <a:t>Strutture proprietarie a più livelli (art. 54)</a:t>
            </a:r>
          </a:p>
          <a:p>
            <a:pPr marL="285750" indent="-285750" algn="l">
              <a:spcAft>
                <a:spcPts val="200"/>
              </a:spcAft>
              <a:buFont typeface="Arial"/>
              <a:buChar char="•"/>
            </a:pPr>
            <a:r>
              <a:rPr lang="it-IT" sz="1300" dirty="0">
                <a:solidFill>
                  <a:srgbClr val="143350"/>
                </a:solidFill>
                <a:latin typeface="Calibri"/>
              </a:rPr>
              <a:t>Quando proprietà e controllo coesistono su livelli diversi, sono TE sia chi controlla i soggetti con partecipazione diretta, sia chi detiene partecipazione nei soggetti che controllano la società.</a:t>
            </a:r>
          </a:p>
          <a:p>
            <a:pPr marL="285750" indent="-285750" algn="l">
              <a:spcAft>
                <a:spcPts val="200"/>
              </a:spcAft>
              <a:buFont typeface="Arial"/>
              <a:buChar char="•"/>
            </a:pPr>
            <a:r>
              <a:rPr lang="it-IT" sz="1300" b="1" dirty="0">
                <a:solidFill>
                  <a:srgbClr val="143350"/>
                </a:solidFill>
                <a:latin typeface="Calibri"/>
              </a:rPr>
              <a:t>Superata l'interpretazione MEF 2023 di tipo control-based: il calcolo è ora proporzionale e additivo.</a:t>
            </a:r>
          </a:p>
        </p:txBody>
      </p:sp>
      <p:sp>
        <p:nvSpPr>
          <p:cNvPr id="12" name="Segnaposto numero diapositiva 3"/>
          <p:cNvSpPr>
            <a:spLocks noGrp="1"/>
          </p:cNvSpPr>
          <p:nvPr>
            <p:ph type="sldNum" sz="quarter" idx="12"/>
          </p:nvPr>
        </p:nvSpPr>
        <p:spPr bwMode="auto">
          <a:xfrm>
            <a:off x="10953480" y="6322505"/>
            <a:ext cx="990600" cy="365125"/>
          </a:xfrm>
          <a:noFill/>
        </p:spPr>
        <p:txBody>
          <a:bodyPr/>
          <a:lstStyle/>
          <a:p>
            <a:fld id="{CB4F2903-5929-45AD-8483-C4FF9E9DD2C3}" type="slidenum">
              <a:rPr lang="en-GB" altLang="it-IT" sz="1000">
                <a:latin typeface="Source Sans Pro" charset="0"/>
              </a:rPr>
              <a:pPr/>
              <a:t>7</a:t>
            </a:fld>
            <a:endParaRPr lang="en-GB" altLang="it-IT" sz="1000" dirty="0">
              <a:latin typeface="Source Sans Pro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/>
        </p:nvSpPr>
        <p:spPr>
          <a:xfrm>
            <a:off x="300000" y="780000"/>
            <a:ext cx="11550000" cy="9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it-IT" sz="2000" b="1" i="1" dirty="0">
                <a:solidFill>
                  <a:srgbClr val="143350"/>
                </a:solidFill>
                <a:latin typeface="Calibri"/>
              </a:rPr>
              <a:t>Esempio pratico</a:t>
            </a:r>
          </a:p>
        </p:txBody>
      </p:sp>
      <p:sp>
        <p:nvSpPr>
          <p:cNvPr id="6" name="Rettangolo 5"/>
          <p:cNvSpPr/>
          <p:nvPr/>
        </p:nvSpPr>
        <p:spPr>
          <a:xfrm>
            <a:off x="646000" y="1700000"/>
            <a:ext cx="10900000" cy="700000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it-IT" sz="1300" dirty="0">
                <a:solidFill>
                  <a:srgbClr val="143350"/>
                </a:solidFill>
                <a:latin typeface="Calibri"/>
              </a:rPr>
              <a:t>Cliente da identificare: Alfa S.r.l. Il restante capitale di Beta e Gamma è in capo ad azionariato diffuso, senza alcun socio di controllo. Chi è il titolare effettivo di Alfa secondo la vecchia e la nuova normativa?</a:t>
            </a:r>
          </a:p>
        </p:txBody>
      </p:sp>
      <p:sp>
        <p:nvSpPr>
          <p:cNvPr id="20" name="box20"/>
          <p:cNvSpPr/>
          <p:nvPr/>
        </p:nvSpPr>
        <p:spPr>
          <a:xfrm>
            <a:off x="4746000" y="2400000"/>
            <a:ext cx="2700000" cy="760000"/>
          </a:xfrm>
          <a:prstGeom prst="roundRect">
            <a:avLst>
              <a:gd name="adj" fmla="val 8000"/>
            </a:avLst>
          </a:prstGeom>
          <a:solidFill>
            <a:srgbClr val="E7E6E6"/>
          </a:solidFill>
          <a:ln w="12700">
            <a:solidFill>
              <a:srgbClr val="143350"/>
            </a:solidFill>
          </a:ln>
        </p:spPr>
        <p:txBody>
          <a:bodyPr wrap="square" anchor="ctr"/>
          <a:lstStyle/>
          <a:p>
            <a:pPr algn="ctr"/>
            <a:r>
              <a:rPr lang="it-IT" sz="1300" b="1" dirty="0">
                <a:solidFill>
                  <a:srgbClr val="143350"/>
                </a:solidFill>
                <a:latin typeface="Calibri"/>
              </a:rPr>
              <a:t>Sig. Rossi</a:t>
            </a:r>
          </a:p>
          <a:p>
            <a:pPr algn="ctr"/>
            <a:r>
              <a:rPr lang="it-IT" sz="1066" b="1" dirty="0">
                <a:solidFill>
                  <a:srgbClr val="143350"/>
                </a:solidFill>
                <a:latin typeface="Calibri"/>
              </a:rPr>
              <a:t>persona fisica</a:t>
            </a:r>
          </a:p>
        </p:txBody>
      </p:sp>
      <p:sp>
        <p:nvSpPr>
          <p:cNvPr id="21" name="box21"/>
          <p:cNvSpPr/>
          <p:nvPr/>
        </p:nvSpPr>
        <p:spPr>
          <a:xfrm>
            <a:off x="1900000" y="4050000"/>
            <a:ext cx="2700000" cy="760000"/>
          </a:xfrm>
          <a:prstGeom prst="roundRect">
            <a:avLst>
              <a:gd name="adj" fmla="val 8000"/>
            </a:avLst>
          </a:prstGeom>
          <a:solidFill>
            <a:srgbClr val="DCE6F1"/>
          </a:solidFill>
          <a:ln w="12700">
            <a:solidFill>
              <a:srgbClr val="143350"/>
            </a:solidFill>
          </a:ln>
        </p:spPr>
        <p:txBody>
          <a:bodyPr wrap="square" anchor="ctr"/>
          <a:lstStyle/>
          <a:p>
            <a:pPr algn="ctr"/>
            <a:r>
              <a:rPr lang="it-IT" sz="1300" b="1" dirty="0">
                <a:solidFill>
                  <a:srgbClr val="143350"/>
                </a:solidFill>
                <a:latin typeface="Calibri"/>
              </a:rPr>
              <a:t>Beta S.p.A.</a:t>
            </a:r>
          </a:p>
        </p:txBody>
      </p:sp>
      <p:sp>
        <p:nvSpPr>
          <p:cNvPr id="22" name="box22"/>
          <p:cNvSpPr/>
          <p:nvPr/>
        </p:nvSpPr>
        <p:spPr>
          <a:xfrm>
            <a:off x="7592000" y="4050000"/>
            <a:ext cx="2700000" cy="760000"/>
          </a:xfrm>
          <a:prstGeom prst="roundRect">
            <a:avLst>
              <a:gd name="adj" fmla="val 8000"/>
            </a:avLst>
          </a:prstGeom>
          <a:solidFill>
            <a:srgbClr val="DCE6F1"/>
          </a:solidFill>
          <a:ln w="12700">
            <a:solidFill>
              <a:srgbClr val="143350"/>
            </a:solidFill>
          </a:ln>
        </p:spPr>
        <p:txBody>
          <a:bodyPr wrap="square" anchor="ctr"/>
          <a:lstStyle/>
          <a:p>
            <a:pPr algn="ctr"/>
            <a:r>
              <a:rPr lang="it-IT" sz="1300" b="1" dirty="0">
                <a:solidFill>
                  <a:srgbClr val="143350"/>
                </a:solidFill>
                <a:latin typeface="Calibri"/>
              </a:rPr>
              <a:t>Gamma S.r.l.</a:t>
            </a:r>
          </a:p>
        </p:txBody>
      </p:sp>
      <p:sp>
        <p:nvSpPr>
          <p:cNvPr id="23" name="box23"/>
          <p:cNvSpPr/>
          <p:nvPr/>
        </p:nvSpPr>
        <p:spPr>
          <a:xfrm>
            <a:off x="4746000" y="5500000"/>
            <a:ext cx="2700000" cy="760000"/>
          </a:xfrm>
          <a:prstGeom prst="roundRect">
            <a:avLst>
              <a:gd name="adj" fmla="val 8000"/>
            </a:avLst>
          </a:prstGeom>
          <a:solidFill>
            <a:srgbClr val="143350"/>
          </a:solidFill>
          <a:ln w="12700">
            <a:solidFill>
              <a:srgbClr val="143350"/>
            </a:solidFill>
          </a:ln>
        </p:spPr>
        <p:txBody>
          <a:bodyPr wrap="square" anchor="ctr"/>
          <a:lstStyle/>
          <a:p>
            <a:pPr algn="ctr"/>
            <a:r>
              <a:rPr lang="it-IT" sz="1300" b="1" dirty="0">
                <a:solidFill>
                  <a:srgbClr val="FFFFFF"/>
                </a:solidFill>
                <a:latin typeface="Calibri"/>
              </a:rPr>
              <a:t>Alfa S.r.l.</a:t>
            </a:r>
          </a:p>
          <a:p>
            <a:pPr algn="ctr"/>
            <a:r>
              <a:rPr lang="it-IT" sz="1066" b="1" dirty="0">
                <a:solidFill>
                  <a:srgbClr val="FFFFFF"/>
                </a:solidFill>
                <a:latin typeface="Calibri"/>
              </a:rPr>
              <a:t>CLIENTE</a:t>
            </a:r>
          </a:p>
        </p:txBody>
      </p:sp>
      <p:cxnSp>
        <p:nvCxnSpPr>
          <p:cNvPr id="30" name="ln30"/>
          <p:cNvCxnSpPr/>
          <p:nvPr/>
        </p:nvCxnSpPr>
        <p:spPr>
          <a:xfrm flipH="1">
            <a:off x="3250000" y="3160000"/>
            <a:ext cx="2846000" cy="89000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cxnSp>
      <p:cxnSp>
        <p:nvCxnSpPr>
          <p:cNvPr id="31" name="ln31"/>
          <p:cNvCxnSpPr/>
          <p:nvPr/>
        </p:nvCxnSpPr>
        <p:spPr>
          <a:xfrm>
            <a:off x="6096000" y="3160000"/>
            <a:ext cx="2846000" cy="89000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cxnSp>
      <p:cxnSp>
        <p:nvCxnSpPr>
          <p:cNvPr id="32" name="ln32"/>
          <p:cNvCxnSpPr/>
          <p:nvPr/>
        </p:nvCxnSpPr>
        <p:spPr>
          <a:xfrm>
            <a:off x="3250000" y="4810000"/>
            <a:ext cx="2846000" cy="69000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cxnSp>
      <p:cxnSp>
        <p:nvCxnSpPr>
          <p:cNvPr id="33" name="ln33"/>
          <p:cNvCxnSpPr/>
          <p:nvPr/>
        </p:nvCxnSpPr>
        <p:spPr>
          <a:xfrm flipH="1">
            <a:off x="6096000" y="4810000"/>
            <a:ext cx="2846000" cy="69000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cxnSp>
      <p:sp>
        <p:nvSpPr>
          <p:cNvPr id="40" name="pct40"/>
          <p:cNvSpPr txBox="1"/>
          <p:nvPr/>
        </p:nvSpPr>
        <p:spPr>
          <a:xfrm>
            <a:off x="4150000" y="3430000"/>
            <a:ext cx="800000" cy="350000"/>
          </a:xfrm>
          <a:prstGeom prst="rect">
            <a:avLst/>
          </a:prstGeom>
          <a:solidFill>
            <a:srgbClr val="FFFFFF"/>
          </a:solidFill>
        </p:spPr>
        <p:txBody>
          <a:bodyPr wrap="none" anchor="ctr"/>
          <a:lstStyle/>
          <a:p>
            <a:pPr algn="ctr"/>
            <a:r>
              <a:rPr lang="it-IT" sz="1200" b="1" dirty="0">
                <a:solidFill>
                  <a:srgbClr val="143350"/>
                </a:solidFill>
                <a:latin typeface="Calibri"/>
              </a:rPr>
              <a:t>40%</a:t>
            </a:r>
          </a:p>
        </p:txBody>
      </p:sp>
      <p:sp>
        <p:nvSpPr>
          <p:cNvPr id="41" name="pct41"/>
          <p:cNvSpPr txBox="1"/>
          <p:nvPr/>
        </p:nvSpPr>
        <p:spPr>
          <a:xfrm>
            <a:off x="7250000" y="3430000"/>
            <a:ext cx="800000" cy="350000"/>
          </a:xfrm>
          <a:prstGeom prst="rect">
            <a:avLst/>
          </a:prstGeom>
          <a:solidFill>
            <a:srgbClr val="FFFFFF"/>
          </a:solidFill>
        </p:spPr>
        <p:txBody>
          <a:bodyPr wrap="none" anchor="ctr"/>
          <a:lstStyle/>
          <a:p>
            <a:pPr algn="ctr"/>
            <a:r>
              <a:rPr lang="it-IT" sz="1200" b="1" dirty="0">
                <a:solidFill>
                  <a:srgbClr val="143350"/>
                </a:solidFill>
                <a:latin typeface="Calibri"/>
              </a:rPr>
              <a:t>20%</a:t>
            </a:r>
          </a:p>
        </p:txBody>
      </p:sp>
      <p:sp>
        <p:nvSpPr>
          <p:cNvPr id="42" name="pct42"/>
          <p:cNvSpPr txBox="1"/>
          <p:nvPr/>
        </p:nvSpPr>
        <p:spPr>
          <a:xfrm>
            <a:off x="4150000" y="4980000"/>
            <a:ext cx="800000" cy="350000"/>
          </a:xfrm>
          <a:prstGeom prst="rect">
            <a:avLst/>
          </a:prstGeom>
          <a:solidFill>
            <a:srgbClr val="FFFFFF"/>
          </a:solidFill>
        </p:spPr>
        <p:txBody>
          <a:bodyPr wrap="none" anchor="ctr"/>
          <a:lstStyle/>
          <a:p>
            <a:pPr algn="ctr"/>
            <a:r>
              <a:rPr lang="it-IT" sz="1200" b="1" dirty="0">
                <a:solidFill>
                  <a:srgbClr val="143350"/>
                </a:solidFill>
                <a:latin typeface="Calibri"/>
              </a:rPr>
              <a:t>50%</a:t>
            </a:r>
          </a:p>
        </p:txBody>
      </p:sp>
      <p:sp>
        <p:nvSpPr>
          <p:cNvPr id="43" name="pct43"/>
          <p:cNvSpPr txBox="1"/>
          <p:nvPr/>
        </p:nvSpPr>
        <p:spPr>
          <a:xfrm>
            <a:off x="7250000" y="4980000"/>
            <a:ext cx="800000" cy="350000"/>
          </a:xfrm>
          <a:prstGeom prst="rect">
            <a:avLst/>
          </a:prstGeom>
          <a:solidFill>
            <a:srgbClr val="FFFFFF"/>
          </a:solidFill>
        </p:spPr>
        <p:txBody>
          <a:bodyPr wrap="none" anchor="ctr"/>
          <a:lstStyle/>
          <a:p>
            <a:pPr algn="ctr"/>
            <a:r>
              <a:rPr lang="it-IT" sz="1200" b="1" dirty="0">
                <a:solidFill>
                  <a:srgbClr val="143350"/>
                </a:solidFill>
                <a:latin typeface="Calibri"/>
              </a:rPr>
              <a:t>50%</a:t>
            </a:r>
          </a:p>
        </p:txBody>
      </p:sp>
      <p:sp>
        <p:nvSpPr>
          <p:cNvPr id="12" name="Segnaposto numero diapositiva 3"/>
          <p:cNvSpPr>
            <a:spLocks noGrp="1"/>
          </p:cNvSpPr>
          <p:nvPr>
            <p:ph type="sldNum" sz="quarter" idx="12"/>
          </p:nvPr>
        </p:nvSpPr>
        <p:spPr bwMode="auto">
          <a:xfrm>
            <a:off x="10953480" y="6322505"/>
            <a:ext cx="990600" cy="365125"/>
          </a:xfrm>
          <a:noFill/>
        </p:spPr>
        <p:txBody>
          <a:bodyPr/>
          <a:lstStyle/>
          <a:p>
            <a:fld id="{CB4F2903-5929-45AD-8483-C4FF9E9DD2C3}" type="slidenum">
              <a:rPr lang="en-GB" altLang="it-IT" sz="1000">
                <a:latin typeface="Source Sans Pro" charset="0"/>
              </a:rPr>
              <a:pPr/>
              <a:t>8</a:t>
            </a:fld>
            <a:endParaRPr lang="en-GB" altLang="it-IT" sz="1000" dirty="0">
              <a:latin typeface="Source Sans Pro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/>
        </p:nvSpPr>
        <p:spPr>
          <a:xfrm>
            <a:off x="646000" y="770000"/>
            <a:ext cx="11550000" cy="9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it-IT" sz="2000" b="1" i="1" dirty="0">
                <a:solidFill>
                  <a:srgbClr val="143350"/>
                </a:solidFill>
                <a:latin typeface="Calibri"/>
              </a:rPr>
              <a:t>Esempio - normativa vigente </a:t>
            </a:r>
          </a:p>
        </p:txBody>
      </p:sp>
      <p:sp>
        <p:nvSpPr>
          <p:cNvPr id="6" name="Rettangolo 5"/>
          <p:cNvSpPr/>
          <p:nvPr/>
        </p:nvSpPr>
        <p:spPr>
          <a:xfrm>
            <a:off x="646000" y="1720000"/>
            <a:ext cx="10900000" cy="4750000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normAutofit/>
          </a:bodyPr>
          <a:lstStyle/>
          <a:p>
            <a:pPr algn="l">
              <a:spcBef>
                <a:spcPts val="600"/>
              </a:spcBef>
              <a:spcAft>
                <a:spcPts val="200"/>
              </a:spcAft>
              <a:buNone/>
            </a:pPr>
            <a:r>
              <a:rPr lang="it-IT" sz="1500" b="1" dirty="0">
                <a:solidFill>
                  <a:srgbClr val="143350"/>
                </a:solidFill>
                <a:latin typeface="Calibri"/>
              </a:rPr>
              <a:t>1. Criterio della proprietà (interpretazione MEF 2023)</a:t>
            </a:r>
          </a:p>
          <a:p>
            <a:pPr marL="285750" indent="-285750" algn="l">
              <a:spcAft>
                <a:spcPts val="200"/>
              </a:spcAft>
              <a:buFont typeface="Arial"/>
              <a:buChar char="•"/>
            </a:pPr>
            <a:r>
              <a:rPr lang="it-IT" sz="1300" dirty="0">
                <a:solidFill>
                  <a:srgbClr val="143350"/>
                </a:solidFill>
                <a:latin typeface="Calibri"/>
              </a:rPr>
              <a:t>Detentori diretti oltre il 25% di Alfa: Beta (50%) e Gamma (50%), entrambe società.</a:t>
            </a:r>
          </a:p>
          <a:p>
            <a:pPr marL="285750" indent="-285750" algn="l">
              <a:spcAft>
                <a:spcPts val="200"/>
              </a:spcAft>
              <a:buFont typeface="Arial"/>
              <a:buChar char="•"/>
            </a:pPr>
            <a:r>
              <a:rPr lang="it-IT" sz="1300" dirty="0">
                <a:solidFill>
                  <a:srgbClr val="143350"/>
                </a:solidFill>
                <a:latin typeface="Calibri"/>
              </a:rPr>
              <a:t>Si risale la catena cercando chi controlla Beta e Gamma ex art. 2359 c.c.</a:t>
            </a:r>
          </a:p>
          <a:p>
            <a:pPr marL="285750" indent="-285750" algn="l">
              <a:spcAft>
                <a:spcPts val="200"/>
              </a:spcAft>
              <a:buFont typeface="Arial"/>
              <a:buChar char="•"/>
            </a:pPr>
            <a:r>
              <a:rPr lang="it-IT" sz="1300" dirty="0">
                <a:solidFill>
                  <a:srgbClr val="143350"/>
                </a:solidFill>
                <a:latin typeface="Calibri"/>
              </a:rPr>
              <a:t>Rossi detiene il 40% di Beta e il 20% di Gamma: non controlla né l'una né l'altra, quindi nessun TE per proprietà.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buNone/>
            </a:pPr>
            <a:r>
              <a:rPr lang="it-IT" sz="1500" b="1" dirty="0">
                <a:solidFill>
                  <a:srgbClr val="143350"/>
                </a:solidFill>
                <a:latin typeface="Calibri"/>
              </a:rPr>
              <a:t>2. Criterio del controllo</a:t>
            </a:r>
          </a:p>
          <a:p>
            <a:pPr marL="285750" indent="-285750" algn="l">
              <a:spcAft>
                <a:spcPts val="200"/>
              </a:spcAft>
              <a:buFont typeface="Arial"/>
              <a:buChar char="•"/>
            </a:pPr>
            <a:r>
              <a:rPr lang="it-IT" sz="1300" dirty="0">
                <a:solidFill>
                  <a:srgbClr val="143350"/>
                </a:solidFill>
                <a:latin typeface="Calibri"/>
              </a:rPr>
              <a:t>Nessuna persona fisica controlla Alfa.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buNone/>
            </a:pPr>
            <a:r>
              <a:rPr lang="it-IT" sz="1500" b="1" dirty="0">
                <a:solidFill>
                  <a:srgbClr val="143350"/>
                </a:solidFill>
                <a:latin typeface="Calibri"/>
              </a:rPr>
              <a:t>3. Criterio residuale</a:t>
            </a:r>
          </a:p>
          <a:p>
            <a:pPr marL="285750" indent="-285750" algn="l">
              <a:spcAft>
                <a:spcPts val="200"/>
              </a:spcAft>
              <a:buFont typeface="Arial"/>
              <a:buChar char="•"/>
            </a:pPr>
            <a:r>
              <a:rPr lang="it-IT" sz="1300" dirty="0">
                <a:solidFill>
                  <a:srgbClr val="143350"/>
                </a:solidFill>
                <a:latin typeface="Calibri"/>
              </a:rPr>
              <a:t>Il TE è individuato nei soggetti con poteri di amministrazione o direzione di Alfa (amministratori, legale rappresentante).</a:t>
            </a:r>
          </a:p>
          <a:p>
            <a:pPr marL="285750" indent="-285750" algn="l">
              <a:spcAft>
                <a:spcPts val="200"/>
              </a:spcAft>
              <a:buFont typeface="Arial"/>
              <a:buChar char="•"/>
            </a:pPr>
            <a:r>
              <a:rPr lang="it-IT" sz="1300" b="1" dirty="0">
                <a:solidFill>
                  <a:srgbClr val="143350"/>
                </a:solidFill>
                <a:latin typeface="Calibri"/>
              </a:rPr>
              <a:t>Esito: TE = gli amministratori di Alfa. Soluzione formale, poco informativa sull'assetto economico reale.</a:t>
            </a:r>
          </a:p>
        </p:txBody>
      </p:sp>
      <p:sp>
        <p:nvSpPr>
          <p:cNvPr id="12" name="Segnaposto numero diapositiva 3"/>
          <p:cNvSpPr>
            <a:spLocks noGrp="1"/>
          </p:cNvSpPr>
          <p:nvPr>
            <p:ph type="sldNum" sz="quarter" idx="12"/>
          </p:nvPr>
        </p:nvSpPr>
        <p:spPr bwMode="auto">
          <a:xfrm>
            <a:off x="10953480" y="6322505"/>
            <a:ext cx="990600" cy="365125"/>
          </a:xfrm>
          <a:noFill/>
        </p:spPr>
        <p:txBody>
          <a:bodyPr/>
          <a:lstStyle/>
          <a:p>
            <a:fld id="{CB4F2903-5929-45AD-8483-C4FF9E9DD2C3}" type="slidenum">
              <a:rPr lang="en-GB" altLang="it-IT" sz="1000">
                <a:latin typeface="Source Sans Pro" charset="0"/>
              </a:rPr>
              <a:pPr/>
              <a:t>9</a:t>
            </a:fld>
            <a:endParaRPr lang="en-GB" altLang="it-IT" sz="1000" dirty="0">
              <a:latin typeface="Source Sans Pro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/>
        </p:nvSpPr>
        <p:spPr>
          <a:xfrm>
            <a:off x="300000" y="780000"/>
            <a:ext cx="11550000" cy="9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it-IT" sz="2000" b="1" i="1" dirty="0">
                <a:solidFill>
                  <a:srgbClr val="143350"/>
                </a:solidFill>
                <a:latin typeface="Calibri"/>
              </a:rPr>
              <a:t>Esempio - identificazione con l'AMLR</a:t>
            </a:r>
          </a:p>
        </p:txBody>
      </p:sp>
      <p:sp>
        <p:nvSpPr>
          <p:cNvPr id="6" name="Rettangolo 5"/>
          <p:cNvSpPr/>
          <p:nvPr/>
        </p:nvSpPr>
        <p:spPr>
          <a:xfrm>
            <a:off x="646000" y="1720000"/>
            <a:ext cx="10900000" cy="4750000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normAutofit/>
          </a:bodyPr>
          <a:lstStyle/>
          <a:p>
            <a:pPr algn="l">
              <a:spcBef>
                <a:spcPts val="600"/>
              </a:spcBef>
              <a:spcAft>
                <a:spcPts val="200"/>
              </a:spcAft>
              <a:buNone/>
            </a:pPr>
            <a:r>
              <a:rPr lang="it-IT" sz="1500" b="1" dirty="0">
                <a:solidFill>
                  <a:srgbClr val="143350"/>
                </a:solidFill>
                <a:latin typeface="Calibri"/>
              </a:rPr>
              <a:t>Proprietà: calcolo proporzionale e somma tra catene</a:t>
            </a:r>
          </a:p>
          <a:p>
            <a:pPr marL="285750" indent="-285750" algn="l">
              <a:spcAft>
                <a:spcPts val="200"/>
              </a:spcAft>
              <a:buFont typeface="Arial"/>
              <a:buChar char="•"/>
            </a:pPr>
            <a:r>
              <a:rPr lang="it-IT" sz="1300" dirty="0">
                <a:solidFill>
                  <a:srgbClr val="143350"/>
                </a:solidFill>
                <a:latin typeface="Calibri"/>
              </a:rPr>
              <a:t>Rossi via Beta: 40% × 50% = 20%.</a:t>
            </a:r>
          </a:p>
          <a:p>
            <a:pPr marL="285750" indent="-285750" algn="l">
              <a:spcAft>
                <a:spcPts val="200"/>
              </a:spcAft>
              <a:buFont typeface="Arial"/>
              <a:buChar char="•"/>
            </a:pPr>
            <a:r>
              <a:rPr lang="it-IT" sz="1300" dirty="0">
                <a:solidFill>
                  <a:srgbClr val="143350"/>
                </a:solidFill>
                <a:latin typeface="Calibri"/>
              </a:rPr>
              <a:t>Rossi via Gamma: 20% × 50% = 10%.</a:t>
            </a:r>
          </a:p>
          <a:p>
            <a:pPr marL="285750" indent="-285750" algn="l">
              <a:spcAft>
                <a:spcPts val="200"/>
              </a:spcAft>
              <a:buFont typeface="Arial"/>
              <a:buChar char="•"/>
            </a:pPr>
            <a:r>
              <a:rPr lang="it-IT" sz="1300" b="1" dirty="0">
                <a:solidFill>
                  <a:srgbClr val="143350"/>
                </a:solidFill>
                <a:latin typeface="Calibri"/>
              </a:rPr>
              <a:t>Totale di Rossi su Alfa: 30%, oltre la soglia del 25%: è titolare effettivo.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buNone/>
            </a:pPr>
            <a:r>
              <a:rPr lang="it-IT" sz="1500" b="1" dirty="0">
                <a:solidFill>
                  <a:srgbClr val="143350"/>
                </a:solidFill>
                <a:latin typeface="Calibri"/>
              </a:rPr>
              <a:t>Controllo: valutato in parallelo</a:t>
            </a:r>
          </a:p>
          <a:p>
            <a:pPr marL="285750" indent="-285750" algn="l">
              <a:spcAft>
                <a:spcPts val="200"/>
              </a:spcAft>
              <a:buFont typeface="Arial"/>
              <a:buChar char="•"/>
            </a:pPr>
            <a:r>
              <a:rPr lang="it-IT" sz="1300" dirty="0">
                <a:solidFill>
                  <a:srgbClr val="143350"/>
                </a:solidFill>
                <a:latin typeface="Calibri"/>
              </a:rPr>
              <a:t>Nessun controllo con altri mezzi su Alfa: nessun TE aggiuntivo per controllo.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buNone/>
            </a:pPr>
            <a:r>
              <a:rPr lang="it-IT" sz="1500" b="1" dirty="0">
                <a:solidFill>
                  <a:srgbClr val="143350"/>
                </a:solidFill>
                <a:latin typeface="Calibri"/>
              </a:rPr>
              <a:t>Esito</a:t>
            </a:r>
          </a:p>
          <a:p>
            <a:pPr marL="285750" indent="-285750" algn="l">
              <a:spcAft>
                <a:spcPts val="200"/>
              </a:spcAft>
              <a:buFont typeface="Arial"/>
              <a:buChar char="•"/>
            </a:pPr>
            <a:r>
              <a:rPr lang="it-IT" sz="1300" b="1" dirty="0">
                <a:solidFill>
                  <a:srgbClr val="143350"/>
                </a:solidFill>
                <a:latin typeface="Calibri"/>
              </a:rPr>
              <a:t>Titolare effettivo = Sig. Rossi.</a:t>
            </a:r>
          </a:p>
          <a:p>
            <a:pPr marL="285750" indent="-285750" algn="l">
              <a:spcAft>
                <a:spcPts val="200"/>
              </a:spcAft>
              <a:buFont typeface="Arial"/>
              <a:buChar char="•"/>
            </a:pPr>
            <a:r>
              <a:rPr lang="it-IT" sz="1300" dirty="0">
                <a:solidFill>
                  <a:srgbClr val="143350"/>
                </a:solidFill>
                <a:latin typeface="Calibri"/>
              </a:rPr>
              <a:t>Differenza chiave: la somma delle partecipazioni indirette sotto-soglia (20% + 10%) supera il 25% e fa emergere il reale beneficiario economico, che la logica control-based non coglieva.</a:t>
            </a:r>
          </a:p>
        </p:txBody>
      </p:sp>
      <p:sp>
        <p:nvSpPr>
          <p:cNvPr id="12" name="Segnaposto numero diapositiva 3"/>
          <p:cNvSpPr>
            <a:spLocks noGrp="1"/>
          </p:cNvSpPr>
          <p:nvPr>
            <p:ph type="sldNum" sz="quarter" idx="12"/>
          </p:nvPr>
        </p:nvSpPr>
        <p:spPr bwMode="auto">
          <a:xfrm>
            <a:off x="10953480" y="6322505"/>
            <a:ext cx="990600" cy="365125"/>
          </a:xfrm>
          <a:noFill/>
        </p:spPr>
        <p:txBody>
          <a:bodyPr/>
          <a:lstStyle/>
          <a:p>
            <a:fld id="{CB4F2903-5929-45AD-8483-C4FF9E9DD2C3}" type="slidenum">
              <a:rPr lang="en-GB" altLang="it-IT" sz="1000">
                <a:latin typeface="Source Sans Pro" charset="0"/>
              </a:rPr>
              <a:pPr/>
              <a:t>10</a:t>
            </a:fld>
            <a:endParaRPr lang="en-GB" altLang="it-IT" sz="1000" dirty="0">
              <a:latin typeface="Source Sans Pro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/>
        </p:nvSpPr>
        <p:spPr>
          <a:xfrm>
            <a:off x="300000" y="780000"/>
            <a:ext cx="11550000" cy="9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it-IT" sz="2000" b="1" i="1" dirty="0">
                <a:solidFill>
                  <a:srgbClr val="143350"/>
                </a:solidFill>
                <a:latin typeface="Calibri"/>
              </a:rPr>
              <a:t>Esempio - sintesi del confronto e impatto operativo</a:t>
            </a:r>
          </a:p>
        </p:txBody>
      </p:sp>
      <p:sp>
        <p:nvSpPr>
          <p:cNvPr id="6" name="Rettangolo 5"/>
          <p:cNvSpPr/>
          <p:nvPr/>
        </p:nvSpPr>
        <p:spPr>
          <a:xfrm>
            <a:off x="646000" y="1720000"/>
            <a:ext cx="10900000" cy="4750000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normAutofit/>
          </a:bodyPr>
          <a:lstStyle/>
          <a:p>
            <a:pPr algn="l">
              <a:spcBef>
                <a:spcPts val="600"/>
              </a:spcBef>
              <a:spcAft>
                <a:spcPts val="200"/>
              </a:spcAft>
              <a:buNone/>
            </a:pPr>
            <a:r>
              <a:rPr lang="it-IT" sz="1500" b="1" dirty="0">
                <a:solidFill>
                  <a:srgbClr val="143350"/>
                </a:solidFill>
                <a:latin typeface="Calibri"/>
              </a:rPr>
              <a:t>Stesso cliente, due esiti diversi</a:t>
            </a:r>
          </a:p>
          <a:p>
            <a:pPr marL="285750" indent="-285750" algn="l">
              <a:spcAft>
                <a:spcPts val="200"/>
              </a:spcAft>
              <a:buFont typeface="Arial"/>
              <a:buChar char="•"/>
            </a:pPr>
            <a:r>
              <a:rPr lang="it-IT" sz="1300" b="1" dirty="0">
                <a:solidFill>
                  <a:srgbClr val="143350"/>
                </a:solidFill>
                <a:latin typeface="Calibri"/>
              </a:rPr>
              <a:t>Vecchia normativa (sequenziale, MEF 2023): TE = amministratori di Alfa (criterio residuale).</a:t>
            </a:r>
          </a:p>
          <a:p>
            <a:pPr marL="285750" indent="-285750" algn="l">
              <a:spcAft>
                <a:spcPts val="200"/>
              </a:spcAft>
              <a:buFont typeface="Arial"/>
              <a:buChar char="•"/>
            </a:pPr>
            <a:r>
              <a:rPr lang="it-IT" sz="1300" b="1" dirty="0">
                <a:solidFill>
                  <a:srgbClr val="143350"/>
                </a:solidFill>
                <a:latin typeface="Calibri"/>
              </a:rPr>
              <a:t>Nuova normativa (simultaneo, AMLR): TE = Sig. Rossi (30% in proprietà indiretta).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buNone/>
            </a:pPr>
            <a:r>
              <a:rPr lang="it-IT" sz="1500" b="1" dirty="0">
                <a:solidFill>
                  <a:srgbClr val="143350"/>
                </a:solidFill>
                <a:latin typeface="Calibri"/>
              </a:rPr>
              <a:t>Cosa cambia</a:t>
            </a:r>
          </a:p>
          <a:p>
            <a:pPr marL="285750" indent="-285750" algn="l">
              <a:spcAft>
                <a:spcPts val="200"/>
              </a:spcAft>
              <a:buFont typeface="Arial"/>
              <a:buChar char="•"/>
            </a:pPr>
            <a:r>
              <a:rPr lang="it-IT" sz="1300" dirty="0">
                <a:solidFill>
                  <a:srgbClr val="143350"/>
                </a:solidFill>
                <a:latin typeface="Calibri"/>
              </a:rPr>
              <a:t>L'AMLR privilegia la sostanza economica (calcolo proporzionale e additivo) sulla forma (controllo di diritto).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buNone/>
            </a:pPr>
            <a:r>
              <a:rPr lang="it-IT" sz="1500" b="1" dirty="0">
                <a:solidFill>
                  <a:srgbClr val="143350"/>
                </a:solidFill>
                <a:latin typeface="Calibri"/>
              </a:rPr>
              <a:t>Impatto per la banca</a:t>
            </a:r>
          </a:p>
          <a:p>
            <a:pPr marL="285750" indent="-285750" algn="l">
              <a:spcAft>
                <a:spcPts val="200"/>
              </a:spcAft>
              <a:buFont typeface="Arial"/>
              <a:buChar char="•"/>
            </a:pPr>
            <a:r>
              <a:rPr lang="it-IT" sz="1300" dirty="0">
                <a:solidFill>
                  <a:srgbClr val="143350"/>
                </a:solidFill>
                <a:latin typeface="Calibri"/>
              </a:rPr>
              <a:t>Va rieseguita l'identificazione del TE sull'intero portafoglio clienti.</a:t>
            </a:r>
          </a:p>
          <a:p>
            <a:pPr marL="285750" indent="-285750" algn="l">
              <a:spcAft>
                <a:spcPts val="200"/>
              </a:spcAft>
              <a:buFont typeface="Arial"/>
              <a:buChar char="•"/>
            </a:pPr>
            <a:r>
              <a:rPr lang="it-IT" sz="1300" dirty="0">
                <a:solidFill>
                  <a:srgbClr val="143350"/>
                </a:solidFill>
                <a:latin typeface="Calibri"/>
              </a:rPr>
              <a:t>I clienti con strutture a catena e soci ricorrenti sotto-soglia sono i più impattati.</a:t>
            </a:r>
          </a:p>
          <a:p>
            <a:pPr marL="285750" indent="-285750" algn="l">
              <a:spcAft>
                <a:spcPts val="200"/>
              </a:spcAft>
              <a:buFont typeface="Arial"/>
              <a:buChar char="•"/>
            </a:pPr>
            <a:r>
              <a:rPr lang="it-IT" sz="1300" dirty="0">
                <a:solidFill>
                  <a:srgbClr val="143350"/>
                </a:solidFill>
                <a:latin typeface="Calibri"/>
              </a:rPr>
              <a:t>Cresce il fabbisogno informativo: serve la mappatura completa delle catene partecipative.</a:t>
            </a:r>
          </a:p>
        </p:txBody>
      </p:sp>
      <p:sp>
        <p:nvSpPr>
          <p:cNvPr id="12" name="Segnaposto numero diapositiva 3"/>
          <p:cNvSpPr>
            <a:spLocks noGrp="1"/>
          </p:cNvSpPr>
          <p:nvPr>
            <p:ph type="sldNum" sz="quarter" idx="12"/>
          </p:nvPr>
        </p:nvSpPr>
        <p:spPr bwMode="auto">
          <a:xfrm>
            <a:off x="10953480" y="6322505"/>
            <a:ext cx="990600" cy="365125"/>
          </a:xfrm>
          <a:noFill/>
        </p:spPr>
        <p:txBody>
          <a:bodyPr/>
          <a:lstStyle/>
          <a:p>
            <a:fld id="{CB4F2903-5929-45AD-8483-C4FF9E9DD2C3}" type="slidenum">
              <a:rPr lang="en-GB" altLang="it-IT" sz="1000">
                <a:latin typeface="Source Sans Pro" charset="0"/>
              </a:rPr>
              <a:pPr/>
              <a:t>11</a:t>
            </a:fld>
            <a:endParaRPr lang="en-GB" altLang="it-IT" sz="1000" dirty="0">
              <a:latin typeface="Source Sans Pro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/>
        </p:nvSpPr>
        <p:spPr>
          <a:xfrm>
            <a:off x="300000" y="780000"/>
            <a:ext cx="11550000" cy="9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it-IT" sz="2000" b="1" i="1" dirty="0">
                <a:solidFill>
                  <a:srgbClr val="143350"/>
                </a:solidFill>
                <a:latin typeface="Calibri"/>
              </a:rPr>
              <a:t>La saga del Registro: dalla sospensione alla riattivazione</a:t>
            </a:r>
          </a:p>
        </p:txBody>
      </p:sp>
      <p:sp>
        <p:nvSpPr>
          <p:cNvPr id="6" name="Rettangolo 5"/>
          <p:cNvSpPr/>
          <p:nvPr/>
        </p:nvSpPr>
        <p:spPr>
          <a:xfrm>
            <a:off x="646000" y="1720000"/>
            <a:ext cx="10900000" cy="4750000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normAutofit/>
          </a:bodyPr>
          <a:lstStyle/>
          <a:p>
            <a:pPr marL="285750" indent="-285750" algn="l">
              <a:spcAft>
                <a:spcPts val="200"/>
              </a:spcAft>
              <a:buFont typeface="Arial"/>
              <a:buChar char="•"/>
            </a:pPr>
            <a:r>
              <a:rPr lang="it-IT" sz="1300" dirty="0">
                <a:solidFill>
                  <a:srgbClr val="143350"/>
                </a:solidFill>
                <a:latin typeface="Calibri"/>
              </a:rPr>
              <a:t>2023 - Attivazione del Registro; termine per le comunicazioni fissato all'11 dicembre 2023.</a:t>
            </a:r>
          </a:p>
          <a:p>
            <a:pPr marL="285750" indent="-285750" algn="l">
              <a:spcAft>
                <a:spcPts val="200"/>
              </a:spcAft>
              <a:buFont typeface="Arial"/>
              <a:buChar char="•"/>
            </a:pPr>
            <a:r>
              <a:rPr lang="it-IT" sz="1300" dirty="0">
                <a:solidFill>
                  <a:srgbClr val="143350"/>
                </a:solidFill>
                <a:latin typeface="Calibri"/>
              </a:rPr>
              <a:t>Dicembre 2023 - Il TAR Lazio sospende l'efficacia del decreto attuativo.</a:t>
            </a:r>
          </a:p>
          <a:p>
            <a:pPr marL="285750" indent="-285750" algn="l">
              <a:spcAft>
                <a:spcPts val="200"/>
              </a:spcAft>
              <a:buFont typeface="Arial"/>
              <a:buChar char="•"/>
            </a:pPr>
            <a:r>
              <a:rPr lang="it-IT" sz="1300" dirty="0">
                <a:solidFill>
                  <a:srgbClr val="143350"/>
                </a:solidFill>
                <a:latin typeface="Calibri"/>
              </a:rPr>
              <a:t>Maggio 2024 - Il Consiglio di Stato (ord. n. 3532/2024) sospende l'operatività del Registro e rinvia alla CGUE (cause C-684/24 e C-685/24).</a:t>
            </a:r>
          </a:p>
          <a:p>
            <a:pPr marL="285750" indent="-285750" algn="l">
              <a:spcAft>
                <a:spcPts val="200"/>
              </a:spcAft>
              <a:buFont typeface="Arial"/>
              <a:buChar char="•"/>
            </a:pPr>
            <a:r>
              <a:rPr lang="it-IT" sz="1300" dirty="0">
                <a:solidFill>
                  <a:srgbClr val="143350"/>
                </a:solidFill>
                <a:latin typeface="Calibri"/>
              </a:rPr>
              <a:t>11 dicembre 2025 - Conclusioni dell'Avvocato Generale.</a:t>
            </a:r>
          </a:p>
          <a:p>
            <a:pPr marL="285750" indent="-285750" algn="l">
              <a:spcAft>
                <a:spcPts val="200"/>
              </a:spcAft>
              <a:buFont typeface="Arial"/>
              <a:buChar char="•"/>
            </a:pPr>
            <a:r>
              <a:rPr lang="it-IT" sz="1300" b="1" dirty="0">
                <a:solidFill>
                  <a:srgbClr val="143350"/>
                </a:solidFill>
                <a:latin typeface="Calibri"/>
              </a:rPr>
              <a:t>21 maggio 2026 - La CGUE valida il modello italiano e rimuove il fondamento della sospensione.</a:t>
            </a:r>
          </a:p>
          <a:p>
            <a:pPr marL="285750" indent="-285750" algn="l">
              <a:spcAft>
                <a:spcPts val="200"/>
              </a:spcAft>
              <a:buFont typeface="Arial"/>
              <a:buChar char="•"/>
            </a:pPr>
            <a:r>
              <a:rPr lang="it-IT" sz="1300" dirty="0">
                <a:solidFill>
                  <a:srgbClr val="143350"/>
                </a:solidFill>
                <a:latin typeface="Calibri"/>
              </a:rPr>
              <a:t>Oggi - Riattivazione in corso (parola al Consiglio di Stato); circa 1,3 milioni di pratiche da aggiornare.</a:t>
            </a:r>
          </a:p>
        </p:txBody>
      </p:sp>
      <p:sp>
        <p:nvSpPr>
          <p:cNvPr id="12" name="Segnaposto numero diapositiva 3"/>
          <p:cNvSpPr>
            <a:spLocks noGrp="1"/>
          </p:cNvSpPr>
          <p:nvPr>
            <p:ph type="sldNum" sz="quarter" idx="12"/>
          </p:nvPr>
        </p:nvSpPr>
        <p:spPr bwMode="auto">
          <a:xfrm>
            <a:off x="10953480" y="6322505"/>
            <a:ext cx="990600" cy="365125"/>
          </a:xfrm>
          <a:noFill/>
        </p:spPr>
        <p:txBody>
          <a:bodyPr/>
          <a:lstStyle/>
          <a:p>
            <a:fld id="{CB4F2903-5929-45AD-8483-C4FF9E9DD2C3}" type="slidenum">
              <a:rPr lang="en-GB" altLang="it-IT" sz="1000">
                <a:latin typeface="Source Sans Pro" charset="0"/>
              </a:rPr>
              <a:pPr/>
              <a:t>12</a:t>
            </a:fld>
            <a:endParaRPr lang="en-GB" altLang="it-IT" sz="1000" dirty="0">
              <a:latin typeface="Source Sans Pro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/>
        </p:nvSpPr>
        <p:spPr>
          <a:xfrm>
            <a:off x="1931158" y="1025659"/>
            <a:ext cx="11550000" cy="9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it-IT" sz="2000" b="1" i="1" dirty="0">
                <a:solidFill>
                  <a:srgbClr val="143350"/>
                </a:solidFill>
                <a:latin typeface="Calibri"/>
              </a:rPr>
              <a:t>impatti organizzativi per i soggetti obbligati</a:t>
            </a:r>
          </a:p>
        </p:txBody>
      </p:sp>
      <p:sp>
        <p:nvSpPr>
          <p:cNvPr id="12" name="Segnaposto numero diapositiva 3"/>
          <p:cNvSpPr>
            <a:spLocks noGrp="1"/>
          </p:cNvSpPr>
          <p:nvPr>
            <p:ph type="sldNum" sz="quarter" idx="12"/>
          </p:nvPr>
        </p:nvSpPr>
        <p:spPr bwMode="auto">
          <a:xfrm>
            <a:off x="10953480" y="6322505"/>
            <a:ext cx="990600" cy="365125"/>
          </a:xfrm>
          <a:noFill/>
        </p:spPr>
        <p:txBody>
          <a:bodyPr/>
          <a:lstStyle/>
          <a:p>
            <a:fld id="{CB4F2903-5929-45AD-8483-C4FF9E9DD2C3}" type="slidenum">
              <a:rPr lang="en-GB" altLang="it-IT" sz="1000">
                <a:latin typeface="Source Sans Pro" charset="0"/>
              </a:rPr>
              <a:pPr/>
              <a:t>13</a:t>
            </a:fld>
            <a:endParaRPr lang="en-GB" altLang="it-IT" sz="1000" dirty="0">
              <a:latin typeface="Source Sans Pro" charset="0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BD54D60F-B3FF-444E-28B0-A9C67C4A2CE2}"/>
              </a:ext>
            </a:extLst>
          </p:cNvPr>
          <p:cNvSpPr txBox="1"/>
          <p:nvPr/>
        </p:nvSpPr>
        <p:spPr>
          <a:xfrm>
            <a:off x="1740090" y="1853148"/>
            <a:ext cx="610054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1800" dirty="0">
                <a:latin typeface="Arial" panose="020B0604020202020204" pitchFamily="34" charset="0"/>
                <a:cs typeface="Arial" panose="020B0604020202020204" pitchFamily="34" charset="0"/>
              </a:rPr>
              <a:t>Policy (necessità di integrare la Policy AML con le  nuove modalità di individuazione del titolare effettivo);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it-IT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1800" dirty="0">
                <a:latin typeface="Arial" panose="020B0604020202020204" pitchFamily="34" charset="0"/>
                <a:cs typeface="Arial" panose="020B0604020202020204" pitchFamily="34" charset="0"/>
              </a:rPr>
              <a:t>Processi e procedure (necessità di aggiornamento del Manuale Antiriciclaggio e delle disposizioni operative per corretta individuazione e verifica titolare effettivo);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it-IT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1800" dirty="0">
                <a:latin typeface="Arial" panose="020B0604020202020204" pitchFamily="34" charset="0"/>
                <a:cs typeface="Arial" panose="020B0604020202020204" pitchFamily="34" charset="0"/>
              </a:rPr>
              <a:t>controlli di primo – secondo e terzo livello (volte a individuare eventuali errori/inesatti aggiornamenti);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it-IT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1800" dirty="0">
                <a:latin typeface="Arial" panose="020B0604020202020204" pitchFamily="34" charset="0"/>
                <a:cs typeface="Arial" panose="020B0604020202020204" pitchFamily="34" charset="0"/>
              </a:rPr>
              <a:t>Formazione;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017563" y="1707477"/>
            <a:ext cx="10156874" cy="1655762"/>
          </a:xfrm>
        </p:spPr>
        <p:txBody>
          <a:bodyPr>
            <a:noAutofit/>
          </a:bodyPr>
          <a:lstStyle/>
          <a:p>
            <a:r>
              <a:rPr lang="it-IT" sz="3000" dirty="0">
                <a:solidFill>
                  <a:srgbClr val="143350"/>
                </a:solidFill>
              </a:rPr>
              <a:t>Grazie per l'attenzione</a:t>
            </a:r>
            <a:br>
              <a:rPr lang="it-IT" sz="3000" dirty="0">
                <a:solidFill>
                  <a:srgbClr val="143350"/>
                </a:solidFill>
              </a:rPr>
            </a:br>
            <a:endParaRPr lang="it-IT" sz="3000" dirty="0">
              <a:solidFill>
                <a:srgbClr val="143350"/>
              </a:solidFill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9127B637-D630-0020-8BEB-A27C70CEFF54}"/>
              </a:ext>
            </a:extLst>
          </p:cNvPr>
          <p:cNvSpPr txBox="1"/>
          <p:nvPr/>
        </p:nvSpPr>
        <p:spPr>
          <a:xfrm>
            <a:off x="8124163" y="5333832"/>
            <a:ext cx="61005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>
                <a:solidFill>
                  <a:srgbClr val="143350"/>
                </a:solidFill>
                <a:latin typeface="+mj-lt"/>
                <a:ea typeface="+mj-ea"/>
                <a:cs typeface="+mj-cs"/>
              </a:rPr>
              <a:t>Sara Balducci </a:t>
            </a:r>
          </a:p>
          <a:p>
            <a:r>
              <a:rPr lang="it-IT" dirty="0">
                <a:solidFill>
                  <a:srgbClr val="143350"/>
                </a:solidFill>
                <a:latin typeface="+mj-lt"/>
                <a:ea typeface="+mj-ea"/>
                <a:cs typeface="+mj-cs"/>
              </a:rPr>
              <a:t>sara.balducci@credit-agricole.it</a:t>
            </a:r>
          </a:p>
        </p:txBody>
      </p:sp>
    </p:spTree>
    <p:extLst>
      <p:ext uri="{BB962C8B-B14F-4D97-AF65-F5344CB8AC3E}">
        <p14:creationId xmlns:p14="http://schemas.microsoft.com/office/powerpoint/2010/main" val="416507188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DB875F4AA7EA44BBF26096AD5C41B7" ma:contentTypeVersion="6" ma:contentTypeDescription="Create a new document." ma:contentTypeScope="" ma:versionID="b4f4ecfcbded08347df3797e1d6b9942">
  <xsd:schema xmlns:xsd="http://www.w3.org/2001/XMLSchema" xmlns:xs="http://www.w3.org/2001/XMLSchema" xmlns:p="http://schemas.microsoft.com/office/2006/metadata/properties" xmlns:ns1="http://schemas.microsoft.com/sharepoint/v3" xmlns:ns3="640e68e6-021a-4b30-9278-868f6c1050e1" targetNamespace="http://schemas.microsoft.com/office/2006/metadata/properties" ma:root="true" ma:fieldsID="b09bafba5e317898fe1b57dfa9c032c7" ns1:_="" ns3:_="">
    <xsd:import namespace="http://schemas.microsoft.com/sharepoint/v3"/>
    <xsd:import namespace="640e68e6-021a-4b30-9278-868f6c1050e1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1:_ip_UnifiedCompliancePolicyProperties" minOccurs="0"/>
                <xsd:element ref="ns1:_ip_UnifiedCompliancePolicyUIActio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9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0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0e68e6-021a-4b30-9278-868f6c1050e1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4F213DBB-44B0-4645-A13A-C1EEACCE87E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40e68e6-021a-4b30-9278-868f6c1050e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078A6ED-2F7D-45EF-B76A-DC7F7DE8B7D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B7910FC-C944-49C9-9765-76F3AE5441AE}">
  <ds:schemaRefs>
    <ds:schemaRef ds:uri="http://www.w3.org/XML/1998/namespace"/>
    <ds:schemaRef ds:uri="http://purl.org/dc/elements/1.1/"/>
    <ds:schemaRef ds:uri="640e68e6-021a-4b30-9278-868f6c1050e1"/>
    <ds:schemaRef ds:uri="http://schemas.microsoft.com/office/infopath/2007/PartnerControls"/>
    <ds:schemaRef ds:uri="http://schemas.openxmlformats.org/package/2006/metadata/core-properties"/>
    <ds:schemaRef ds:uri="http://schemas.microsoft.com/sharepoint/v3"/>
    <ds:schemaRef ds:uri="http://schemas.microsoft.com/office/2006/documentManagement/types"/>
    <ds:schemaRef ds:uri="http://schemas.microsoft.com/office/2006/metadata/properties"/>
    <ds:schemaRef ds:uri="http://purl.org/dc/dcmitype/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da5620d2-28cb-4630-a10d-39d64b28f789}" enabled="1" method="Privileged" siteId="{7d5fa3eb-ec46-4a26-b218-5b6b3a14139d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1258</Words>
  <Application>Microsoft Office PowerPoint</Application>
  <PresentationFormat>Widescreen</PresentationFormat>
  <Paragraphs>127</Paragraphs>
  <Slides>14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14</vt:i4>
      </vt:variant>
    </vt:vector>
  </HeadingPairs>
  <TitlesOfParts>
    <vt:vector size="21" baseType="lpstr">
      <vt:lpstr>Aptos</vt:lpstr>
      <vt:lpstr>Arial</vt:lpstr>
      <vt:lpstr>Arial Narrow</vt:lpstr>
      <vt:lpstr>Calibri</vt:lpstr>
      <vt:lpstr>Calibri Light</vt:lpstr>
      <vt:lpstr>Source Sans Pro</vt:lpstr>
      <vt:lpstr>Tema di Office</vt:lpstr>
      <vt:lpstr>Presentazione standard di PowerPoint</vt:lpstr>
      <vt:lpstr>LA TITOLARITA’ EFFETTIVA TRA VECCHIE PRASSI E REGOLAMENTO (UE) 2024/1624   Principali novità dei criteri di individuazione e possibili impatti organizzativi per i soggetti obbligati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Grazie per l'attenzione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Riccardo Scardino</dc:creator>
  <cp:lastModifiedBy>Balducci Sara</cp:lastModifiedBy>
  <cp:revision>18</cp:revision>
  <dcterms:created xsi:type="dcterms:W3CDTF">2024-01-18T11:24:20Z</dcterms:created>
  <dcterms:modified xsi:type="dcterms:W3CDTF">2026-06-19T14:35:58Z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di Office:11</vt:lpwstr>
  </property>
  <property fmtid="{D5CDD505-2E9C-101B-9397-08002B2CF9AE}" pid="3" name="ClassificationContentMarkingFooterText">
    <vt:lpwstr>Ad Uso Interno</vt:lpwstr>
  </property>
  <property fmtid="{D5CDD505-2E9C-101B-9397-08002B2CF9AE}" pid="4" name="ContentTypeId">
    <vt:lpwstr>0x0101007CDB875F4AA7EA44BBF26096AD5C41B7</vt:lpwstr>
  </property>
</Properties>
</file>