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81" r:id="rId3"/>
    <p:sldId id="302" r:id="rId4"/>
    <p:sldId id="344" r:id="rId5"/>
    <p:sldId id="345" r:id="rId6"/>
    <p:sldId id="346" r:id="rId7"/>
    <p:sldId id="349" r:id="rId8"/>
    <p:sldId id="348" r:id="rId9"/>
    <p:sldId id="350" r:id="rId10"/>
    <p:sldId id="355" r:id="rId11"/>
    <p:sldId id="352" r:id="rId12"/>
    <p:sldId id="353" r:id="rId13"/>
    <p:sldId id="359" r:id="rId14"/>
    <p:sldId id="354" r:id="rId15"/>
    <p:sldId id="360" r:id="rId16"/>
    <p:sldId id="363" r:id="rId17"/>
    <p:sldId id="364" r:id="rId18"/>
    <p:sldId id="362" r:id="rId19"/>
    <p:sldId id="365" r:id="rId20"/>
    <p:sldId id="366" r:id="rId2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Stile chi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FECB4D8-DB02-4DC6-A0A2-4F2EBAE1DC90}" styleName="Stile medio 1 - Color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Stile medio 1 - Colore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69" autoAdjust="0"/>
  </p:normalViewPr>
  <p:slideViewPr>
    <p:cSldViewPr snapToGrid="0">
      <p:cViewPr varScale="1">
        <p:scale>
          <a:sx n="78" d="100"/>
          <a:sy n="78" d="100"/>
        </p:scale>
        <p:origin x="432" y="90"/>
      </p:cViewPr>
      <p:guideLst/>
    </p:cSldViewPr>
  </p:slideViewPr>
  <p:notesTextViewPr>
    <p:cViewPr>
      <p:scale>
        <a:sx n="1" d="1"/>
        <a:sy n="1" d="1"/>
      </p:scale>
      <p:origin x="0" y="0"/>
    </p:cViewPr>
  </p:notesTextViewPr>
  <p:sorterViewPr>
    <p:cViewPr>
      <p:scale>
        <a:sx n="100" d="100"/>
        <a:sy n="100" d="100"/>
      </p:scale>
      <p:origin x="0" y="-180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C855A2-EE1C-4C35-850A-F23C5B624A89}" type="datetimeFigureOut">
              <a:rPr lang="it-IT" smtClean="0"/>
              <a:t>06/06/2026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82F58-A089-42F6-8B30-BE616C0E8946}" type="slidenum">
              <a:rPr lang="it-IT" smtClean="0"/>
              <a:t>‹N›</a:t>
            </a:fld>
            <a:endParaRPr lang="it-IT"/>
          </a:p>
        </p:txBody>
      </p:sp>
    </p:spTree>
    <p:extLst>
      <p:ext uri="{BB962C8B-B14F-4D97-AF65-F5344CB8AC3E}">
        <p14:creationId xmlns:p14="http://schemas.microsoft.com/office/powerpoint/2010/main" val="3680679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C2BB65-C393-00B1-5BAD-135BC48FDAC8}"/>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9501830F-2FD1-C8F2-086D-3F43626B5A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D61CBFF-282B-0D82-23E9-A36C2701FA2C}"/>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5" name="Segnaposto piè di pagina 4">
            <a:extLst>
              <a:ext uri="{FF2B5EF4-FFF2-40B4-BE49-F238E27FC236}">
                <a16:creationId xmlns:a16="http://schemas.microsoft.com/office/drawing/2014/main" id="{A5D9CCD3-4D0A-373F-7612-75A3076A5AD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955639B-336F-4AFA-498B-13C616442B31}"/>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121205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3DE4B2-5CFF-06BB-3F8D-11F6EC514BAE}"/>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6F0081F8-D5BC-250C-CF99-DDBF349BB8AD}"/>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77BBA233-5AEF-5098-417E-95F02177E7C4}"/>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5" name="Segnaposto piè di pagina 4">
            <a:extLst>
              <a:ext uri="{FF2B5EF4-FFF2-40B4-BE49-F238E27FC236}">
                <a16:creationId xmlns:a16="http://schemas.microsoft.com/office/drawing/2014/main" id="{03C8ADDC-A860-78BF-2843-CD3062F9BC7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6EE37F7-E982-11B6-BAA5-A981C82ECE82}"/>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2611231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EB1FB88-8BAE-0840-D847-3B5B597E1DE6}"/>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F8487F4-8FAA-3333-0A07-D0E0854A80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0A00E60E-358F-72B9-C3F8-77C93D3F5DB8}"/>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5" name="Segnaposto piè di pagina 4">
            <a:extLst>
              <a:ext uri="{FF2B5EF4-FFF2-40B4-BE49-F238E27FC236}">
                <a16:creationId xmlns:a16="http://schemas.microsoft.com/office/drawing/2014/main" id="{E30C7765-50FB-71A2-E3EE-60A19F59F41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F485B34-7B57-BAFE-7E23-62037B75A084}"/>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2686967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CA6216A-3F01-4557-4C2C-65DA309B62BE}"/>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7BC51FC-DF5A-9F0D-7C0F-29A29ECD776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168E9E6-5A5C-8D52-71C9-8AB341311211}"/>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7C9A83DB-7F5F-A052-B2B6-A9F68D6E88E8}"/>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6" name="Segnaposto piè di pagina 5">
            <a:extLst>
              <a:ext uri="{FF2B5EF4-FFF2-40B4-BE49-F238E27FC236}">
                <a16:creationId xmlns:a16="http://schemas.microsoft.com/office/drawing/2014/main" id="{B184BD67-A6E5-3560-F9DF-A55713FFF3D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43F5624-1CC4-147E-551C-13834A7C251C}"/>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3647797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1694C8-D7DA-3674-8DFD-C02ED88C4D2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8FEEEB71-F56A-9CE7-1808-CABF8D8DF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84D0270-F678-3B28-00BC-C0EA3DBCFFF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CF6F45C2-C30A-2D39-8D75-0C185273ED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D6BA0C99-368F-2B0F-0C71-774D5D5001F9}"/>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376D200D-F79C-A87C-A656-AEFBA79D2AB8}"/>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8" name="Segnaposto piè di pagina 7">
            <a:extLst>
              <a:ext uri="{FF2B5EF4-FFF2-40B4-BE49-F238E27FC236}">
                <a16:creationId xmlns:a16="http://schemas.microsoft.com/office/drawing/2014/main" id="{E846349C-832B-62F5-7AB2-5336E37BB4B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C361E3B8-86FB-C9E2-8219-13785C484A3A}"/>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308973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9DEA0A1-EEBA-E7F2-E6B6-6E21FD3BD273}"/>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5D5CDC93-903E-7D26-A923-51C98B803326}"/>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4" name="Segnaposto piè di pagina 3">
            <a:extLst>
              <a:ext uri="{FF2B5EF4-FFF2-40B4-BE49-F238E27FC236}">
                <a16:creationId xmlns:a16="http://schemas.microsoft.com/office/drawing/2014/main" id="{435991E1-4C62-8DB6-BB8D-1494BB40C67B}"/>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F3D85526-4439-ACB9-4D49-49B4E6BB4EC2}"/>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4078464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1F9ED454-3F1E-0483-C62A-F04D88C015F2}"/>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3" name="Segnaposto piè di pagina 2">
            <a:extLst>
              <a:ext uri="{FF2B5EF4-FFF2-40B4-BE49-F238E27FC236}">
                <a16:creationId xmlns:a16="http://schemas.microsoft.com/office/drawing/2014/main" id="{5CBBE7E0-53F6-08A5-77F6-A609327C1B02}"/>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25134A06-16A2-A522-4659-3A6A23952C77}"/>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3364857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350DF6-4A37-0CA2-F43E-40487F1B3F5B}"/>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FB43639-E2B9-6D0E-78EF-1D56219F11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9747E4A7-17BA-6289-49C3-FCE1E4FF8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8C7A8D7-6A4E-C198-0A83-6DE0E9FBE4C4}"/>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6" name="Segnaposto piè di pagina 5">
            <a:extLst>
              <a:ext uri="{FF2B5EF4-FFF2-40B4-BE49-F238E27FC236}">
                <a16:creationId xmlns:a16="http://schemas.microsoft.com/office/drawing/2014/main" id="{12B5E44B-C459-8D4F-09DC-C33EFAD5D56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047957D-84A5-CFB4-F297-38121362BB9C}"/>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2811307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8FB847-2BB7-C498-1D06-8E57A7DBAEC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27F6BC12-9C07-F348-AFD4-49245D7694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B3D23541-EB47-A733-D615-9C8F7A2EE0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E4ED5EC-07B1-5588-1CBA-D2B625D855C2}"/>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6" name="Segnaposto piè di pagina 5">
            <a:extLst>
              <a:ext uri="{FF2B5EF4-FFF2-40B4-BE49-F238E27FC236}">
                <a16:creationId xmlns:a16="http://schemas.microsoft.com/office/drawing/2014/main" id="{FB886C5F-B4BC-877B-A5F7-E949FDE1228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104B0B5-FA9F-1E5A-C8A2-3C2FF9AE2AA5}"/>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753658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A4F5D1-03E9-1CB2-026C-B4D112EE138A}"/>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F38A7BA-F05D-6793-51B8-68E1BB905F75}"/>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31BA2D1-D30A-6EC2-2775-AF4C185A4960}"/>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5" name="Segnaposto piè di pagina 4">
            <a:extLst>
              <a:ext uri="{FF2B5EF4-FFF2-40B4-BE49-F238E27FC236}">
                <a16:creationId xmlns:a16="http://schemas.microsoft.com/office/drawing/2014/main" id="{5D8487AD-C467-7CA0-5370-651A3D17452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4865A54-3209-ED05-A17D-99B12F312D09}"/>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2269346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7CA3FAB8-00EE-382C-F078-6E05F7FF1FEA}"/>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ABC52BDF-C228-4305-E4D6-34B473C7E17F}"/>
              </a:ext>
            </a:extLst>
          </p:cNvPr>
          <p:cNvSpPr>
            <a:spLocks noGrp="1"/>
          </p:cNvSpPr>
          <p:nvPr>
            <p:ph type="body" orient="vert" idx="1"/>
          </p:nvPr>
        </p:nvSpPr>
        <p:spPr>
          <a:xfrm>
            <a:off x="838200" y="365125"/>
            <a:ext cx="7734300" cy="5811838"/>
          </a:xfrm>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A720253A-E061-B200-7351-4E4C8B809A23}"/>
              </a:ext>
            </a:extLst>
          </p:cNvPr>
          <p:cNvSpPr>
            <a:spLocks noGrp="1"/>
          </p:cNvSpPr>
          <p:nvPr>
            <p:ph type="dt" sz="half" idx="10"/>
          </p:nvPr>
        </p:nvSpPr>
        <p:spPr/>
        <p:txBody>
          <a:bodyPr/>
          <a:lstStyle/>
          <a:p>
            <a:fld id="{FCC13636-6D80-416E-8C99-5B5BA3DB3D06}" type="datetimeFigureOut">
              <a:rPr lang="it-IT" smtClean="0"/>
              <a:t>06/06/2026</a:t>
            </a:fld>
            <a:endParaRPr lang="it-IT"/>
          </a:p>
        </p:txBody>
      </p:sp>
      <p:sp>
        <p:nvSpPr>
          <p:cNvPr id="5" name="Segnaposto piè di pagina 4">
            <a:extLst>
              <a:ext uri="{FF2B5EF4-FFF2-40B4-BE49-F238E27FC236}">
                <a16:creationId xmlns:a16="http://schemas.microsoft.com/office/drawing/2014/main" id="{E0E76091-62AB-8748-DC14-D7EFAB5BC85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FFAAE91-9A0F-4CBD-3E5C-6FED3073C05D}"/>
              </a:ext>
            </a:extLst>
          </p:cNvPr>
          <p:cNvSpPr>
            <a:spLocks noGrp="1"/>
          </p:cNvSpPr>
          <p:nvPr>
            <p:ph type="sldNum" sz="quarter" idx="12"/>
          </p:nvPr>
        </p:nvSpPr>
        <p:spPr/>
        <p:txBody>
          <a:bodyPr/>
          <a:lstStyle/>
          <a:p>
            <a:fld id="{7E629EFC-B687-4DE9-9C20-CE3CCF34D07B}" type="slidenum">
              <a:rPr lang="it-IT" smtClean="0"/>
              <a:t>‹N›</a:t>
            </a:fld>
            <a:endParaRPr lang="it-IT"/>
          </a:p>
        </p:txBody>
      </p:sp>
    </p:spTree>
    <p:extLst>
      <p:ext uri="{BB962C8B-B14F-4D97-AF65-F5344CB8AC3E}">
        <p14:creationId xmlns:p14="http://schemas.microsoft.com/office/powerpoint/2010/main" val="8115862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apositive de titre">
    <p:bg>
      <p:bgRef idx="1003">
        <a:schemeClr val="bg1"/>
      </p:bgRef>
    </p:bg>
    <p:spTree>
      <p:nvGrpSpPr>
        <p:cNvPr id="1" name=""/>
        <p:cNvGrpSpPr/>
        <p:nvPr/>
      </p:nvGrpSpPr>
      <p:grpSpPr>
        <a:xfrm>
          <a:off x="0" y="0"/>
          <a:ext cx="0" cy="0"/>
          <a:chOff x="0" y="0"/>
          <a:chExt cx="0" cy="0"/>
        </a:xfrm>
      </p:grpSpPr>
      <p:sp>
        <p:nvSpPr>
          <p:cNvPr id="12" name="Sommaire"/>
          <p:cNvSpPr>
            <a:spLocks noGrp="1"/>
          </p:cNvSpPr>
          <p:nvPr>
            <p:ph type="title"/>
          </p:nvPr>
        </p:nvSpPr>
        <p:spPr>
          <a:xfrm>
            <a:off x="365056" y="1689545"/>
            <a:ext cx="11461612" cy="449642"/>
          </a:xfrm>
          <a:prstGeom prst="rect">
            <a:avLst/>
          </a:prstGeom>
        </p:spPr>
        <p:txBody>
          <a:bodyPr lIns="0" tIns="0" rIns="0" bIns="0" anchor="t"/>
          <a:lstStyle>
            <a:lvl1pPr algn="l">
              <a:defRPr sz="2224">
                <a:solidFill>
                  <a:srgbClr val="00008F"/>
                </a:solidFill>
                <a:latin typeface="+mj-lt"/>
              </a:defRPr>
            </a:lvl1pPr>
          </a:lstStyle>
          <a:p>
            <a:r>
              <a:rPr lang="it-IT" noProof="0"/>
              <a:t>Fare clic per modificare stile</a:t>
            </a:r>
            <a:endParaRPr lang="en-GB" noProof="0"/>
          </a:p>
        </p:txBody>
      </p:sp>
      <p:sp>
        <p:nvSpPr>
          <p:cNvPr id="14" name="Espace réservé du texte 4"/>
          <p:cNvSpPr>
            <a:spLocks noGrp="1"/>
          </p:cNvSpPr>
          <p:nvPr>
            <p:ph type="body" sz="quarter" idx="11"/>
          </p:nvPr>
        </p:nvSpPr>
        <p:spPr>
          <a:xfrm>
            <a:off x="365193" y="2901595"/>
            <a:ext cx="11461475" cy="337232"/>
          </a:xfrm>
          <a:prstGeom prst="rect">
            <a:avLst/>
          </a:prstGeom>
        </p:spPr>
        <p:txBody>
          <a:bodyPr lIns="0" tIns="0" rIns="0" bIns="0" anchor="t"/>
          <a:lstStyle>
            <a:lvl1pPr marL="0" indent="0">
              <a:buNone/>
              <a:defRPr sz="1756">
                <a:solidFill>
                  <a:srgbClr val="027180"/>
                </a:solidFill>
                <a:latin typeface="+mj-lt"/>
              </a:defRPr>
            </a:lvl1pPr>
          </a:lstStyle>
          <a:p>
            <a:pPr lvl="0"/>
            <a:r>
              <a:rPr lang="it-IT" noProof="0"/>
              <a:t>Fare clic per modificare gli stili del testo dello schema</a:t>
            </a:r>
          </a:p>
        </p:txBody>
      </p:sp>
      <p:sp>
        <p:nvSpPr>
          <p:cNvPr id="4" name="Espace réservé du numéro de diapositive 4"/>
          <p:cNvSpPr>
            <a:spLocks noGrp="1"/>
          </p:cNvSpPr>
          <p:nvPr>
            <p:ph type="sldNum" sz="quarter" idx="12"/>
          </p:nvPr>
        </p:nvSpPr>
        <p:spPr>
          <a:xfrm>
            <a:off x="9206355" y="6384492"/>
            <a:ext cx="2743200" cy="365125"/>
          </a:xfrm>
        </p:spPr>
        <p:txBody>
          <a:bodyPr/>
          <a:lstStyle>
            <a:lvl1pPr>
              <a:defRPr smtClean="0"/>
            </a:lvl1pPr>
          </a:lstStyle>
          <a:p>
            <a:pPr>
              <a:defRPr/>
            </a:pPr>
            <a:fld id="{BA9C98EE-450B-490D-BB40-F6FB412E3B59}" type="slidenum">
              <a:rPr lang="en-GB" altLang="it-IT"/>
              <a:pPr>
                <a:defRPr/>
              </a:pPr>
              <a:t>‹N›</a:t>
            </a:fld>
            <a:endParaRPr lang="en-GB" altLang="it-IT"/>
          </a:p>
        </p:txBody>
      </p:sp>
      <p:sp>
        <p:nvSpPr>
          <p:cNvPr id="5" name="Espace réservé de la date 1"/>
          <p:cNvSpPr>
            <a:spLocks noGrp="1"/>
          </p:cNvSpPr>
          <p:nvPr>
            <p:ph type="dt" sz="half" idx="13"/>
          </p:nvPr>
        </p:nvSpPr>
        <p:spPr/>
        <p:txBody>
          <a:bodyPr/>
          <a:lstStyle>
            <a:lvl1pPr>
              <a:defRPr/>
            </a:lvl1pPr>
          </a:lstStyle>
          <a:p>
            <a:pPr>
              <a:defRPr/>
            </a:pPr>
            <a:r>
              <a:rPr lang="fr-FR"/>
              <a:t>Title of the presentation l Date</a:t>
            </a:r>
          </a:p>
        </p:txBody>
      </p:sp>
      <p:cxnSp>
        <p:nvCxnSpPr>
          <p:cNvPr id="3" name="Connettore diritto 2">
            <a:extLst>
              <a:ext uri="{FF2B5EF4-FFF2-40B4-BE49-F238E27FC236}">
                <a16:creationId xmlns:a16="http://schemas.microsoft.com/office/drawing/2014/main" id="{6A87A280-6A40-4F41-89F1-D0117AC1A729}"/>
              </a:ext>
            </a:extLst>
          </p:cNvPr>
          <p:cNvCxnSpPr>
            <a:cxnSpLocks/>
          </p:cNvCxnSpPr>
          <p:nvPr userDrawn="1"/>
        </p:nvCxnSpPr>
        <p:spPr>
          <a:xfrm>
            <a:off x="360000" y="748149"/>
            <a:ext cx="11579306" cy="1"/>
          </a:xfrm>
          <a:prstGeom prst="line">
            <a:avLst/>
          </a:prstGeom>
          <a:ln>
            <a:gradFill>
              <a:gsLst>
                <a:gs pos="43364">
                  <a:srgbClr val="7290AB"/>
                </a:gs>
                <a:gs pos="0">
                  <a:srgbClr val="1433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30650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C827035-ED91-A0AF-1220-D9C5169E20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A51092E3-E8C5-C24B-15C8-27092355A1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E9E17A3-8CCA-1FCC-A368-1357A534A1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C13636-6D80-416E-8C99-5B5BA3DB3D06}" type="datetimeFigureOut">
              <a:rPr lang="it-IT" smtClean="0"/>
              <a:t>06/06/2026</a:t>
            </a:fld>
            <a:endParaRPr lang="it-IT"/>
          </a:p>
        </p:txBody>
      </p:sp>
      <p:sp>
        <p:nvSpPr>
          <p:cNvPr id="5" name="Segnaposto piè di pagina 4">
            <a:extLst>
              <a:ext uri="{FF2B5EF4-FFF2-40B4-BE49-F238E27FC236}">
                <a16:creationId xmlns:a16="http://schemas.microsoft.com/office/drawing/2014/main" id="{2EC01DF9-8CDD-A179-EABC-9C36BEE6CD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00ABA56-622C-F745-ECD2-F386AEE732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629EFC-B687-4DE9-9C20-CE3CCF34D07B}" type="slidenum">
              <a:rPr lang="it-IT" smtClean="0"/>
              <a:t>‹N›</a:t>
            </a:fld>
            <a:endParaRPr lang="it-IT"/>
          </a:p>
        </p:txBody>
      </p:sp>
      <p:pic>
        <p:nvPicPr>
          <p:cNvPr id="7" name="Immagine 6">
            <a:extLst>
              <a:ext uri="{FF2B5EF4-FFF2-40B4-BE49-F238E27FC236}">
                <a16:creationId xmlns:a16="http://schemas.microsoft.com/office/drawing/2014/main" id="{E753075C-DD38-00CF-BC0E-7E1784BA44FD}"/>
              </a:ext>
            </a:extLst>
          </p:cNvPr>
          <p:cNvPicPr>
            <a:picLocks noChangeAspect="1"/>
          </p:cNvPicPr>
          <p:nvPr userDrawn="1"/>
        </p:nvPicPr>
        <p:blipFill>
          <a:blip r:embed="rId14"/>
          <a:stretch>
            <a:fillRect/>
          </a:stretch>
        </p:blipFill>
        <p:spPr>
          <a:xfrm>
            <a:off x="209436" y="92713"/>
            <a:ext cx="1091280" cy="574500"/>
          </a:xfrm>
          <a:prstGeom prst="rect">
            <a:avLst/>
          </a:prstGeom>
        </p:spPr>
      </p:pic>
      <p:pic>
        <p:nvPicPr>
          <p:cNvPr id="10" name="Immagine 9">
            <a:extLst>
              <a:ext uri="{FF2B5EF4-FFF2-40B4-BE49-F238E27FC236}">
                <a16:creationId xmlns:a16="http://schemas.microsoft.com/office/drawing/2014/main" id="{DACC6CE6-C6F0-63D8-BE56-F325058FABF3}"/>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474375" y="39690"/>
            <a:ext cx="1732976" cy="683489"/>
          </a:xfrm>
          <a:prstGeom prst="rect">
            <a:avLst/>
          </a:prstGeom>
        </p:spPr>
      </p:pic>
      <p:pic>
        <p:nvPicPr>
          <p:cNvPr id="9" name="Picture 2" descr="AIRA">
            <a:extLst>
              <a:ext uri="{FF2B5EF4-FFF2-40B4-BE49-F238E27FC236}">
                <a16:creationId xmlns:a16="http://schemas.microsoft.com/office/drawing/2014/main" id="{E29A497B-0CFE-34AA-D3E4-CA218834599A}"/>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3061500" y="-34037"/>
            <a:ext cx="6068999" cy="828000"/>
          </a:xfrm>
          <a:prstGeom prst="rect">
            <a:avLst/>
          </a:prstGeom>
          <a:noFill/>
          <a:extLst>
            <a:ext uri="{909E8E84-426E-40DD-AFC4-6F175D3DCCD1}">
              <a14:hiddenFill xmlns:a14="http://schemas.microsoft.com/office/drawing/2010/main">
                <a:solidFill>
                  <a:srgbClr val="FFFFFF"/>
                </a:solidFill>
              </a14:hiddenFill>
            </a:ext>
          </a:extLst>
        </p:spPr>
      </p:pic>
      <p:sp>
        <p:nvSpPr>
          <p:cNvPr id="11" name="CasellaDiTesto 10">
            <a:extLst>
              <a:ext uri="{FF2B5EF4-FFF2-40B4-BE49-F238E27FC236}">
                <a16:creationId xmlns:a16="http://schemas.microsoft.com/office/drawing/2014/main" id="{AE177BF0-965F-2101-8CED-9F9F571D2BF9}"/>
              </a:ext>
            </a:extLst>
          </p:cNvPr>
          <p:cNvSpPr txBox="1"/>
          <p:nvPr userDrawn="1">
            <p:extLst>
              <p:ext uri="{1162E1C5-73C7-4A58-AE30-91384D911F3F}">
                <p184:classification xmlns:p184="http://schemas.microsoft.com/office/powerpoint/2018/4/main" val="ftr"/>
              </p:ext>
            </p:extLst>
          </p:nvPr>
        </p:nvSpPr>
        <p:spPr>
          <a:xfrm>
            <a:off x="5852287" y="6642100"/>
            <a:ext cx="512763" cy="152400"/>
          </a:xfrm>
          <a:prstGeom prst="rect">
            <a:avLst/>
          </a:prstGeom>
        </p:spPr>
        <p:txBody>
          <a:bodyPr horzOverflow="overflow" lIns="0" tIns="0" rIns="0" bIns="0">
            <a:spAutoFit/>
          </a:bodyPr>
          <a:lstStyle/>
          <a:p>
            <a:pPr algn="l"/>
            <a:r>
              <a:rPr lang="it-IT" sz="1000">
                <a:solidFill>
                  <a:srgbClr val="3CB371">
                    <a:alpha val="50000"/>
                  </a:srgbClr>
                </a:solidFill>
                <a:latin typeface="Aptos" panose="020B0004020202020204" pitchFamily="34" charset="0"/>
              </a:rPr>
              <a:t>Pubblico</a:t>
            </a:r>
          </a:p>
        </p:txBody>
      </p:sp>
    </p:spTree>
    <p:extLst>
      <p:ext uri="{BB962C8B-B14F-4D97-AF65-F5344CB8AC3E}">
        <p14:creationId xmlns:p14="http://schemas.microsoft.com/office/powerpoint/2010/main" val="1948735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a:extLst>
              <a:ext uri="{FF2B5EF4-FFF2-40B4-BE49-F238E27FC236}">
                <a16:creationId xmlns:a16="http://schemas.microsoft.com/office/drawing/2014/main" id="{968B4C3C-A3E3-4CF5-8AA0-6A5C33F62E6D}"/>
              </a:ext>
            </a:extLst>
          </p:cNvPr>
          <p:cNvSpPr txBox="1">
            <a:spLocks/>
          </p:cNvSpPr>
          <p:nvPr/>
        </p:nvSpPr>
        <p:spPr>
          <a:xfrm>
            <a:off x="2518117" y="5573485"/>
            <a:ext cx="6865033" cy="102108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it-IT" sz="2200" b="1" i="1" dirty="0">
                <a:solidFill>
                  <a:srgbClr val="143350"/>
                </a:solidFill>
                <a:latin typeface="Arial" panose="020B0604020202020204" pitchFamily="34" charset="0"/>
                <a:cs typeface="Arial" panose="020B0604020202020204" pitchFamily="34" charset="0"/>
              </a:rPr>
              <a:t>SERENA FERRARIO  </a:t>
            </a:r>
          </a:p>
          <a:p>
            <a:r>
              <a:rPr lang="it-IT" sz="2200" b="1" i="1" dirty="0">
                <a:solidFill>
                  <a:srgbClr val="143350"/>
                </a:solidFill>
                <a:latin typeface="Arial" panose="020B0604020202020204" pitchFamily="34" charset="0"/>
                <a:cs typeface="Arial" panose="020B0604020202020204" pitchFamily="34" charset="0"/>
              </a:rPr>
              <a:t>Senior </a:t>
            </a:r>
            <a:r>
              <a:rPr lang="it-IT" sz="2200" b="1" i="1" dirty="0" err="1">
                <a:solidFill>
                  <a:srgbClr val="143350"/>
                </a:solidFill>
                <a:latin typeface="Arial" panose="020B0604020202020204" pitchFamily="34" charset="0"/>
                <a:cs typeface="Arial" panose="020B0604020202020204" pitchFamily="34" charset="0"/>
              </a:rPr>
              <a:t>Specialist</a:t>
            </a:r>
            <a:r>
              <a:rPr lang="it-IT" sz="2200" b="1" i="1" dirty="0">
                <a:solidFill>
                  <a:srgbClr val="143350"/>
                </a:solidFill>
                <a:latin typeface="Arial" panose="020B0604020202020204" pitchFamily="34" charset="0"/>
                <a:cs typeface="Arial" panose="020B0604020202020204" pitchFamily="34" charset="0"/>
              </a:rPr>
              <a:t> Financial Security</a:t>
            </a:r>
          </a:p>
          <a:p>
            <a:r>
              <a:rPr lang="it-IT" sz="2200" b="1" i="1" dirty="0">
                <a:solidFill>
                  <a:srgbClr val="143350"/>
                </a:solidFill>
                <a:latin typeface="Arial" panose="020B0604020202020204" pitchFamily="34" charset="0"/>
                <a:cs typeface="Arial" panose="020B0604020202020204" pitchFamily="34" charset="0"/>
              </a:rPr>
              <a:t>Credit Agricole Italia</a:t>
            </a:r>
          </a:p>
        </p:txBody>
      </p:sp>
      <p:sp>
        <p:nvSpPr>
          <p:cNvPr id="6" name="Titolo 1">
            <a:extLst>
              <a:ext uri="{FF2B5EF4-FFF2-40B4-BE49-F238E27FC236}">
                <a16:creationId xmlns:a16="http://schemas.microsoft.com/office/drawing/2014/main" id="{968B4C3C-A3E3-4CF5-8AA0-6A5C33F62E6D}"/>
              </a:ext>
            </a:extLst>
          </p:cNvPr>
          <p:cNvSpPr txBox="1">
            <a:spLocks/>
          </p:cNvSpPr>
          <p:nvPr/>
        </p:nvSpPr>
        <p:spPr>
          <a:xfrm>
            <a:off x="2518117" y="4685722"/>
            <a:ext cx="6865033" cy="45226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it-IT" sz="2200" b="1" i="1" dirty="0">
                <a:solidFill>
                  <a:srgbClr val="143350"/>
                </a:solidFill>
                <a:latin typeface="Arial" panose="020B0604020202020204" pitchFamily="34" charset="0"/>
                <a:cs typeface="Arial" panose="020B0604020202020204" pitchFamily="34" charset="0"/>
              </a:rPr>
              <a:t>29/01/2026</a:t>
            </a:r>
          </a:p>
          <a:p>
            <a:endParaRPr lang="it-IT" sz="2200" b="1" i="1" dirty="0">
              <a:solidFill>
                <a:srgbClr val="143350"/>
              </a:solidFill>
              <a:latin typeface="Arial" panose="020B0604020202020204" pitchFamily="34" charset="0"/>
              <a:cs typeface="Arial" panose="020B0604020202020204" pitchFamily="34" charset="0"/>
            </a:endParaRPr>
          </a:p>
        </p:txBody>
      </p:sp>
      <p:sp>
        <p:nvSpPr>
          <p:cNvPr id="2" name="CasellaDiTesto 1">
            <a:extLst>
              <a:ext uri="{FF2B5EF4-FFF2-40B4-BE49-F238E27FC236}">
                <a16:creationId xmlns:a16="http://schemas.microsoft.com/office/drawing/2014/main" id="{995CE040-7E6E-4BC1-863E-FF06EB234A42}"/>
              </a:ext>
            </a:extLst>
          </p:cNvPr>
          <p:cNvSpPr txBox="1"/>
          <p:nvPr/>
        </p:nvSpPr>
        <p:spPr>
          <a:xfrm>
            <a:off x="517071" y="1446027"/>
            <a:ext cx="11321143" cy="1384995"/>
          </a:xfrm>
          <a:prstGeom prst="rect">
            <a:avLst/>
          </a:prstGeom>
          <a:noFill/>
        </p:spPr>
        <p:txBody>
          <a:bodyPr wrap="square" rtlCol="0">
            <a:spAutoFit/>
          </a:bodyPr>
          <a:lstStyle/>
          <a:p>
            <a:pPr algn="just"/>
            <a:r>
              <a:rPr lang="it-IT" sz="2800" b="1" i="1" dirty="0">
                <a:solidFill>
                  <a:srgbClr val="143350"/>
                </a:solidFill>
                <a:latin typeface="Arial" panose="020B0604020202020204" pitchFamily="34" charset="0"/>
                <a:ea typeface="+mj-ea"/>
                <a:cs typeface="Arial" panose="020B0604020202020204" pitchFamily="34" charset="0"/>
              </a:rPr>
              <a:t>ESAME AIRA PER L’OTTENIMENTO DELLA CERTIFICAZIONE DELLE COMPETENZE</a:t>
            </a:r>
            <a:r>
              <a:rPr lang="it-IT" sz="2800" b="1" dirty="0">
                <a:latin typeface="Arial" panose="020B0604020202020204" pitchFamily="34" charset="0"/>
                <a:cs typeface="Arial" panose="020B0604020202020204" pitchFamily="34" charset="0"/>
              </a:rPr>
              <a:t> </a:t>
            </a:r>
            <a:r>
              <a:rPr lang="it-IT" sz="2800" b="1" i="1" dirty="0">
                <a:solidFill>
                  <a:srgbClr val="143350"/>
                </a:solidFill>
                <a:latin typeface="Arial" panose="020B0604020202020204" pitchFamily="34" charset="0"/>
                <a:ea typeface="+mj-ea"/>
                <a:cs typeface="Arial" panose="020B0604020202020204" pitchFamily="34" charset="0"/>
              </a:rPr>
              <a:t>(AML CERTIFICATE®)   </a:t>
            </a:r>
          </a:p>
          <a:p>
            <a:pPr algn="just"/>
            <a:r>
              <a:rPr lang="it-IT" sz="2800" b="1" i="1" dirty="0">
                <a:solidFill>
                  <a:srgbClr val="143350"/>
                </a:solidFill>
                <a:latin typeface="Arial" panose="020B0604020202020204" pitchFamily="34" charset="0"/>
                <a:ea typeface="+mj-ea"/>
                <a:cs typeface="Arial" panose="020B0604020202020204" pitchFamily="34" charset="0"/>
              </a:rPr>
              <a:t>PROT.AIRA/0005_2026_AML1</a:t>
            </a:r>
          </a:p>
        </p:txBody>
      </p:sp>
    </p:spTree>
    <p:extLst>
      <p:ext uri="{BB962C8B-B14F-4D97-AF65-F5344CB8AC3E}">
        <p14:creationId xmlns:p14="http://schemas.microsoft.com/office/powerpoint/2010/main" val="27701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1017563" y="1202871"/>
            <a:ext cx="10156874" cy="2160368"/>
          </a:xfrm>
        </p:spPr>
        <p:txBody>
          <a:bodyPr>
            <a:noAutofit/>
          </a:bodyPr>
          <a:lstStyle/>
          <a:p>
            <a:r>
              <a:rPr lang="it-IT" sz="3000" dirty="0">
                <a:solidFill>
                  <a:srgbClr val="143350"/>
                </a:solidFill>
                <a:latin typeface="Arial" panose="020B0604020202020204" pitchFamily="34" charset="0"/>
                <a:cs typeface="Arial" panose="020B0604020202020204" pitchFamily="34" charset="0"/>
              </a:rPr>
              <a:t>AML PACKAGE </a:t>
            </a:r>
            <a:br>
              <a:rPr lang="it-IT" sz="3000" dirty="0">
                <a:solidFill>
                  <a:srgbClr val="143350"/>
                </a:solidFill>
                <a:latin typeface="Arial" panose="020B0604020202020204" pitchFamily="34" charset="0"/>
                <a:cs typeface="Arial" panose="020B0604020202020204" pitchFamily="34" charset="0"/>
              </a:rPr>
            </a:br>
            <a:r>
              <a:rPr lang="it-IT" sz="3000" dirty="0">
                <a:solidFill>
                  <a:srgbClr val="143350"/>
                </a:solidFill>
                <a:latin typeface="Arial" panose="020B0604020202020204" pitchFamily="34" charset="0"/>
                <a:cs typeface="Arial" panose="020B0604020202020204" pitchFamily="34" charset="0"/>
              </a:rPr>
              <a:t>ANALISI PRINCIPALI NOVITA’ E POSSIBILI IMPATTI SU SISTEMA PROCEDURE E CONTROLLI INTERMEDIARI BANCARI</a:t>
            </a:r>
            <a:br>
              <a:rPr lang="it-IT" sz="3000" dirty="0">
                <a:solidFill>
                  <a:srgbClr val="143350"/>
                </a:solidFill>
                <a:latin typeface="Arial" panose="020B0604020202020204" pitchFamily="34" charset="0"/>
                <a:cs typeface="Arial" panose="020B0604020202020204" pitchFamily="34" charset="0"/>
              </a:rPr>
            </a:br>
            <a:endParaRPr lang="it-IT" sz="3000" dirty="0">
              <a:solidFill>
                <a:srgbClr val="143350"/>
              </a:solidFill>
              <a:latin typeface="Arial" panose="020B0604020202020204" pitchFamily="34" charset="0"/>
              <a:cs typeface="Arial" panose="020B0604020202020204" pitchFamily="34" charset="0"/>
            </a:endParaRPr>
          </a:p>
        </p:txBody>
      </p:sp>
      <p:sp>
        <p:nvSpPr>
          <p:cNvPr id="6" name="Titolo 1"/>
          <p:cNvSpPr txBox="1">
            <a:spLocks/>
          </p:cNvSpPr>
          <p:nvPr/>
        </p:nvSpPr>
        <p:spPr>
          <a:xfrm>
            <a:off x="693099" y="3094593"/>
            <a:ext cx="10156874" cy="165576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it-IT" sz="2000" dirty="0">
                <a:solidFill>
                  <a:srgbClr val="143350"/>
                </a:solidFill>
                <a:latin typeface="+mn-lt"/>
              </a:rPr>
              <a:t>29/01/2026</a:t>
            </a:r>
          </a:p>
        </p:txBody>
      </p:sp>
    </p:spTree>
    <p:extLst>
      <p:ext uri="{BB962C8B-B14F-4D97-AF65-F5344CB8AC3E}">
        <p14:creationId xmlns:p14="http://schemas.microsoft.com/office/powerpoint/2010/main" val="4165071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a:extLst>
              <a:ext uri="{FF2B5EF4-FFF2-40B4-BE49-F238E27FC236}">
                <a16:creationId xmlns:a16="http://schemas.microsoft.com/office/drawing/2014/main" id="{D2036EEF-91B8-4A12-B816-019ADEC8D015}"/>
              </a:ext>
            </a:extLst>
          </p:cNvPr>
          <p:cNvSpPr txBox="1"/>
          <p:nvPr/>
        </p:nvSpPr>
        <p:spPr>
          <a:xfrm>
            <a:off x="-215660" y="777648"/>
            <a:ext cx="2933898" cy="707886"/>
          </a:xfrm>
          <a:prstGeom prst="rect">
            <a:avLst/>
          </a:prstGeom>
          <a:noFill/>
        </p:spPr>
        <p:txBody>
          <a:bodyPr wrap="square" rtlCol="0" anchor="ctr">
            <a:spAutoFit/>
          </a:bodyPr>
          <a:lstStyle/>
          <a:p>
            <a:pPr algn="ctr"/>
            <a:r>
              <a:rPr lang="en-US" altLang="ko-KR" sz="4000" b="1" spc="600" dirty="0" err="1">
                <a:solidFill>
                  <a:srgbClr val="143350"/>
                </a:solidFill>
                <a:latin typeface="Arial" panose="020B0604020202020204" pitchFamily="34" charset="0"/>
                <a:cs typeface="Arial" panose="020B0604020202020204" pitchFamily="34" charset="0"/>
              </a:rPr>
              <a:t>Indice</a:t>
            </a:r>
            <a:endParaRPr lang="ko-KR" altLang="en-US" sz="4000" b="1" spc="600" dirty="0">
              <a:solidFill>
                <a:srgbClr val="143350"/>
              </a:solidFill>
              <a:latin typeface="Arial" panose="020B0604020202020204" pitchFamily="34" charset="0"/>
              <a:cs typeface="Arial" panose="020B0604020202020204" pitchFamily="34" charset="0"/>
            </a:endParaRPr>
          </a:p>
        </p:txBody>
      </p:sp>
      <p:sp>
        <p:nvSpPr>
          <p:cNvPr id="62" name="Segnaposto numero diapositiva 3">
            <a:extLst>
              <a:ext uri="{FF2B5EF4-FFF2-40B4-BE49-F238E27FC236}">
                <a16:creationId xmlns:a16="http://schemas.microsoft.com/office/drawing/2014/main" id="{3380B7FC-B686-4DA5-B45E-4DEF878C38B9}"/>
              </a:ext>
            </a:extLst>
          </p:cNvPr>
          <p:cNvSpPr txBox="1">
            <a:spLocks/>
          </p:cNvSpPr>
          <p:nvPr/>
        </p:nvSpPr>
        <p:spPr bwMode="auto">
          <a:xfrm>
            <a:off x="10953480" y="6322505"/>
            <a:ext cx="990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it-IT"/>
            </a:defPPr>
            <a:lvl1pPr marL="0" algn="r" defTabSz="914400" rtl="0" eaLnBrk="1" latinLnBrk="0" hangingPunct="1">
              <a:defRPr sz="1200" kern="1200">
                <a:solidFill>
                  <a:schemeClr val="tx1"/>
                </a:solidFill>
                <a:latin typeface="News Gothic MT" charset="0"/>
                <a:ea typeface="MS PGothic" panose="020B0600070205080204" pitchFamily="34" charset="-128"/>
                <a:cs typeface="+mn-cs"/>
              </a:defRPr>
            </a:lvl1pPr>
            <a:lvl2pPr marL="742950" indent="-285750" algn="l" defTabSz="914400" rtl="0" eaLnBrk="1" latinLnBrk="0" hangingPunct="1">
              <a:defRPr sz="1800" kern="1200">
                <a:solidFill>
                  <a:schemeClr val="tx1"/>
                </a:solidFill>
                <a:latin typeface="News Gothic MT" charset="0"/>
                <a:ea typeface="MS PGothic" panose="020B0600070205080204" pitchFamily="34" charset="-128"/>
                <a:cs typeface="+mn-cs"/>
              </a:defRPr>
            </a:lvl2pPr>
            <a:lvl3pPr marL="1143000" indent="-228600" algn="l" defTabSz="914400" rtl="0" eaLnBrk="1" latinLnBrk="0" hangingPunct="1">
              <a:defRPr sz="1800" kern="1200">
                <a:solidFill>
                  <a:schemeClr val="tx1"/>
                </a:solidFill>
                <a:latin typeface="News Gothic MT" charset="0"/>
                <a:ea typeface="MS PGothic" panose="020B0600070205080204" pitchFamily="34" charset="-128"/>
                <a:cs typeface="+mn-cs"/>
              </a:defRPr>
            </a:lvl3pPr>
            <a:lvl4pPr marL="1600200" indent="-228600" algn="l" defTabSz="914400" rtl="0" eaLnBrk="1" latinLnBrk="0" hangingPunct="1">
              <a:defRPr sz="1800" kern="1200">
                <a:solidFill>
                  <a:schemeClr val="tx1"/>
                </a:solidFill>
                <a:latin typeface="News Gothic MT" charset="0"/>
                <a:ea typeface="MS PGothic" panose="020B0600070205080204" pitchFamily="34" charset="-128"/>
                <a:cs typeface="+mn-cs"/>
              </a:defRPr>
            </a:lvl4pPr>
            <a:lvl5pPr marL="2057400" indent="-228600" algn="l" defTabSz="914400" rtl="0" eaLnBrk="1" latinLnBrk="0" hangingPunct="1">
              <a:defRPr sz="1800" kern="1200">
                <a:solidFill>
                  <a:schemeClr val="tx1"/>
                </a:solidFill>
                <a:latin typeface="News Gothic MT" charset="0"/>
                <a:ea typeface="MS PGothic" panose="020B0600070205080204" pitchFamily="34" charset="-128"/>
                <a:cs typeface="+mn-cs"/>
              </a:defRPr>
            </a:lvl5pPr>
            <a:lvl6pPr marL="2514600" indent="-228600" algn="l" defTabSz="914400" rtl="0" eaLnBrk="0" fontAlgn="base" latinLnBrk="0" hangingPunct="0">
              <a:spcBef>
                <a:spcPct val="0"/>
              </a:spcBef>
              <a:spcAft>
                <a:spcPct val="0"/>
              </a:spcAft>
              <a:defRPr sz="1800" kern="1200">
                <a:solidFill>
                  <a:schemeClr val="tx1"/>
                </a:solidFill>
                <a:latin typeface="News Gothic MT" charset="0"/>
                <a:ea typeface="MS PGothic" panose="020B0600070205080204" pitchFamily="34" charset="-128"/>
                <a:cs typeface="+mn-cs"/>
              </a:defRPr>
            </a:lvl6pPr>
            <a:lvl7pPr marL="2971800" indent="-228600" algn="l" defTabSz="914400" rtl="0" eaLnBrk="0" fontAlgn="base" latinLnBrk="0" hangingPunct="0">
              <a:spcBef>
                <a:spcPct val="0"/>
              </a:spcBef>
              <a:spcAft>
                <a:spcPct val="0"/>
              </a:spcAft>
              <a:defRPr sz="1800" kern="1200">
                <a:solidFill>
                  <a:schemeClr val="tx1"/>
                </a:solidFill>
                <a:latin typeface="News Gothic MT" charset="0"/>
                <a:ea typeface="MS PGothic" panose="020B0600070205080204" pitchFamily="34" charset="-128"/>
                <a:cs typeface="+mn-cs"/>
              </a:defRPr>
            </a:lvl7pPr>
            <a:lvl8pPr marL="3429000" indent="-228600" algn="l" defTabSz="914400" rtl="0" eaLnBrk="0" fontAlgn="base" latinLnBrk="0" hangingPunct="0">
              <a:spcBef>
                <a:spcPct val="0"/>
              </a:spcBef>
              <a:spcAft>
                <a:spcPct val="0"/>
              </a:spcAft>
              <a:defRPr sz="1800" kern="1200">
                <a:solidFill>
                  <a:schemeClr val="tx1"/>
                </a:solidFill>
                <a:latin typeface="News Gothic MT" charset="0"/>
                <a:ea typeface="MS PGothic" panose="020B0600070205080204" pitchFamily="34" charset="-128"/>
                <a:cs typeface="+mn-cs"/>
              </a:defRPr>
            </a:lvl8pPr>
            <a:lvl9pPr marL="3886200" indent="-228600" algn="l" defTabSz="914400" rtl="0" eaLnBrk="0" fontAlgn="base" latinLnBrk="0" hangingPunct="0">
              <a:spcBef>
                <a:spcPct val="0"/>
              </a:spcBef>
              <a:spcAft>
                <a:spcPct val="0"/>
              </a:spcAft>
              <a:defRPr sz="1800" kern="1200">
                <a:solidFill>
                  <a:schemeClr val="tx1"/>
                </a:solidFill>
                <a:latin typeface="News Gothic MT" charset="0"/>
                <a:ea typeface="MS PGothic" panose="020B0600070205080204" pitchFamily="34" charset="-128"/>
                <a:cs typeface="+mn-cs"/>
              </a:defRPr>
            </a:lvl9pPr>
          </a:lstStyle>
          <a:p>
            <a:fld id="{CB4F2903-5929-45AD-8483-C4FF9E9DD2C3}" type="slidenum">
              <a:rPr lang="en-GB" altLang="it-IT" sz="1000" smtClean="0">
                <a:latin typeface="Source Sans Pro" charset="0"/>
              </a:rPr>
              <a:pPr/>
              <a:t>3</a:t>
            </a:fld>
            <a:endParaRPr lang="en-GB" altLang="it-IT" sz="1000" dirty="0">
              <a:latin typeface="Source Sans Pro" charset="0"/>
            </a:endParaRPr>
          </a:p>
        </p:txBody>
      </p:sp>
      <p:sp>
        <p:nvSpPr>
          <p:cNvPr id="4" name="Segnaposto contenuto 3"/>
          <p:cNvSpPr txBox="1">
            <a:spLocks/>
          </p:cNvSpPr>
          <p:nvPr/>
        </p:nvSpPr>
        <p:spPr>
          <a:xfrm>
            <a:off x="298430" y="1337492"/>
            <a:ext cx="11474370" cy="5132319"/>
          </a:xfrm>
          <a:prstGeom prst="rect">
            <a:avLst/>
          </a:prstGeom>
        </p:spPr>
        <p:txBody>
          <a:bodyPr vert="horz" lIns="91440" tIns="45720" rIns="91440" bIns="45720" rtlCol="0">
            <a:noAutofit/>
          </a:bodyPr>
          <a:lstStyle>
            <a:defPPr rtl="0">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rtl="0">
              <a:lnSpc>
                <a:spcPct val="130000"/>
              </a:lnSpc>
              <a:spcAft>
                <a:spcPts val="1200"/>
              </a:spcAft>
              <a:buAutoNum type="arabicPeriod"/>
            </a:pPr>
            <a:r>
              <a:rPr lang="it-IT" sz="1400" dirty="0">
                <a:latin typeface="Arial" panose="020B0604020202020204" pitchFamily="34" charset="0"/>
                <a:cs typeface="Arial" panose="020B0604020202020204" pitchFamily="34" charset="0"/>
              </a:rPr>
              <a:t>AML PACKAGE: CONTENUTI E DATE DI EMANAZIONE</a:t>
            </a:r>
          </a:p>
          <a:p>
            <a:pPr marL="342900" indent="-342900" algn="just">
              <a:lnSpc>
                <a:spcPct val="130000"/>
              </a:lnSpc>
              <a:spcAft>
                <a:spcPts val="1200"/>
              </a:spcAft>
              <a:buAutoNum type="arabicPeriod"/>
            </a:pPr>
            <a:r>
              <a:rPr lang="it-IT" sz="1400" dirty="0">
                <a:latin typeface="Arial" panose="020B0604020202020204" pitchFamily="34" charset="0"/>
                <a:cs typeface="Arial" panose="020B0604020202020204" pitchFamily="34" charset="0"/>
              </a:rPr>
              <a:t>AML PACKAGE: ENTRATA IN VIGORE e APPLICAZIONE</a:t>
            </a:r>
          </a:p>
          <a:p>
            <a:pPr marL="342900" indent="-342900" algn="just">
              <a:lnSpc>
                <a:spcPct val="130000"/>
              </a:lnSpc>
              <a:spcAft>
                <a:spcPts val="1200"/>
              </a:spcAft>
              <a:buAutoNum type="arabicPeriod"/>
            </a:pPr>
            <a:r>
              <a:rPr lang="it-IT" sz="1400" dirty="0">
                <a:latin typeface="Arial" panose="020B0604020202020204" pitchFamily="34" charset="0"/>
                <a:cs typeface="Arial" panose="020B0604020202020204" pitchFamily="34" charset="0"/>
              </a:rPr>
              <a:t>PRINCIPALI NOVITA’ INTRODOTTE E POSSIBILI IMPATTI SU SISTEMA PROCEDURE E CONTROLLI INTERMEDIARI BANCARI</a:t>
            </a:r>
          </a:p>
          <a:p>
            <a:pPr marL="342900" indent="-342900" algn="just">
              <a:lnSpc>
                <a:spcPct val="130000"/>
              </a:lnSpc>
              <a:spcAft>
                <a:spcPts val="1200"/>
              </a:spcAft>
              <a:buAutoNum type="arabicPeriod"/>
            </a:pPr>
            <a:r>
              <a:rPr lang="it-IT" sz="1400" dirty="0">
                <a:latin typeface="Arial" panose="020B0604020202020204" pitchFamily="34" charset="0"/>
                <a:cs typeface="Arial" panose="020B0604020202020204" pitchFamily="34" charset="0"/>
              </a:rPr>
              <a:t>AMLA: MISSION, COMPITI E PRINCIPALI PROVVEDIMENTI CHE TALE ENTE SARA’ CHIAMATO AD EMANARE</a:t>
            </a:r>
          </a:p>
          <a:p>
            <a:pPr rtl="0">
              <a:lnSpc>
                <a:spcPct val="130000"/>
              </a:lnSpc>
              <a:spcAft>
                <a:spcPts val="1200"/>
              </a:spcAft>
            </a:pPr>
            <a:endParaRPr lang="it-IT" sz="1400" dirty="0">
              <a:solidFill>
                <a:schemeClr val="tx1">
                  <a:lumMod val="65000"/>
                  <a:lumOff val="35000"/>
                </a:schemeClr>
              </a:solidFill>
              <a:latin typeface="Arial" panose="020B0604020202020204" pitchFamily="34" charset="0"/>
              <a:cs typeface="Arial" panose="020B0604020202020204" pitchFamily="34" charset="0"/>
            </a:endParaRPr>
          </a:p>
          <a:p>
            <a:pPr marL="0" indent="0" rtl="0">
              <a:lnSpc>
                <a:spcPct val="130000"/>
              </a:lnSpc>
              <a:spcAft>
                <a:spcPts val="1200"/>
              </a:spcAft>
              <a:buNone/>
            </a:pPr>
            <a:endParaRPr lang="it-IT" sz="1400"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426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a:extLst>
              <a:ext uri="{FF2B5EF4-FFF2-40B4-BE49-F238E27FC236}">
                <a16:creationId xmlns:a16="http://schemas.microsoft.com/office/drawing/2014/main" id="{7B4317E1-5A12-46E3-9A85-2C013B3AC689}"/>
              </a:ext>
            </a:extLst>
          </p:cNvPr>
          <p:cNvSpPr txBox="1"/>
          <p:nvPr/>
        </p:nvSpPr>
        <p:spPr>
          <a:xfrm>
            <a:off x="213531" y="805734"/>
            <a:ext cx="11463805" cy="533672"/>
          </a:xfrm>
          <a:prstGeom prst="rect">
            <a:avLst/>
          </a:prstGeom>
          <a:noFill/>
        </p:spPr>
        <p:txBody>
          <a:bodyPr wrap="square" rtlCol="0" anchor="ctr">
            <a:spAutoFit/>
          </a:bodyPr>
          <a:lstStyle/>
          <a:p>
            <a:pPr marL="342900" indent="-342900">
              <a:lnSpc>
                <a:spcPct val="130000"/>
              </a:lnSpc>
              <a:spcAft>
                <a:spcPts val="1200"/>
              </a:spcAft>
              <a:buAutoNum type="arabicPeriod"/>
            </a:pPr>
            <a:r>
              <a:rPr lang="it-IT" sz="2400" dirty="0">
                <a:latin typeface="Arial" panose="020B0604020202020204" pitchFamily="34" charset="0"/>
                <a:cs typeface="Arial" panose="020B0604020202020204" pitchFamily="34" charset="0"/>
              </a:rPr>
              <a:t>AML PACKAGE: CONTENUTI E DATE DI EMANAZIONE</a:t>
            </a:r>
          </a:p>
        </p:txBody>
      </p:sp>
      <p:sp>
        <p:nvSpPr>
          <p:cNvPr id="12" name="Segnaposto numero diapositiva 3">
            <a:extLst>
              <a:ext uri="{FF2B5EF4-FFF2-40B4-BE49-F238E27FC236}">
                <a16:creationId xmlns:a16="http://schemas.microsoft.com/office/drawing/2014/main" id="{4279D487-8A23-42CE-897A-62087D528376}"/>
              </a:ext>
            </a:extLst>
          </p:cNvPr>
          <p:cNvSpPr>
            <a:spLocks noGrp="1"/>
          </p:cNvSpPr>
          <p:nvPr>
            <p:ph type="sldNum" sz="quarter" idx="12"/>
          </p:nvPr>
        </p:nvSpPr>
        <p:spPr bwMode="auto">
          <a:xfrm>
            <a:off x="10953480" y="6322505"/>
            <a:ext cx="990600" cy="365125"/>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News Gothic MT" charset="0"/>
                <a:ea typeface="MS PGothic" panose="020B0600070205080204" pitchFamily="34" charset="-128"/>
              </a:defRPr>
            </a:lvl1pPr>
            <a:lvl2pPr marL="742950" indent="-285750">
              <a:defRPr>
                <a:solidFill>
                  <a:schemeClr val="tx1"/>
                </a:solidFill>
                <a:latin typeface="News Gothic MT" charset="0"/>
                <a:ea typeface="MS PGothic" panose="020B0600070205080204" pitchFamily="34" charset="-128"/>
              </a:defRPr>
            </a:lvl2pPr>
            <a:lvl3pPr marL="1143000" indent="-228600">
              <a:defRPr>
                <a:solidFill>
                  <a:schemeClr val="tx1"/>
                </a:solidFill>
                <a:latin typeface="News Gothic MT" charset="0"/>
                <a:ea typeface="MS PGothic" panose="020B0600070205080204" pitchFamily="34" charset="-128"/>
              </a:defRPr>
            </a:lvl3pPr>
            <a:lvl4pPr marL="1600200" indent="-228600">
              <a:defRPr>
                <a:solidFill>
                  <a:schemeClr val="tx1"/>
                </a:solidFill>
                <a:latin typeface="News Gothic MT" charset="0"/>
                <a:ea typeface="MS PGothic" panose="020B0600070205080204" pitchFamily="34" charset="-128"/>
              </a:defRPr>
            </a:lvl4pPr>
            <a:lvl5pPr marL="2057400" indent="-228600">
              <a:defRPr>
                <a:solidFill>
                  <a:schemeClr val="tx1"/>
                </a:solidFill>
                <a:latin typeface="News Gothic MT"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9pPr>
          </a:lstStyle>
          <a:p>
            <a:fld id="{CB4F2903-5929-45AD-8483-C4FF9E9DD2C3}" type="slidenum">
              <a:rPr lang="en-GB" altLang="it-IT" sz="1000">
                <a:latin typeface="Arial" panose="020B0604020202020204" pitchFamily="34" charset="0"/>
                <a:cs typeface="Arial" panose="020B0604020202020204" pitchFamily="34" charset="0"/>
              </a:rPr>
              <a:pPr/>
              <a:t>4</a:t>
            </a:fld>
            <a:endParaRPr lang="en-GB" altLang="it-IT" sz="1000" dirty="0">
              <a:latin typeface="Arial" panose="020B0604020202020204" pitchFamily="34" charset="0"/>
              <a:cs typeface="Arial" panose="020B0604020202020204" pitchFamily="34" charset="0"/>
            </a:endParaRPr>
          </a:p>
        </p:txBody>
      </p:sp>
      <p:sp>
        <p:nvSpPr>
          <p:cNvPr id="3" name="Rettangolo 2">
            <a:extLst>
              <a:ext uri="{FF2B5EF4-FFF2-40B4-BE49-F238E27FC236}">
                <a16:creationId xmlns:a16="http://schemas.microsoft.com/office/drawing/2014/main" id="{B0EAC47F-0867-611A-D830-22584B883088}"/>
              </a:ext>
            </a:extLst>
          </p:cNvPr>
          <p:cNvSpPr/>
          <p:nvPr/>
        </p:nvSpPr>
        <p:spPr>
          <a:xfrm>
            <a:off x="213532" y="1929545"/>
            <a:ext cx="2005012" cy="89195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t-IT" b="1" dirty="0">
                <a:latin typeface="Arial" panose="020B0604020202020204" pitchFamily="34" charset="0"/>
                <a:cs typeface="Arial" panose="020B0604020202020204" pitchFamily="34" charset="0"/>
              </a:rPr>
              <a:t>AMLR</a:t>
            </a:r>
          </a:p>
          <a:p>
            <a:pPr algn="ctr"/>
            <a:r>
              <a:rPr lang="it-IT" b="1" dirty="0">
                <a:latin typeface="Arial" panose="020B0604020202020204" pitchFamily="34" charset="0"/>
                <a:cs typeface="Arial" panose="020B0604020202020204" pitchFamily="34" charset="0"/>
              </a:rPr>
              <a:t>REG. 2024/1624</a:t>
            </a:r>
          </a:p>
        </p:txBody>
      </p:sp>
      <p:sp>
        <p:nvSpPr>
          <p:cNvPr id="4" name="Rettangolo 3">
            <a:extLst>
              <a:ext uri="{FF2B5EF4-FFF2-40B4-BE49-F238E27FC236}">
                <a16:creationId xmlns:a16="http://schemas.microsoft.com/office/drawing/2014/main" id="{2DFFE557-89EB-60AF-5421-3F1737C034BC}"/>
              </a:ext>
            </a:extLst>
          </p:cNvPr>
          <p:cNvSpPr/>
          <p:nvPr/>
        </p:nvSpPr>
        <p:spPr>
          <a:xfrm>
            <a:off x="2368446" y="1929545"/>
            <a:ext cx="5726243" cy="891953"/>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lang="it-IT" sz="1400" dirty="0">
                <a:latin typeface="Arial" panose="020B0604020202020204" pitchFamily="34" charset="0"/>
                <a:cs typeface="Arial" panose="020B0604020202020204" pitchFamily="34" charset="0"/>
              </a:rPr>
              <a:t>REGOLAMENTO (UE) 2024/1624 DEL PARLAMENTO EUROPEO E DEL CONSIGLIO del 31 maggio 2024 relativo alla prevenzione dell'uso del sistema finanziario a fini di riciclaggio o finanziamento del terrorismo</a:t>
            </a:r>
          </a:p>
        </p:txBody>
      </p:sp>
      <p:sp>
        <p:nvSpPr>
          <p:cNvPr id="8" name="Rettangolo 7">
            <a:extLst>
              <a:ext uri="{FF2B5EF4-FFF2-40B4-BE49-F238E27FC236}">
                <a16:creationId xmlns:a16="http://schemas.microsoft.com/office/drawing/2014/main" id="{9797C824-3808-6BC4-4F74-8EF6F1F4FE4A}"/>
              </a:ext>
            </a:extLst>
          </p:cNvPr>
          <p:cNvSpPr/>
          <p:nvPr/>
        </p:nvSpPr>
        <p:spPr>
          <a:xfrm>
            <a:off x="213531" y="3091070"/>
            <a:ext cx="2005013" cy="11061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t-IT" b="1" dirty="0">
                <a:latin typeface="Arial" panose="020B0604020202020204" pitchFamily="34" charset="0"/>
                <a:cs typeface="Arial" panose="020B0604020202020204" pitchFamily="34" charset="0"/>
              </a:rPr>
              <a:t>AMLAR</a:t>
            </a:r>
          </a:p>
          <a:p>
            <a:pPr algn="ctr"/>
            <a:r>
              <a:rPr lang="it-IT" b="1" dirty="0">
                <a:latin typeface="Arial" panose="020B0604020202020204" pitchFamily="34" charset="0"/>
                <a:cs typeface="Arial" panose="020B0604020202020204" pitchFamily="34" charset="0"/>
              </a:rPr>
              <a:t>REG. 2024/1620</a:t>
            </a:r>
          </a:p>
        </p:txBody>
      </p:sp>
      <p:sp>
        <p:nvSpPr>
          <p:cNvPr id="9" name="Rettangolo 8">
            <a:extLst>
              <a:ext uri="{FF2B5EF4-FFF2-40B4-BE49-F238E27FC236}">
                <a16:creationId xmlns:a16="http://schemas.microsoft.com/office/drawing/2014/main" id="{4534EA82-CFCC-BABF-6EFF-76E1B7618475}"/>
              </a:ext>
            </a:extLst>
          </p:cNvPr>
          <p:cNvSpPr/>
          <p:nvPr/>
        </p:nvSpPr>
        <p:spPr>
          <a:xfrm>
            <a:off x="2368446" y="3091070"/>
            <a:ext cx="5726243" cy="1106176"/>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lang="it-IT" sz="1400" dirty="0">
                <a:latin typeface="Arial" panose="020B0604020202020204" pitchFamily="34" charset="0"/>
                <a:cs typeface="Arial" panose="020B0604020202020204" pitchFamily="34" charset="0"/>
              </a:rPr>
              <a:t>REGOLAMENTO (UE) 2024/1620 DEL PARLAMENTO EUROPEO E DEL CONSIGLIO che istituisce l'Autorità per la lotta al riciclaggio e al finanziamento del terrorismo e che modifica i regolamenti (UE) n. 1093/2010, (UE) n. 1094/2010 e (UE) n. 1095/2010</a:t>
            </a:r>
          </a:p>
        </p:txBody>
      </p:sp>
      <p:sp>
        <p:nvSpPr>
          <p:cNvPr id="10" name="Rettangolo 9">
            <a:extLst>
              <a:ext uri="{FF2B5EF4-FFF2-40B4-BE49-F238E27FC236}">
                <a16:creationId xmlns:a16="http://schemas.microsoft.com/office/drawing/2014/main" id="{5483A6CB-A0CE-21DC-C711-502A2641DD4B}"/>
              </a:ext>
            </a:extLst>
          </p:cNvPr>
          <p:cNvSpPr/>
          <p:nvPr/>
        </p:nvSpPr>
        <p:spPr>
          <a:xfrm>
            <a:off x="213531" y="4305273"/>
            <a:ext cx="2005013" cy="11061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t-IT" b="1" dirty="0">
                <a:latin typeface="Arial" panose="020B0604020202020204" pitchFamily="34" charset="0"/>
                <a:cs typeface="Arial" panose="020B0604020202020204" pitchFamily="34" charset="0"/>
              </a:rPr>
              <a:t>AMLD6</a:t>
            </a:r>
          </a:p>
          <a:p>
            <a:pPr algn="ctr"/>
            <a:r>
              <a:rPr lang="it-IT" b="1" dirty="0">
                <a:latin typeface="Arial" panose="020B0604020202020204" pitchFamily="34" charset="0"/>
                <a:cs typeface="Arial" panose="020B0604020202020204" pitchFamily="34" charset="0"/>
              </a:rPr>
              <a:t>DIR. 2024/1640</a:t>
            </a:r>
          </a:p>
        </p:txBody>
      </p:sp>
      <p:sp>
        <p:nvSpPr>
          <p:cNvPr id="11" name="Rettangolo 10">
            <a:extLst>
              <a:ext uri="{FF2B5EF4-FFF2-40B4-BE49-F238E27FC236}">
                <a16:creationId xmlns:a16="http://schemas.microsoft.com/office/drawing/2014/main" id="{5B3BB407-2A89-8C61-42B9-F03D6A6FA9C4}"/>
              </a:ext>
            </a:extLst>
          </p:cNvPr>
          <p:cNvSpPr/>
          <p:nvPr/>
        </p:nvSpPr>
        <p:spPr>
          <a:xfrm>
            <a:off x="2368446" y="4308369"/>
            <a:ext cx="5726243" cy="1106176"/>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lang="it-IT" sz="1400" dirty="0">
                <a:latin typeface="Arial" panose="020B0604020202020204" pitchFamily="34" charset="0"/>
                <a:cs typeface="Arial" panose="020B0604020202020204" pitchFamily="34" charset="0"/>
              </a:rPr>
              <a:t>DIRETTIVA (UE) 2024/1640 DEL PARLAMENTO EUROPEO E DEL CONSIGLIO relativa ai meccanismi che gli Stati membri devono istituire per prevenire l'uso del sistema finanziario a fini di riciclaggio o finanziamento del terrorismo, che modifica la direttiva (UE) 2019/1937, e modifica e abroga la direttiva (UE) 2015/849</a:t>
            </a:r>
          </a:p>
        </p:txBody>
      </p:sp>
      <p:sp>
        <p:nvSpPr>
          <p:cNvPr id="13" name="Rettangolo 12">
            <a:extLst>
              <a:ext uri="{FF2B5EF4-FFF2-40B4-BE49-F238E27FC236}">
                <a16:creationId xmlns:a16="http://schemas.microsoft.com/office/drawing/2014/main" id="{4D7EE6E8-5A46-7811-8C97-A945BCF069BA}"/>
              </a:ext>
            </a:extLst>
          </p:cNvPr>
          <p:cNvSpPr/>
          <p:nvPr/>
        </p:nvSpPr>
        <p:spPr>
          <a:xfrm>
            <a:off x="213531" y="5581454"/>
            <a:ext cx="2005013" cy="11061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t-IT" b="1" dirty="0">
                <a:latin typeface="Arial" panose="020B0604020202020204" pitchFamily="34" charset="0"/>
                <a:cs typeface="Arial" panose="020B0604020202020204" pitchFamily="34" charset="0"/>
              </a:rPr>
              <a:t>TFR </a:t>
            </a:r>
          </a:p>
          <a:p>
            <a:pPr algn="ctr"/>
            <a:r>
              <a:rPr lang="it-IT" b="1" dirty="0">
                <a:latin typeface="Arial" panose="020B0604020202020204" pitchFamily="34" charset="0"/>
                <a:cs typeface="Arial" panose="020B0604020202020204" pitchFamily="34" charset="0"/>
              </a:rPr>
              <a:t>REG. 2023/1113</a:t>
            </a:r>
          </a:p>
        </p:txBody>
      </p:sp>
      <p:sp>
        <p:nvSpPr>
          <p:cNvPr id="14" name="Rettangolo 13">
            <a:extLst>
              <a:ext uri="{FF2B5EF4-FFF2-40B4-BE49-F238E27FC236}">
                <a16:creationId xmlns:a16="http://schemas.microsoft.com/office/drawing/2014/main" id="{477BDE10-C55C-828A-91E4-6F3195FEAB26}"/>
              </a:ext>
            </a:extLst>
          </p:cNvPr>
          <p:cNvSpPr/>
          <p:nvPr/>
        </p:nvSpPr>
        <p:spPr>
          <a:xfrm>
            <a:off x="2368446" y="5581454"/>
            <a:ext cx="5726243" cy="1106176"/>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just"/>
            <a:r>
              <a:rPr lang="it-IT" sz="1400" dirty="0">
                <a:latin typeface="Arial" panose="020B0604020202020204" pitchFamily="34" charset="0"/>
                <a:cs typeface="Arial" panose="020B0604020202020204" pitchFamily="34" charset="0"/>
              </a:rPr>
              <a:t>REGOLAMENTO (UE) 2023/1113 DEL PARLAMENTO EUROPEO E DEL CONSIGLIO riguardante i dati informativi che accompagnano i trasferimenti di fondi e determinate </a:t>
            </a:r>
            <a:r>
              <a:rPr lang="it-IT" sz="1400" dirty="0" err="1">
                <a:latin typeface="Arial" panose="020B0604020202020204" pitchFamily="34" charset="0"/>
                <a:cs typeface="Arial" panose="020B0604020202020204" pitchFamily="34" charset="0"/>
              </a:rPr>
              <a:t>criptoattività</a:t>
            </a:r>
            <a:r>
              <a:rPr lang="it-IT" sz="1400" dirty="0">
                <a:latin typeface="Arial" panose="020B0604020202020204" pitchFamily="34" charset="0"/>
                <a:cs typeface="Arial" panose="020B0604020202020204" pitchFamily="34" charset="0"/>
              </a:rPr>
              <a:t> e che modifica la direttiva (UE) 2015/8</a:t>
            </a:r>
          </a:p>
        </p:txBody>
      </p:sp>
      <p:sp>
        <p:nvSpPr>
          <p:cNvPr id="15" name="CasellaDiTesto 14">
            <a:extLst>
              <a:ext uri="{FF2B5EF4-FFF2-40B4-BE49-F238E27FC236}">
                <a16:creationId xmlns:a16="http://schemas.microsoft.com/office/drawing/2014/main" id="{00C20EA9-8012-B99B-51D6-7097D1425A20}"/>
              </a:ext>
            </a:extLst>
          </p:cNvPr>
          <p:cNvSpPr txBox="1"/>
          <p:nvPr/>
        </p:nvSpPr>
        <p:spPr>
          <a:xfrm>
            <a:off x="8571174" y="1517915"/>
            <a:ext cx="1531188" cy="369332"/>
          </a:xfrm>
          <a:prstGeom prst="rect">
            <a:avLst/>
          </a:prstGeom>
          <a:noFill/>
        </p:spPr>
        <p:txBody>
          <a:bodyPr wrap="none" rtlCol="0">
            <a:spAutoFit/>
          </a:bodyPr>
          <a:lstStyle/>
          <a:p>
            <a:r>
              <a:rPr lang="it-IT" dirty="0">
                <a:latin typeface="Arial" panose="020B0604020202020204" pitchFamily="34" charset="0"/>
                <a:cs typeface="Arial" panose="020B0604020202020204" pitchFamily="34" charset="0"/>
              </a:rPr>
              <a:t>Emanazione </a:t>
            </a:r>
          </a:p>
        </p:txBody>
      </p:sp>
      <p:sp>
        <p:nvSpPr>
          <p:cNvPr id="16" name="CasellaDiTesto 15">
            <a:extLst>
              <a:ext uri="{FF2B5EF4-FFF2-40B4-BE49-F238E27FC236}">
                <a16:creationId xmlns:a16="http://schemas.microsoft.com/office/drawing/2014/main" id="{F28FA7F2-F1A5-41AF-F990-958FC8953D75}"/>
              </a:ext>
            </a:extLst>
          </p:cNvPr>
          <p:cNvSpPr txBox="1"/>
          <p:nvPr/>
        </p:nvSpPr>
        <p:spPr>
          <a:xfrm>
            <a:off x="10234245" y="1516419"/>
            <a:ext cx="1685077" cy="369332"/>
          </a:xfrm>
          <a:prstGeom prst="rect">
            <a:avLst/>
          </a:prstGeom>
          <a:noFill/>
        </p:spPr>
        <p:txBody>
          <a:bodyPr wrap="none" rtlCol="0">
            <a:spAutoFit/>
          </a:bodyPr>
          <a:lstStyle/>
          <a:p>
            <a:r>
              <a:rPr lang="it-IT" dirty="0">
                <a:latin typeface="Arial" panose="020B0604020202020204" pitchFamily="34" charset="0"/>
                <a:cs typeface="Arial" panose="020B0604020202020204" pitchFamily="34" charset="0"/>
              </a:rPr>
              <a:t>Pubblicazione </a:t>
            </a:r>
          </a:p>
        </p:txBody>
      </p:sp>
      <p:sp>
        <p:nvSpPr>
          <p:cNvPr id="17" name="CasellaDiTesto 16">
            <a:extLst>
              <a:ext uri="{FF2B5EF4-FFF2-40B4-BE49-F238E27FC236}">
                <a16:creationId xmlns:a16="http://schemas.microsoft.com/office/drawing/2014/main" id="{5216A7A4-2BCB-7138-4995-6753A0838C08}"/>
              </a:ext>
            </a:extLst>
          </p:cNvPr>
          <p:cNvSpPr txBox="1"/>
          <p:nvPr/>
        </p:nvSpPr>
        <p:spPr>
          <a:xfrm>
            <a:off x="8393785" y="2131288"/>
            <a:ext cx="1712328"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31 maggio 2024 </a:t>
            </a:r>
          </a:p>
        </p:txBody>
      </p:sp>
      <p:sp>
        <p:nvSpPr>
          <p:cNvPr id="18" name="CasellaDiTesto 17">
            <a:extLst>
              <a:ext uri="{FF2B5EF4-FFF2-40B4-BE49-F238E27FC236}">
                <a16:creationId xmlns:a16="http://schemas.microsoft.com/office/drawing/2014/main" id="{501F39AD-91D5-74ED-987E-EC7D27A720A3}"/>
              </a:ext>
            </a:extLst>
          </p:cNvPr>
          <p:cNvSpPr txBox="1"/>
          <p:nvPr/>
        </p:nvSpPr>
        <p:spPr>
          <a:xfrm>
            <a:off x="10090143" y="2131288"/>
            <a:ext cx="2042547"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GUE del 24/06/2024</a:t>
            </a:r>
          </a:p>
        </p:txBody>
      </p:sp>
      <p:sp>
        <p:nvSpPr>
          <p:cNvPr id="19" name="CasellaDiTesto 18">
            <a:extLst>
              <a:ext uri="{FF2B5EF4-FFF2-40B4-BE49-F238E27FC236}">
                <a16:creationId xmlns:a16="http://schemas.microsoft.com/office/drawing/2014/main" id="{D62F23AD-BCAF-D7BA-3122-8CD116321B14}"/>
              </a:ext>
            </a:extLst>
          </p:cNvPr>
          <p:cNvSpPr txBox="1"/>
          <p:nvPr/>
        </p:nvSpPr>
        <p:spPr>
          <a:xfrm>
            <a:off x="8393787" y="3358080"/>
            <a:ext cx="1712328"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31 maggio 2024 </a:t>
            </a:r>
          </a:p>
        </p:txBody>
      </p:sp>
      <p:sp>
        <p:nvSpPr>
          <p:cNvPr id="20" name="CasellaDiTesto 19">
            <a:extLst>
              <a:ext uri="{FF2B5EF4-FFF2-40B4-BE49-F238E27FC236}">
                <a16:creationId xmlns:a16="http://schemas.microsoft.com/office/drawing/2014/main" id="{D35732C5-621E-0506-E16F-5B52B8520002}"/>
              </a:ext>
            </a:extLst>
          </p:cNvPr>
          <p:cNvSpPr txBox="1"/>
          <p:nvPr/>
        </p:nvSpPr>
        <p:spPr>
          <a:xfrm>
            <a:off x="8393785" y="4523998"/>
            <a:ext cx="1712328"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31 maggio 2024 </a:t>
            </a:r>
          </a:p>
        </p:txBody>
      </p:sp>
      <p:sp>
        <p:nvSpPr>
          <p:cNvPr id="21" name="CasellaDiTesto 20">
            <a:extLst>
              <a:ext uri="{FF2B5EF4-FFF2-40B4-BE49-F238E27FC236}">
                <a16:creationId xmlns:a16="http://schemas.microsoft.com/office/drawing/2014/main" id="{3288BAAD-3560-BA05-430B-1F1B7D42EF77}"/>
              </a:ext>
            </a:extLst>
          </p:cNvPr>
          <p:cNvSpPr txBox="1"/>
          <p:nvPr/>
        </p:nvSpPr>
        <p:spPr>
          <a:xfrm>
            <a:off x="8393785" y="5953173"/>
            <a:ext cx="1712328"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31 maggio 2023 </a:t>
            </a:r>
          </a:p>
        </p:txBody>
      </p:sp>
      <p:sp>
        <p:nvSpPr>
          <p:cNvPr id="22" name="CasellaDiTesto 21">
            <a:extLst>
              <a:ext uri="{FF2B5EF4-FFF2-40B4-BE49-F238E27FC236}">
                <a16:creationId xmlns:a16="http://schemas.microsoft.com/office/drawing/2014/main" id="{AF08279E-65E0-2743-771B-4AFB60276AEA}"/>
              </a:ext>
            </a:extLst>
          </p:cNvPr>
          <p:cNvSpPr txBox="1"/>
          <p:nvPr/>
        </p:nvSpPr>
        <p:spPr>
          <a:xfrm>
            <a:off x="10090142" y="5953173"/>
            <a:ext cx="2042547"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GUE del 09/06/2023</a:t>
            </a:r>
          </a:p>
        </p:txBody>
      </p:sp>
      <p:sp>
        <p:nvSpPr>
          <p:cNvPr id="23" name="CasellaDiTesto 22">
            <a:extLst>
              <a:ext uri="{FF2B5EF4-FFF2-40B4-BE49-F238E27FC236}">
                <a16:creationId xmlns:a16="http://schemas.microsoft.com/office/drawing/2014/main" id="{1399F374-004E-71FF-2787-E9F77AFE2086}"/>
              </a:ext>
            </a:extLst>
          </p:cNvPr>
          <p:cNvSpPr txBox="1"/>
          <p:nvPr/>
        </p:nvSpPr>
        <p:spPr>
          <a:xfrm>
            <a:off x="10090144" y="3375797"/>
            <a:ext cx="2042547"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GUE del 24/06/2024</a:t>
            </a:r>
          </a:p>
        </p:txBody>
      </p:sp>
      <p:sp>
        <p:nvSpPr>
          <p:cNvPr id="24" name="CasellaDiTesto 23">
            <a:extLst>
              <a:ext uri="{FF2B5EF4-FFF2-40B4-BE49-F238E27FC236}">
                <a16:creationId xmlns:a16="http://schemas.microsoft.com/office/drawing/2014/main" id="{4D804003-7922-1023-68D4-7D2CBEA630A9}"/>
              </a:ext>
            </a:extLst>
          </p:cNvPr>
          <p:cNvSpPr txBox="1"/>
          <p:nvPr/>
        </p:nvSpPr>
        <p:spPr>
          <a:xfrm>
            <a:off x="10090144" y="4537689"/>
            <a:ext cx="2042547" cy="338554"/>
          </a:xfrm>
          <a:prstGeom prst="rect">
            <a:avLst/>
          </a:prstGeom>
          <a:noFill/>
        </p:spPr>
        <p:txBody>
          <a:bodyPr wrap="none" rtlCol="0">
            <a:spAutoFit/>
          </a:bodyPr>
          <a:lstStyle/>
          <a:p>
            <a:r>
              <a:rPr lang="it-IT" sz="1600" dirty="0">
                <a:latin typeface="Arial" panose="020B0604020202020204" pitchFamily="34" charset="0"/>
                <a:cs typeface="Arial" panose="020B0604020202020204" pitchFamily="34" charset="0"/>
              </a:rPr>
              <a:t>GUE del 24/06/2024</a:t>
            </a:r>
          </a:p>
        </p:txBody>
      </p:sp>
      <p:cxnSp>
        <p:nvCxnSpPr>
          <p:cNvPr id="26" name="Connettore diritto 25">
            <a:extLst>
              <a:ext uri="{FF2B5EF4-FFF2-40B4-BE49-F238E27FC236}">
                <a16:creationId xmlns:a16="http://schemas.microsoft.com/office/drawing/2014/main" id="{81E25050-9215-88F6-F59F-F014BC3FBE21}"/>
              </a:ext>
            </a:extLst>
          </p:cNvPr>
          <p:cNvCxnSpPr>
            <a:cxnSpLocks/>
          </p:cNvCxnSpPr>
          <p:nvPr/>
        </p:nvCxnSpPr>
        <p:spPr>
          <a:xfrm>
            <a:off x="213531" y="2869654"/>
            <a:ext cx="118800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0" name="Connettore diritto 29">
            <a:extLst>
              <a:ext uri="{FF2B5EF4-FFF2-40B4-BE49-F238E27FC236}">
                <a16:creationId xmlns:a16="http://schemas.microsoft.com/office/drawing/2014/main" id="{D22C1F9D-DC5F-E7F3-65C8-D8F6006929BF}"/>
              </a:ext>
            </a:extLst>
          </p:cNvPr>
          <p:cNvCxnSpPr>
            <a:cxnSpLocks/>
          </p:cNvCxnSpPr>
          <p:nvPr/>
        </p:nvCxnSpPr>
        <p:spPr>
          <a:xfrm>
            <a:off x="216031" y="4266237"/>
            <a:ext cx="118800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1" name="Connettore diritto 30">
            <a:extLst>
              <a:ext uri="{FF2B5EF4-FFF2-40B4-BE49-F238E27FC236}">
                <a16:creationId xmlns:a16="http://schemas.microsoft.com/office/drawing/2014/main" id="{B34682CE-D9CF-87A0-4304-F8C2ACDE8BD9}"/>
              </a:ext>
            </a:extLst>
          </p:cNvPr>
          <p:cNvCxnSpPr>
            <a:cxnSpLocks/>
          </p:cNvCxnSpPr>
          <p:nvPr/>
        </p:nvCxnSpPr>
        <p:spPr>
          <a:xfrm>
            <a:off x="186051" y="5465446"/>
            <a:ext cx="118800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A5D4828E-99BD-1E6A-B757-CAB5F17D79BC}"/>
              </a:ext>
            </a:extLst>
          </p:cNvPr>
          <p:cNvCxnSpPr>
            <a:cxnSpLocks/>
          </p:cNvCxnSpPr>
          <p:nvPr/>
        </p:nvCxnSpPr>
        <p:spPr>
          <a:xfrm>
            <a:off x="186051" y="1849812"/>
            <a:ext cx="118800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87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CEA95-0C19-58AF-A1DA-49FA5B1353F2}"/>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02B4648E-8059-1918-E762-E5B69168A0C3}"/>
              </a:ext>
            </a:extLst>
          </p:cNvPr>
          <p:cNvSpPr txBox="1"/>
          <p:nvPr/>
        </p:nvSpPr>
        <p:spPr>
          <a:xfrm>
            <a:off x="213531" y="811344"/>
            <a:ext cx="11463805" cy="522451"/>
          </a:xfrm>
          <a:prstGeom prst="rect">
            <a:avLst/>
          </a:prstGeom>
          <a:noFill/>
        </p:spPr>
        <p:txBody>
          <a:bodyPr wrap="square" rtlCol="0" anchor="ctr">
            <a:spAutoFit/>
          </a:bodyPr>
          <a:lstStyle/>
          <a:p>
            <a:pPr>
              <a:lnSpc>
                <a:spcPct val="130000"/>
              </a:lnSpc>
              <a:spcAft>
                <a:spcPts val="1200"/>
              </a:spcAft>
            </a:pPr>
            <a:r>
              <a:rPr lang="it-IT" sz="2400" dirty="0">
                <a:latin typeface="Arial" panose="020B0604020202020204" pitchFamily="34" charset="0"/>
                <a:cs typeface="Arial" panose="020B0604020202020204" pitchFamily="34" charset="0"/>
              </a:rPr>
              <a:t>2. AML PACKAGE: ENTRATA IN VIGORE e APPLICAZIONE (1/2)</a:t>
            </a:r>
          </a:p>
        </p:txBody>
      </p:sp>
      <p:sp>
        <p:nvSpPr>
          <p:cNvPr id="12" name="Segnaposto numero diapositiva 3">
            <a:extLst>
              <a:ext uri="{FF2B5EF4-FFF2-40B4-BE49-F238E27FC236}">
                <a16:creationId xmlns:a16="http://schemas.microsoft.com/office/drawing/2014/main" id="{59AE4A71-CE79-9D8E-DE7E-49B9DDD18B65}"/>
              </a:ext>
            </a:extLst>
          </p:cNvPr>
          <p:cNvSpPr>
            <a:spLocks noGrp="1"/>
          </p:cNvSpPr>
          <p:nvPr>
            <p:ph type="sldNum" sz="quarter" idx="12"/>
          </p:nvPr>
        </p:nvSpPr>
        <p:spPr bwMode="auto">
          <a:xfrm>
            <a:off x="10953480" y="6322505"/>
            <a:ext cx="990600" cy="36512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News Gothic MT" charset="0"/>
                <a:ea typeface="MS PGothic" panose="020B0600070205080204" pitchFamily="34" charset="-128"/>
              </a:defRPr>
            </a:lvl1pPr>
            <a:lvl2pPr marL="742950" indent="-285750">
              <a:defRPr>
                <a:solidFill>
                  <a:schemeClr val="tx1"/>
                </a:solidFill>
                <a:latin typeface="News Gothic MT" charset="0"/>
                <a:ea typeface="MS PGothic" panose="020B0600070205080204" pitchFamily="34" charset="-128"/>
              </a:defRPr>
            </a:lvl2pPr>
            <a:lvl3pPr marL="1143000" indent="-228600">
              <a:defRPr>
                <a:solidFill>
                  <a:schemeClr val="tx1"/>
                </a:solidFill>
                <a:latin typeface="News Gothic MT" charset="0"/>
                <a:ea typeface="MS PGothic" panose="020B0600070205080204" pitchFamily="34" charset="-128"/>
              </a:defRPr>
            </a:lvl3pPr>
            <a:lvl4pPr marL="1600200" indent="-228600">
              <a:defRPr>
                <a:solidFill>
                  <a:schemeClr val="tx1"/>
                </a:solidFill>
                <a:latin typeface="News Gothic MT" charset="0"/>
                <a:ea typeface="MS PGothic" panose="020B0600070205080204" pitchFamily="34" charset="-128"/>
              </a:defRPr>
            </a:lvl4pPr>
            <a:lvl5pPr marL="2057400" indent="-228600">
              <a:defRPr>
                <a:solidFill>
                  <a:schemeClr val="tx1"/>
                </a:solidFill>
                <a:latin typeface="News Gothic MT"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9pPr>
          </a:lstStyle>
          <a:p>
            <a:fld id="{CB4F2903-5929-45AD-8483-C4FF9E9DD2C3}" type="slidenum">
              <a:rPr lang="en-GB" altLang="it-IT" sz="1000">
                <a:latin typeface="+mn-lt"/>
              </a:rPr>
              <a:pPr/>
              <a:t>5</a:t>
            </a:fld>
            <a:endParaRPr lang="en-GB" altLang="it-IT" sz="1000" dirty="0">
              <a:latin typeface="+mn-lt"/>
            </a:endParaRPr>
          </a:p>
        </p:txBody>
      </p:sp>
      <p:sp>
        <p:nvSpPr>
          <p:cNvPr id="3" name="Rettangolo 2">
            <a:extLst>
              <a:ext uri="{FF2B5EF4-FFF2-40B4-BE49-F238E27FC236}">
                <a16:creationId xmlns:a16="http://schemas.microsoft.com/office/drawing/2014/main" id="{24C65DB7-E33E-CF20-6DE3-3A15215C36DE}"/>
              </a:ext>
            </a:extLst>
          </p:cNvPr>
          <p:cNvSpPr/>
          <p:nvPr/>
        </p:nvSpPr>
        <p:spPr>
          <a:xfrm>
            <a:off x="213532" y="1929545"/>
            <a:ext cx="2005012" cy="89195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b="1" dirty="0">
                <a:latin typeface="Arial" panose="020B0604020202020204" pitchFamily="34" charset="0"/>
                <a:cs typeface="Arial" panose="020B0604020202020204" pitchFamily="34" charset="0"/>
              </a:rPr>
              <a:t>AMLR</a:t>
            </a:r>
          </a:p>
          <a:p>
            <a:pPr algn="ctr"/>
            <a:r>
              <a:rPr lang="it-IT" sz="2000" b="1" dirty="0">
                <a:latin typeface="Arial" panose="020B0604020202020204" pitchFamily="34" charset="0"/>
                <a:cs typeface="Arial" panose="020B0604020202020204" pitchFamily="34" charset="0"/>
              </a:rPr>
              <a:t>REG. 2024/1624</a:t>
            </a:r>
          </a:p>
        </p:txBody>
      </p:sp>
      <p:sp>
        <p:nvSpPr>
          <p:cNvPr id="8" name="Rettangolo 7">
            <a:extLst>
              <a:ext uri="{FF2B5EF4-FFF2-40B4-BE49-F238E27FC236}">
                <a16:creationId xmlns:a16="http://schemas.microsoft.com/office/drawing/2014/main" id="{5C741BE3-27D8-B2BB-AFE4-A518B0311458}"/>
              </a:ext>
            </a:extLst>
          </p:cNvPr>
          <p:cNvSpPr/>
          <p:nvPr/>
        </p:nvSpPr>
        <p:spPr>
          <a:xfrm>
            <a:off x="169677" y="4061764"/>
            <a:ext cx="2005013" cy="11061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b="1" dirty="0">
                <a:latin typeface="Arial" panose="020B0604020202020204" pitchFamily="34" charset="0"/>
                <a:cs typeface="Arial" panose="020B0604020202020204" pitchFamily="34" charset="0"/>
              </a:rPr>
              <a:t>AMLAR</a:t>
            </a:r>
          </a:p>
          <a:p>
            <a:pPr algn="ctr"/>
            <a:r>
              <a:rPr lang="it-IT" sz="2000" b="1" dirty="0">
                <a:latin typeface="Arial" panose="020B0604020202020204" pitchFamily="34" charset="0"/>
                <a:cs typeface="Arial" panose="020B0604020202020204" pitchFamily="34" charset="0"/>
              </a:rPr>
              <a:t>REG. 2024/1620</a:t>
            </a:r>
          </a:p>
        </p:txBody>
      </p:sp>
      <p:sp>
        <p:nvSpPr>
          <p:cNvPr id="17" name="CasellaDiTesto 16">
            <a:extLst>
              <a:ext uri="{FF2B5EF4-FFF2-40B4-BE49-F238E27FC236}">
                <a16:creationId xmlns:a16="http://schemas.microsoft.com/office/drawing/2014/main" id="{68C3DDB0-8BFF-7980-B4CC-04314FA34645}"/>
              </a:ext>
            </a:extLst>
          </p:cNvPr>
          <p:cNvSpPr txBox="1"/>
          <p:nvPr/>
        </p:nvSpPr>
        <p:spPr>
          <a:xfrm>
            <a:off x="2368446" y="1867689"/>
            <a:ext cx="3587186" cy="1938992"/>
          </a:xfrm>
          <a:prstGeom prst="rect">
            <a:avLst/>
          </a:prstGeom>
          <a:noFill/>
        </p:spPr>
        <p:txBody>
          <a:bodyPr wrap="square" rtlCol="0">
            <a:spAutoFit/>
          </a:bodyPr>
          <a:lstStyle/>
          <a:p>
            <a:pPr marL="285750" indent="-285750" algn="just">
              <a:buFont typeface="Arial" panose="020B0604020202020204" pitchFamily="34" charset="0"/>
              <a:buChar char="•"/>
            </a:pPr>
            <a:r>
              <a:rPr lang="it-IT" sz="1200" dirty="0">
                <a:latin typeface="Arial" panose="020B0604020202020204" pitchFamily="34" charset="0"/>
                <a:cs typeface="Arial" panose="020B0604020202020204" pitchFamily="34" charset="0"/>
              </a:rPr>
              <a:t>Il presente regolamento entra in vigore il ventesimo giorno successivo alla pubblicazione nella </a:t>
            </a:r>
            <a:r>
              <a:rPr lang="it-IT" sz="1200" i="1" dirty="0">
                <a:latin typeface="Arial" panose="020B0604020202020204" pitchFamily="34" charset="0"/>
                <a:cs typeface="Arial" panose="020B0604020202020204" pitchFamily="34" charset="0"/>
              </a:rPr>
              <a:t>Gazzetta ufficiale dell'Unione europea (</a:t>
            </a:r>
            <a:r>
              <a:rPr lang="it-IT" sz="1200" b="1" i="1" dirty="0">
                <a:latin typeface="Arial" panose="020B0604020202020204" pitchFamily="34" charset="0"/>
                <a:cs typeface="Arial" panose="020B0604020202020204" pitchFamily="34" charset="0"/>
              </a:rPr>
              <a:t>14/07/2024</a:t>
            </a:r>
            <a:r>
              <a:rPr lang="it-IT" sz="1200" i="1" dirty="0">
                <a:latin typeface="Arial" panose="020B0604020202020204" pitchFamily="34" charset="0"/>
                <a:cs typeface="Arial" panose="020B0604020202020204" pitchFamily="34" charset="0"/>
              </a:rPr>
              <a:t>)</a:t>
            </a:r>
            <a:endParaRPr lang="it-IT" sz="1200"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it-IT" sz="1200" dirty="0">
                <a:latin typeface="Arial" panose="020B0604020202020204" pitchFamily="34" charset="0"/>
                <a:cs typeface="Arial" panose="020B0604020202020204" pitchFamily="34" charset="0"/>
              </a:rPr>
              <a:t>Esso si applica a decorrere dal10 luglio 2027, salvo per quanto riguarda i soggetti obbligati di cui </a:t>
            </a:r>
            <a:r>
              <a:rPr lang="it-IT" sz="1200" b="1" dirty="0">
                <a:latin typeface="Arial" panose="020B0604020202020204" pitchFamily="34" charset="0"/>
                <a:cs typeface="Arial" panose="020B0604020202020204" pitchFamily="34" charset="0"/>
              </a:rPr>
              <a:t>all'articolo 3, punto 3), lettere n) e o),</a:t>
            </a:r>
            <a:r>
              <a:rPr lang="it-IT" sz="1200" dirty="0">
                <a:latin typeface="Arial" panose="020B0604020202020204" pitchFamily="34" charset="0"/>
                <a:cs typeface="Arial" panose="020B0604020202020204" pitchFamily="34" charset="0"/>
              </a:rPr>
              <a:t> ai quali si applica a decorrere dal </a:t>
            </a:r>
            <a:r>
              <a:rPr lang="it-IT" sz="1200" b="1" dirty="0">
                <a:latin typeface="Arial" panose="020B0604020202020204" pitchFamily="34" charset="0"/>
                <a:cs typeface="Arial" panose="020B0604020202020204" pitchFamily="34" charset="0"/>
              </a:rPr>
              <a:t>10 luglio 2029 </a:t>
            </a:r>
          </a:p>
          <a:p>
            <a:pPr algn="just"/>
            <a:r>
              <a:rPr lang="it-IT" sz="1200" dirty="0">
                <a:latin typeface="Arial" panose="020B0604020202020204" pitchFamily="34" charset="0"/>
                <a:cs typeface="Arial" panose="020B0604020202020204" pitchFamily="34" charset="0"/>
              </a:rPr>
              <a:t>        </a:t>
            </a:r>
            <a:r>
              <a:rPr lang="it-IT" sz="1200" b="1" i="1" dirty="0">
                <a:latin typeface="Arial" panose="020B0604020202020204" pitchFamily="34" charset="0"/>
                <a:cs typeface="Arial" panose="020B0604020202020204" pitchFamily="34" charset="0"/>
              </a:rPr>
              <a:t>(art. 90)</a:t>
            </a:r>
          </a:p>
        </p:txBody>
      </p:sp>
      <p:cxnSp>
        <p:nvCxnSpPr>
          <p:cNvPr id="32" name="Connettore diritto 31">
            <a:extLst>
              <a:ext uri="{FF2B5EF4-FFF2-40B4-BE49-F238E27FC236}">
                <a16:creationId xmlns:a16="http://schemas.microsoft.com/office/drawing/2014/main" id="{6716896A-A0E8-A5AC-A09F-D5A994A8B972}"/>
              </a:ext>
            </a:extLst>
          </p:cNvPr>
          <p:cNvCxnSpPr>
            <a:cxnSpLocks/>
          </p:cNvCxnSpPr>
          <p:nvPr/>
        </p:nvCxnSpPr>
        <p:spPr>
          <a:xfrm>
            <a:off x="186051" y="1849812"/>
            <a:ext cx="118800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9" name="CasellaDiTesto 28">
            <a:extLst>
              <a:ext uri="{FF2B5EF4-FFF2-40B4-BE49-F238E27FC236}">
                <a16:creationId xmlns:a16="http://schemas.microsoft.com/office/drawing/2014/main" id="{4F1F9030-8C5C-106F-7B40-ECEA3C2AC1BD}"/>
              </a:ext>
            </a:extLst>
          </p:cNvPr>
          <p:cNvSpPr txBox="1"/>
          <p:nvPr/>
        </p:nvSpPr>
        <p:spPr>
          <a:xfrm>
            <a:off x="2344130" y="4014688"/>
            <a:ext cx="3587186" cy="1754326"/>
          </a:xfrm>
          <a:prstGeom prst="rect">
            <a:avLst/>
          </a:prstGeom>
          <a:noFill/>
        </p:spPr>
        <p:txBody>
          <a:bodyPr wrap="square" rtlCol="0">
            <a:spAutoFit/>
          </a:bodyPr>
          <a:lstStyle/>
          <a:p>
            <a:pPr marL="171450" indent="-171450">
              <a:buFont typeface="Arial" panose="020B0604020202020204" pitchFamily="34" charset="0"/>
              <a:buChar char="•"/>
            </a:pPr>
            <a:r>
              <a:rPr lang="it-IT" sz="1200" dirty="0">
                <a:latin typeface="Arial" panose="020B0604020202020204" pitchFamily="34" charset="0"/>
                <a:cs typeface="Arial" panose="020B0604020202020204" pitchFamily="34" charset="0"/>
              </a:rPr>
              <a:t>Il presente regolamento entra in vigore il settimo giorno successivo alla pubblicazione nella Gazzetta ufficiale dell'Unione europea (</a:t>
            </a:r>
            <a:r>
              <a:rPr lang="it-IT" sz="1200" b="1" i="1" dirty="0">
                <a:latin typeface="Arial" panose="020B0604020202020204" pitchFamily="34" charset="0"/>
                <a:cs typeface="Arial" panose="020B0604020202020204" pitchFamily="34" charset="0"/>
              </a:rPr>
              <a:t>01/07/2025</a:t>
            </a:r>
            <a:r>
              <a:rPr lang="it-IT" sz="1200"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it-IT" sz="1200" dirty="0">
                <a:latin typeface="Arial" panose="020B0604020202020204" pitchFamily="34" charset="0"/>
                <a:cs typeface="Arial" panose="020B0604020202020204" pitchFamily="34" charset="0"/>
              </a:rPr>
              <a:t>Esso si applica a decorrere dal </a:t>
            </a:r>
            <a:r>
              <a:rPr lang="it-IT" sz="1200" b="1" u="sng" dirty="0">
                <a:latin typeface="Arial" panose="020B0604020202020204" pitchFamily="34" charset="0"/>
                <a:cs typeface="Arial" panose="020B0604020202020204" pitchFamily="34" charset="0"/>
              </a:rPr>
              <a:t>1° luglio 2025</a:t>
            </a:r>
            <a:r>
              <a:rPr lang="it-IT" sz="12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r>
              <a:rPr lang="it-IT" sz="1200" dirty="0">
                <a:latin typeface="Arial" panose="020B0604020202020204" pitchFamily="34" charset="0"/>
                <a:cs typeface="Arial" panose="020B0604020202020204" pitchFamily="34" charset="0"/>
              </a:rPr>
              <a:t>Tuttavia, gli articoli </a:t>
            </a:r>
            <a:r>
              <a:rPr lang="it-IT" sz="1200" b="1" dirty="0">
                <a:latin typeface="Arial" panose="020B0604020202020204" pitchFamily="34" charset="0"/>
                <a:cs typeface="Arial" panose="020B0604020202020204" pitchFamily="34" charset="0"/>
              </a:rPr>
              <a:t>1, 4, 49, 53, 54, 55, da 57 a 66, da 68 a 71, 100, 101 e 107 </a:t>
            </a:r>
            <a:r>
              <a:rPr lang="it-IT" sz="1200" dirty="0">
                <a:latin typeface="Arial" panose="020B0604020202020204" pitchFamily="34" charset="0"/>
                <a:cs typeface="Arial" panose="020B0604020202020204" pitchFamily="34" charset="0"/>
              </a:rPr>
              <a:t>si applicano a decorrere dal 26 giugno 2024 e l'articolo 103 si applica a decorrere dal 31 dicembre 2025.</a:t>
            </a:r>
          </a:p>
        </p:txBody>
      </p:sp>
      <p:sp>
        <p:nvSpPr>
          <p:cNvPr id="34" name="Rettangolo 33">
            <a:extLst>
              <a:ext uri="{FF2B5EF4-FFF2-40B4-BE49-F238E27FC236}">
                <a16:creationId xmlns:a16="http://schemas.microsoft.com/office/drawing/2014/main" id="{4B810BAF-3B93-C291-CFB1-3F356BCEEA3E}"/>
              </a:ext>
            </a:extLst>
          </p:cNvPr>
          <p:cNvSpPr/>
          <p:nvPr/>
        </p:nvSpPr>
        <p:spPr>
          <a:xfrm>
            <a:off x="6236370" y="2225295"/>
            <a:ext cx="3952948" cy="121313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it-IT" sz="800" dirty="0">
              <a:latin typeface="Arial" panose="020B0604020202020204" pitchFamily="34" charset="0"/>
              <a:cs typeface="Arial" panose="020B0604020202020204" pitchFamily="34" charset="0"/>
            </a:endParaRPr>
          </a:p>
          <a:p>
            <a:r>
              <a:rPr lang="it-IT" sz="800" dirty="0">
                <a:latin typeface="Arial" panose="020B0604020202020204" pitchFamily="34" charset="0"/>
                <a:cs typeface="Arial" panose="020B0604020202020204" pitchFamily="34" charset="0"/>
              </a:rPr>
              <a:t>n</a:t>
            </a:r>
            <a:r>
              <a:rPr lang="it-IT" sz="800" dirty="0">
                <a:solidFill>
                  <a:schemeClr val="tx1"/>
                </a:solidFill>
                <a:latin typeface="Arial" panose="020B0604020202020204" pitchFamily="34" charset="0"/>
                <a:cs typeface="Arial" panose="020B0604020202020204" pitchFamily="34" charset="0"/>
              </a:rPr>
              <a:t>) </a:t>
            </a:r>
            <a:r>
              <a:rPr lang="it-IT" sz="1000" b="1" dirty="0">
                <a:solidFill>
                  <a:schemeClr val="tx1"/>
                </a:solidFill>
                <a:latin typeface="Arial" panose="020B0604020202020204" pitchFamily="34" charset="0"/>
                <a:cs typeface="Arial" panose="020B0604020202020204" pitchFamily="34" charset="0"/>
              </a:rPr>
              <a:t>agenti calcistici</a:t>
            </a:r>
            <a:r>
              <a:rPr lang="it-IT" sz="1000" dirty="0">
                <a:solidFill>
                  <a:schemeClr val="tx1"/>
                </a:solidFill>
                <a:latin typeface="Arial" panose="020B0604020202020204" pitchFamily="34" charset="0"/>
                <a:cs typeface="Arial" panose="020B0604020202020204" pitchFamily="34" charset="0"/>
              </a:rPr>
              <a:t>;</a:t>
            </a:r>
          </a:p>
          <a:p>
            <a:r>
              <a:rPr lang="it-IT" sz="1000" dirty="0">
                <a:solidFill>
                  <a:schemeClr val="tx1"/>
                </a:solidFill>
                <a:latin typeface="Arial" panose="020B0604020202020204" pitchFamily="34" charset="0"/>
                <a:cs typeface="Arial" panose="020B0604020202020204" pitchFamily="34" charset="0"/>
              </a:rPr>
              <a:t>o</a:t>
            </a:r>
            <a:r>
              <a:rPr lang="it-IT" sz="1000" b="1" dirty="0">
                <a:solidFill>
                  <a:schemeClr val="tx1"/>
                </a:solidFill>
                <a:latin typeface="Arial" panose="020B0604020202020204" pitchFamily="34" charset="0"/>
                <a:cs typeface="Arial" panose="020B0604020202020204" pitchFamily="34" charset="0"/>
              </a:rPr>
              <a:t>) società calcistiche professionistiche </a:t>
            </a:r>
            <a:r>
              <a:rPr lang="it-IT" sz="1000" dirty="0">
                <a:solidFill>
                  <a:schemeClr val="tx1"/>
                </a:solidFill>
                <a:latin typeface="Arial" panose="020B0604020202020204" pitchFamily="34" charset="0"/>
                <a:cs typeface="Arial" panose="020B0604020202020204" pitchFamily="34" charset="0"/>
              </a:rPr>
              <a:t>per le seguenti operazioni:</a:t>
            </a:r>
          </a:p>
          <a:p>
            <a:pPr marL="285750" indent="-285750">
              <a:buFont typeface="+mj-lt"/>
              <a:buAutoNum type="romanLcPeriod"/>
            </a:pPr>
            <a:r>
              <a:rPr lang="it-IT" sz="1000" dirty="0">
                <a:solidFill>
                  <a:schemeClr val="tx1"/>
                </a:solidFill>
                <a:latin typeface="Arial" panose="020B0604020202020204" pitchFamily="34" charset="0"/>
                <a:cs typeface="Arial" panose="020B0604020202020204" pitchFamily="34" charset="0"/>
              </a:rPr>
              <a:t>operazioni con un investitore;</a:t>
            </a:r>
          </a:p>
          <a:p>
            <a:pPr marL="285750" indent="-285750">
              <a:buFont typeface="+mj-lt"/>
              <a:buAutoNum type="romanLcPeriod"/>
            </a:pPr>
            <a:r>
              <a:rPr lang="it-IT" sz="1000" dirty="0">
                <a:solidFill>
                  <a:schemeClr val="tx1"/>
                </a:solidFill>
                <a:latin typeface="Arial" panose="020B0604020202020204" pitchFamily="34" charset="0"/>
                <a:cs typeface="Arial" panose="020B0604020202020204" pitchFamily="34" charset="0"/>
              </a:rPr>
              <a:t>operazioni con uno sponsor;</a:t>
            </a:r>
          </a:p>
          <a:p>
            <a:pPr marL="285750" indent="-285750">
              <a:buFont typeface="+mj-lt"/>
              <a:buAutoNum type="romanLcPeriod"/>
            </a:pPr>
            <a:r>
              <a:rPr lang="it-IT" sz="1000" dirty="0">
                <a:solidFill>
                  <a:schemeClr val="tx1"/>
                </a:solidFill>
                <a:latin typeface="Arial" panose="020B0604020202020204" pitchFamily="34" charset="0"/>
                <a:cs typeface="Arial" panose="020B0604020202020204" pitchFamily="34" charset="0"/>
              </a:rPr>
              <a:t>operazioni con agenti calcistici o altri intermediari;</a:t>
            </a:r>
          </a:p>
          <a:p>
            <a:pPr marL="285750" indent="-285750">
              <a:buFont typeface="+mj-lt"/>
              <a:buAutoNum type="romanLcPeriod"/>
            </a:pPr>
            <a:r>
              <a:rPr lang="it-IT" sz="1000" dirty="0">
                <a:solidFill>
                  <a:schemeClr val="tx1"/>
                </a:solidFill>
                <a:latin typeface="Arial" panose="020B0604020202020204" pitchFamily="34" charset="0"/>
                <a:cs typeface="Arial" panose="020B0604020202020204" pitchFamily="34" charset="0"/>
              </a:rPr>
              <a:t>operazioni ai fini del trasferimento di un calciatore. </a:t>
            </a:r>
          </a:p>
        </p:txBody>
      </p:sp>
      <p:sp>
        <p:nvSpPr>
          <p:cNvPr id="38" name="CasellaDiTesto 37">
            <a:extLst>
              <a:ext uri="{FF2B5EF4-FFF2-40B4-BE49-F238E27FC236}">
                <a16:creationId xmlns:a16="http://schemas.microsoft.com/office/drawing/2014/main" id="{006CE6FB-2F85-E4AE-320A-BDD8307BCDEC}"/>
              </a:ext>
            </a:extLst>
          </p:cNvPr>
          <p:cNvSpPr txBox="1"/>
          <p:nvPr/>
        </p:nvSpPr>
        <p:spPr>
          <a:xfrm>
            <a:off x="6194281" y="4122237"/>
            <a:ext cx="3966968" cy="163121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it-IT" sz="1000" dirty="0">
                <a:latin typeface="Arial" panose="020B0604020202020204" pitchFamily="34" charset="0"/>
                <a:cs typeface="Arial" panose="020B0604020202020204" pitchFamily="34" charset="0"/>
              </a:rPr>
              <a:t>Art. 1 – Istituzione e ambito di intervento</a:t>
            </a:r>
          </a:p>
          <a:p>
            <a:r>
              <a:rPr lang="it-IT" sz="1000" dirty="0">
                <a:latin typeface="Arial" panose="020B0604020202020204" pitchFamily="34" charset="0"/>
                <a:cs typeface="Arial" panose="020B0604020202020204" pitchFamily="34" charset="0"/>
              </a:rPr>
              <a:t>Art. 4 – Sede</a:t>
            </a:r>
          </a:p>
          <a:p>
            <a:r>
              <a:rPr lang="it-IT" sz="1000" dirty="0">
                <a:latin typeface="Arial" panose="020B0604020202020204" pitchFamily="34" charset="0"/>
                <a:cs typeface="Arial" panose="020B0604020202020204" pitchFamily="34" charset="0"/>
              </a:rPr>
              <a:t>Art. 49 – Norme tecniche di regolamentazione</a:t>
            </a:r>
          </a:p>
          <a:p>
            <a:r>
              <a:rPr lang="it-IT" sz="1000" dirty="0">
                <a:latin typeface="Arial" panose="020B0604020202020204" pitchFamily="34" charset="0"/>
                <a:cs typeface="Arial" panose="020B0604020202020204" pitchFamily="34" charset="0"/>
              </a:rPr>
              <a:t>Art. 54 – Norme tecniche di attuazione</a:t>
            </a:r>
          </a:p>
          <a:p>
            <a:r>
              <a:rPr lang="it-IT" sz="1000" dirty="0">
                <a:latin typeface="Arial" panose="020B0604020202020204" pitchFamily="34" charset="0"/>
                <a:cs typeface="Arial" panose="020B0604020202020204" pitchFamily="34" charset="0"/>
              </a:rPr>
              <a:t>Art. 55 – Pareri e consulenza tecnica</a:t>
            </a:r>
          </a:p>
          <a:p>
            <a:r>
              <a:rPr lang="it-IT" sz="1000" dirty="0">
                <a:latin typeface="Arial" panose="020B0604020202020204" pitchFamily="34" charset="0"/>
                <a:cs typeface="Arial" panose="020B0604020202020204" pitchFamily="34" charset="0"/>
              </a:rPr>
              <a:t>Art. 57 a 66 – Consiglio Generale – Comitato Esecutivo</a:t>
            </a:r>
          </a:p>
          <a:p>
            <a:r>
              <a:rPr lang="it-IT" sz="1000" dirty="0">
                <a:latin typeface="Arial" panose="020B0604020202020204" pitchFamily="34" charset="0"/>
                <a:cs typeface="Arial" panose="020B0604020202020204" pitchFamily="34" charset="0"/>
              </a:rPr>
              <a:t>Art. 68 a 71 – Il Presidente dell’Autorità e il Direttore Esecutivo</a:t>
            </a:r>
          </a:p>
          <a:p>
            <a:r>
              <a:rPr lang="it-IT" sz="1000" dirty="0">
                <a:latin typeface="Arial" panose="020B0604020202020204" pitchFamily="34" charset="0"/>
                <a:cs typeface="Arial" panose="020B0604020202020204" pitchFamily="34" charset="0"/>
              </a:rPr>
              <a:t>Art. 100 – Atti delegati</a:t>
            </a:r>
          </a:p>
          <a:p>
            <a:r>
              <a:rPr lang="it-IT" sz="1000" dirty="0">
                <a:latin typeface="Arial" panose="020B0604020202020204" pitchFamily="34" charset="0"/>
                <a:cs typeface="Arial" panose="020B0604020202020204" pitchFamily="34" charset="0"/>
              </a:rPr>
              <a:t>Art. 101 – Accordo sulla Sede e condizioni operative</a:t>
            </a:r>
          </a:p>
          <a:p>
            <a:r>
              <a:rPr lang="it-IT" sz="1000" dirty="0">
                <a:latin typeface="Arial" panose="020B0604020202020204" pitchFamily="34" charset="0"/>
                <a:cs typeface="Arial" panose="020B0604020202020204" pitchFamily="34" charset="0"/>
              </a:rPr>
              <a:t>Art. 107 – Inizio delle attività dell’Autorità</a:t>
            </a:r>
          </a:p>
        </p:txBody>
      </p:sp>
      <p:cxnSp>
        <p:nvCxnSpPr>
          <p:cNvPr id="40" name="Connettore 2 39">
            <a:extLst>
              <a:ext uri="{FF2B5EF4-FFF2-40B4-BE49-F238E27FC236}">
                <a16:creationId xmlns:a16="http://schemas.microsoft.com/office/drawing/2014/main" id="{AAF5755E-633F-93D5-1DC5-F75D9D1F14F9}"/>
              </a:ext>
            </a:extLst>
          </p:cNvPr>
          <p:cNvCxnSpPr>
            <a:cxnSpLocks/>
          </p:cNvCxnSpPr>
          <p:nvPr/>
        </p:nvCxnSpPr>
        <p:spPr>
          <a:xfrm>
            <a:off x="3922295" y="4931262"/>
            <a:ext cx="21737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ttangolo 46">
            <a:extLst>
              <a:ext uri="{FF2B5EF4-FFF2-40B4-BE49-F238E27FC236}">
                <a16:creationId xmlns:a16="http://schemas.microsoft.com/office/drawing/2014/main" id="{0850CA42-8B2B-9FC9-6563-CDFA7B850E78}"/>
              </a:ext>
            </a:extLst>
          </p:cNvPr>
          <p:cNvSpPr/>
          <p:nvPr/>
        </p:nvSpPr>
        <p:spPr>
          <a:xfrm>
            <a:off x="7855927" y="3651677"/>
            <a:ext cx="4105345" cy="523220"/>
          </a:xfrm>
          <a:prstGeom prst="rect">
            <a:avLst/>
          </a:prstGeom>
          <a:solidFill>
            <a:schemeClr val="bg2"/>
          </a:solidFill>
        </p:spPr>
        <p:txBody>
          <a:bodyPr wrap="square" rtlCol="0">
            <a:spAutoFit/>
          </a:bodyPr>
          <a:lstStyle/>
          <a:p>
            <a:pPr algn="ctr"/>
            <a:r>
              <a:rPr lang="it-IT" sz="1400" b="1" dirty="0">
                <a:solidFill>
                  <a:schemeClr val="tx1"/>
                </a:solidFill>
                <a:latin typeface="Arial" panose="020B0604020202020204" pitchFamily="34" charset="0"/>
                <a:cs typeface="Arial" panose="020B0604020202020204" pitchFamily="34" charset="0"/>
              </a:rPr>
              <a:t>Norme volte a garantire la costituzione e avvio delle  prime attività da parte dell’AMLA</a:t>
            </a:r>
          </a:p>
        </p:txBody>
      </p:sp>
      <p:sp>
        <p:nvSpPr>
          <p:cNvPr id="49" name="Rettangolo 48">
            <a:extLst>
              <a:ext uri="{FF2B5EF4-FFF2-40B4-BE49-F238E27FC236}">
                <a16:creationId xmlns:a16="http://schemas.microsoft.com/office/drawing/2014/main" id="{D0B71D97-F229-DB08-1779-8563EAE316B3}"/>
              </a:ext>
            </a:extLst>
          </p:cNvPr>
          <p:cNvSpPr/>
          <p:nvPr/>
        </p:nvSpPr>
        <p:spPr>
          <a:xfrm>
            <a:off x="7873121" y="5783896"/>
            <a:ext cx="4070959" cy="954107"/>
          </a:xfrm>
          <a:prstGeom prst="rect">
            <a:avLst/>
          </a:prstGeom>
          <a:solidFill>
            <a:schemeClr val="bg2"/>
          </a:solidFill>
        </p:spPr>
        <p:txBody>
          <a:bodyPr wrap="square" rtlCol="0">
            <a:spAutoFit/>
          </a:bodyPr>
          <a:lstStyle/>
          <a:p>
            <a:pPr algn="just"/>
            <a:r>
              <a:rPr lang="it-IT" sz="1400" b="1" dirty="0">
                <a:solidFill>
                  <a:schemeClr val="tx1"/>
                </a:solidFill>
                <a:latin typeface="Arial" panose="020B0604020202020204" pitchFamily="34" charset="0"/>
                <a:cs typeface="Arial" panose="020B0604020202020204" pitchFamily="34" charset="0"/>
              </a:rPr>
              <a:t>L’AMLA diverrà pienamente operativa a partire dal 2028, con la supervisione diretta degli intermediari selezionati, tra quelli più rischiosi.</a:t>
            </a:r>
          </a:p>
        </p:txBody>
      </p:sp>
      <p:sp>
        <p:nvSpPr>
          <p:cNvPr id="56" name="Rettangolo 55">
            <a:extLst>
              <a:ext uri="{FF2B5EF4-FFF2-40B4-BE49-F238E27FC236}">
                <a16:creationId xmlns:a16="http://schemas.microsoft.com/office/drawing/2014/main" id="{E20EBD55-40AE-D37D-EB96-7DE025BC1B60}"/>
              </a:ext>
            </a:extLst>
          </p:cNvPr>
          <p:cNvSpPr/>
          <p:nvPr/>
        </p:nvSpPr>
        <p:spPr>
          <a:xfrm>
            <a:off x="2700064" y="3019926"/>
            <a:ext cx="2497578" cy="172237"/>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61" name="Connettore a gomito 60">
            <a:extLst>
              <a:ext uri="{FF2B5EF4-FFF2-40B4-BE49-F238E27FC236}">
                <a16:creationId xmlns:a16="http://schemas.microsoft.com/office/drawing/2014/main" id="{FB6B15E5-CDF1-F6AA-19A5-4775C71ED9FD}"/>
              </a:ext>
            </a:extLst>
          </p:cNvPr>
          <p:cNvCxnSpPr>
            <a:cxnSpLocks/>
            <a:endCxn id="34" idx="1"/>
          </p:cNvCxnSpPr>
          <p:nvPr/>
        </p:nvCxnSpPr>
        <p:spPr>
          <a:xfrm flipV="1">
            <a:off x="5237972" y="2831864"/>
            <a:ext cx="998398" cy="24388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9089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636A2-FFAF-AE59-2E4E-80E3B2A3E1B5}"/>
            </a:ext>
          </a:extLst>
        </p:cNvPr>
        <p:cNvGrpSpPr/>
        <p:nvPr/>
      </p:nvGrpSpPr>
      <p:grpSpPr>
        <a:xfrm>
          <a:off x="0" y="0"/>
          <a:ext cx="0" cy="0"/>
          <a:chOff x="0" y="0"/>
          <a:chExt cx="0" cy="0"/>
        </a:xfrm>
      </p:grpSpPr>
      <p:sp>
        <p:nvSpPr>
          <p:cNvPr id="20" name="CasellaDiTesto 19">
            <a:extLst>
              <a:ext uri="{FF2B5EF4-FFF2-40B4-BE49-F238E27FC236}">
                <a16:creationId xmlns:a16="http://schemas.microsoft.com/office/drawing/2014/main" id="{8F9D227E-7D27-1005-8565-F26D58375BAB}"/>
              </a:ext>
            </a:extLst>
          </p:cNvPr>
          <p:cNvSpPr txBox="1"/>
          <p:nvPr/>
        </p:nvSpPr>
        <p:spPr>
          <a:xfrm>
            <a:off x="149407" y="3833883"/>
            <a:ext cx="8405046" cy="646331"/>
          </a:xfrm>
          <a:prstGeom prst="rect">
            <a:avLst/>
          </a:prstGeom>
          <a:solidFill>
            <a:schemeClr val="bg2"/>
          </a:solidFill>
        </p:spPr>
        <p:txBody>
          <a:bodyPr wrap="square" rtlCol="0">
            <a:spAutoFit/>
          </a:bodyPr>
          <a:lstStyle/>
          <a:p>
            <a:pPr algn="ctr"/>
            <a:r>
              <a:rPr lang="it-IT" sz="1200" b="1" i="1" dirty="0">
                <a:latin typeface="Arial" panose="020B0604020202020204" pitchFamily="34" charset="0"/>
                <a:cs typeface="Arial" panose="020B0604020202020204" pitchFamily="34" charset="0"/>
              </a:rPr>
              <a:t>Modalità di accesso al Registro titolari effettivi, standardizzazione delle procedure di comunicazione, accesso e segnalazione difformità. Elencazione dei soggetti considerati ex lege titolari di un interesse legittimo ad accedere a un set minimo di dati sulla titolarità effettiva</a:t>
            </a:r>
          </a:p>
        </p:txBody>
      </p:sp>
      <p:sp>
        <p:nvSpPr>
          <p:cNvPr id="7" name="TextBox 2">
            <a:extLst>
              <a:ext uri="{FF2B5EF4-FFF2-40B4-BE49-F238E27FC236}">
                <a16:creationId xmlns:a16="http://schemas.microsoft.com/office/drawing/2014/main" id="{FD2F2817-4A35-2F37-DE78-6A54EE63AE21}"/>
              </a:ext>
            </a:extLst>
          </p:cNvPr>
          <p:cNvSpPr txBox="1"/>
          <p:nvPr/>
        </p:nvSpPr>
        <p:spPr>
          <a:xfrm>
            <a:off x="213531" y="811344"/>
            <a:ext cx="11463805" cy="522451"/>
          </a:xfrm>
          <a:prstGeom prst="rect">
            <a:avLst/>
          </a:prstGeom>
          <a:noFill/>
        </p:spPr>
        <p:txBody>
          <a:bodyPr wrap="square" rtlCol="0" anchor="ctr">
            <a:spAutoFit/>
          </a:bodyPr>
          <a:lstStyle/>
          <a:p>
            <a:pPr>
              <a:lnSpc>
                <a:spcPct val="130000"/>
              </a:lnSpc>
              <a:spcAft>
                <a:spcPts val="1200"/>
              </a:spcAft>
            </a:pPr>
            <a:r>
              <a:rPr lang="it-IT" sz="2400" dirty="0">
                <a:latin typeface="Arial" panose="020B0604020202020204" pitchFamily="34" charset="0"/>
                <a:cs typeface="Arial" panose="020B0604020202020204" pitchFamily="34" charset="0"/>
              </a:rPr>
              <a:t>2. AML PACKAGE: ENTRATA IN VIGORE e APPLICAZIONE (2/2)</a:t>
            </a:r>
          </a:p>
        </p:txBody>
      </p:sp>
      <p:sp>
        <p:nvSpPr>
          <p:cNvPr id="12" name="Segnaposto numero diapositiva 3">
            <a:extLst>
              <a:ext uri="{FF2B5EF4-FFF2-40B4-BE49-F238E27FC236}">
                <a16:creationId xmlns:a16="http://schemas.microsoft.com/office/drawing/2014/main" id="{908E6A48-1838-60B1-414D-F83A77B4AEB1}"/>
              </a:ext>
            </a:extLst>
          </p:cNvPr>
          <p:cNvSpPr>
            <a:spLocks noGrp="1"/>
          </p:cNvSpPr>
          <p:nvPr>
            <p:ph type="sldNum" sz="quarter" idx="12"/>
          </p:nvPr>
        </p:nvSpPr>
        <p:spPr bwMode="auto">
          <a:xfrm>
            <a:off x="10953480" y="6322505"/>
            <a:ext cx="990600" cy="365125"/>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News Gothic MT" charset="0"/>
                <a:ea typeface="MS PGothic" panose="020B0600070205080204" pitchFamily="34" charset="-128"/>
              </a:defRPr>
            </a:lvl1pPr>
            <a:lvl2pPr marL="742950" indent="-285750">
              <a:defRPr>
                <a:solidFill>
                  <a:schemeClr val="tx1"/>
                </a:solidFill>
                <a:latin typeface="News Gothic MT" charset="0"/>
                <a:ea typeface="MS PGothic" panose="020B0600070205080204" pitchFamily="34" charset="-128"/>
              </a:defRPr>
            </a:lvl2pPr>
            <a:lvl3pPr marL="1143000" indent="-228600">
              <a:defRPr>
                <a:solidFill>
                  <a:schemeClr val="tx1"/>
                </a:solidFill>
                <a:latin typeface="News Gothic MT" charset="0"/>
                <a:ea typeface="MS PGothic" panose="020B0600070205080204" pitchFamily="34" charset="-128"/>
              </a:defRPr>
            </a:lvl3pPr>
            <a:lvl4pPr marL="1600200" indent="-228600">
              <a:defRPr>
                <a:solidFill>
                  <a:schemeClr val="tx1"/>
                </a:solidFill>
                <a:latin typeface="News Gothic MT" charset="0"/>
                <a:ea typeface="MS PGothic" panose="020B0600070205080204" pitchFamily="34" charset="-128"/>
              </a:defRPr>
            </a:lvl4pPr>
            <a:lvl5pPr marL="2057400" indent="-228600">
              <a:defRPr>
                <a:solidFill>
                  <a:schemeClr val="tx1"/>
                </a:solidFill>
                <a:latin typeface="News Gothic MT"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News Gothic MT" charset="0"/>
                <a:ea typeface="MS PGothic" panose="020B0600070205080204" pitchFamily="34" charset="-128"/>
              </a:defRPr>
            </a:lvl9pPr>
          </a:lstStyle>
          <a:p>
            <a:fld id="{CB4F2903-5929-45AD-8483-C4FF9E9DD2C3}" type="slidenum">
              <a:rPr lang="en-GB" altLang="it-IT" sz="1000">
                <a:latin typeface="+mn-lt"/>
              </a:rPr>
              <a:pPr/>
              <a:t>6</a:t>
            </a:fld>
            <a:endParaRPr lang="en-GB" altLang="it-IT" sz="1000" dirty="0">
              <a:latin typeface="+mn-lt"/>
            </a:endParaRPr>
          </a:p>
        </p:txBody>
      </p:sp>
      <p:sp>
        <p:nvSpPr>
          <p:cNvPr id="10" name="Rettangolo 9">
            <a:extLst>
              <a:ext uri="{FF2B5EF4-FFF2-40B4-BE49-F238E27FC236}">
                <a16:creationId xmlns:a16="http://schemas.microsoft.com/office/drawing/2014/main" id="{B4029411-C32A-4E0A-0BA7-B928096EA997}"/>
              </a:ext>
            </a:extLst>
          </p:cNvPr>
          <p:cNvSpPr/>
          <p:nvPr/>
        </p:nvSpPr>
        <p:spPr>
          <a:xfrm>
            <a:off x="213531" y="1486689"/>
            <a:ext cx="2005013" cy="14011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it-IT" sz="2000" b="1" dirty="0">
                <a:latin typeface="Arial" panose="020B0604020202020204" pitchFamily="34" charset="0"/>
                <a:cs typeface="Arial" panose="020B0604020202020204" pitchFamily="34" charset="0"/>
              </a:rPr>
              <a:t>AMLD6</a:t>
            </a:r>
          </a:p>
          <a:p>
            <a:pPr algn="ctr"/>
            <a:r>
              <a:rPr lang="it-IT" sz="2000" b="1" dirty="0">
                <a:latin typeface="Arial" panose="020B0604020202020204" pitchFamily="34" charset="0"/>
                <a:cs typeface="Arial" panose="020B0604020202020204" pitchFamily="34" charset="0"/>
              </a:rPr>
              <a:t>DIR. 2024/1640</a:t>
            </a:r>
          </a:p>
        </p:txBody>
      </p:sp>
      <p:cxnSp>
        <p:nvCxnSpPr>
          <p:cNvPr id="32" name="Connettore diritto 31">
            <a:extLst>
              <a:ext uri="{FF2B5EF4-FFF2-40B4-BE49-F238E27FC236}">
                <a16:creationId xmlns:a16="http://schemas.microsoft.com/office/drawing/2014/main" id="{0AC54753-0816-419F-76F4-B3A04972A298}"/>
              </a:ext>
            </a:extLst>
          </p:cNvPr>
          <p:cNvCxnSpPr>
            <a:cxnSpLocks/>
          </p:cNvCxnSpPr>
          <p:nvPr/>
        </p:nvCxnSpPr>
        <p:spPr>
          <a:xfrm>
            <a:off x="183695" y="1365693"/>
            <a:ext cx="11880000"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2" name="CasellaDiTesto 1">
            <a:extLst>
              <a:ext uri="{FF2B5EF4-FFF2-40B4-BE49-F238E27FC236}">
                <a16:creationId xmlns:a16="http://schemas.microsoft.com/office/drawing/2014/main" id="{3088D559-9871-427E-CE8A-B18D4920A7BA}"/>
              </a:ext>
            </a:extLst>
          </p:cNvPr>
          <p:cNvSpPr txBox="1"/>
          <p:nvPr/>
        </p:nvSpPr>
        <p:spPr>
          <a:xfrm>
            <a:off x="2295314" y="1415246"/>
            <a:ext cx="9697605" cy="2123658"/>
          </a:xfrm>
          <a:prstGeom prst="rect">
            <a:avLst/>
          </a:prstGeom>
          <a:noFill/>
        </p:spPr>
        <p:txBody>
          <a:bodyPr wrap="square" rtlCol="0">
            <a:spAutoFit/>
          </a:bodyPr>
          <a:lstStyle/>
          <a:p>
            <a:pPr marL="171450" indent="-171450">
              <a:buFont typeface="Arial" panose="020B0604020202020204" pitchFamily="34" charset="0"/>
              <a:buChar char="•"/>
            </a:pPr>
            <a:r>
              <a:rPr lang="it-IT" sz="1200" dirty="0">
                <a:latin typeface="Arial" panose="020B0604020202020204" pitchFamily="34" charset="0"/>
                <a:cs typeface="Arial" panose="020B0604020202020204" pitchFamily="34" charset="0"/>
              </a:rPr>
              <a:t>La presente direttiva entra in vigore il ventesimo giorno successivo alla pubblicazione nella Gazzetta ufficiale dell'Unione europea </a:t>
            </a:r>
            <a:r>
              <a:rPr lang="it-IT" sz="1200" b="1" i="1" dirty="0">
                <a:latin typeface="Arial" panose="020B0604020202020204" pitchFamily="34" charset="0"/>
                <a:cs typeface="Arial" panose="020B0604020202020204" pitchFamily="34" charset="0"/>
              </a:rPr>
              <a:t>(14/07/2024)</a:t>
            </a:r>
          </a:p>
          <a:p>
            <a:r>
              <a:rPr lang="it-IT" sz="1200" b="1" i="1" dirty="0">
                <a:latin typeface="Arial" panose="020B0604020202020204" pitchFamily="34" charset="0"/>
                <a:cs typeface="Arial" panose="020B0604020202020204" pitchFamily="34" charset="0"/>
              </a:rPr>
              <a:t>         (Art. 79)</a:t>
            </a:r>
          </a:p>
          <a:p>
            <a:pPr marL="171450" indent="-171450">
              <a:buFont typeface="Arial" panose="020B0604020202020204" pitchFamily="34" charset="0"/>
              <a:buChar char="•"/>
            </a:pPr>
            <a:r>
              <a:rPr lang="it-IT" sz="1200" dirty="0">
                <a:latin typeface="Arial" panose="020B0604020202020204" pitchFamily="34" charset="0"/>
                <a:cs typeface="Arial" panose="020B0604020202020204" pitchFamily="34" charset="0"/>
              </a:rPr>
              <a:t>La direttiva (UE) 2015/849 è abrogata a decorrere dal </a:t>
            </a:r>
            <a:r>
              <a:rPr lang="it-IT" sz="1200" b="1" dirty="0">
                <a:latin typeface="Arial" panose="020B0604020202020204" pitchFamily="34" charset="0"/>
                <a:cs typeface="Arial" panose="020B0604020202020204" pitchFamily="34" charset="0"/>
              </a:rPr>
              <a:t>10 luglio 2027.</a:t>
            </a:r>
          </a:p>
          <a:p>
            <a:r>
              <a:rPr lang="it-IT" sz="1200" b="1" i="1" dirty="0">
                <a:latin typeface="Arial" panose="020B0604020202020204" pitchFamily="34" charset="0"/>
                <a:cs typeface="Arial" panose="020B0604020202020204" pitchFamily="34" charset="0"/>
              </a:rPr>
              <a:t>         (Art. 77</a:t>
            </a:r>
            <a:r>
              <a:rPr lang="it-IT" sz="1200" b="1"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it-IT" sz="1200" dirty="0">
                <a:latin typeface="Arial" panose="020B0604020202020204" pitchFamily="34" charset="0"/>
                <a:cs typeface="Arial" panose="020B0604020202020204" pitchFamily="34" charset="0"/>
              </a:rPr>
              <a:t>Gli Stati membri mettono in vigore le disposizioni legislative, regolamentari e amministrative necessarie per conformarsi alla presente direttiva entro </a:t>
            </a:r>
            <a:r>
              <a:rPr lang="it-IT" sz="1200" b="1" dirty="0">
                <a:latin typeface="Arial" panose="020B0604020202020204" pitchFamily="34" charset="0"/>
                <a:cs typeface="Arial" panose="020B0604020202020204" pitchFamily="34" charset="0"/>
              </a:rPr>
              <a:t>il 10 luglio 2027</a:t>
            </a:r>
            <a:r>
              <a:rPr lang="it-IT" sz="1200" dirty="0">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r>
              <a:rPr lang="it-IT" sz="1200" dirty="0">
                <a:latin typeface="Arial" panose="020B0604020202020204" pitchFamily="34" charset="0"/>
                <a:cs typeface="Arial" panose="020B0604020202020204" pitchFamily="34" charset="0"/>
              </a:rPr>
              <a:t>In deroga al primo comma, gli Stati membri mettono in vigore le disposizioni legislative, regolamentari e amministrative necessarie per conformarsi all’articolo 74 entro il </a:t>
            </a:r>
            <a:r>
              <a:rPr lang="it-IT" sz="1200" b="1" dirty="0">
                <a:latin typeface="Arial" panose="020B0604020202020204" pitchFamily="34" charset="0"/>
                <a:cs typeface="Arial" panose="020B0604020202020204" pitchFamily="34" charset="0"/>
              </a:rPr>
              <a:t>10 luglio 2025</a:t>
            </a:r>
            <a:r>
              <a:rPr lang="it-IT" sz="1200" dirty="0">
                <a:latin typeface="Arial" panose="020B0604020202020204" pitchFamily="34" charset="0"/>
                <a:cs typeface="Arial" panose="020B0604020202020204" pitchFamily="34" charset="0"/>
              </a:rPr>
              <a:t>, agli articoli </a:t>
            </a:r>
            <a:r>
              <a:rPr lang="it-IT" sz="1200" b="1" dirty="0">
                <a:latin typeface="Arial" panose="020B0604020202020204" pitchFamily="34" charset="0"/>
                <a:cs typeface="Arial" panose="020B0604020202020204" pitchFamily="34" charset="0"/>
              </a:rPr>
              <a:t>11, 12,13 e 15 entro </a:t>
            </a:r>
            <a:r>
              <a:rPr lang="it-IT" sz="1200" dirty="0">
                <a:latin typeface="Arial" panose="020B0604020202020204" pitchFamily="34" charset="0"/>
                <a:cs typeface="Arial" panose="020B0604020202020204" pitchFamily="34" charset="0"/>
              </a:rPr>
              <a:t>il </a:t>
            </a:r>
            <a:r>
              <a:rPr lang="it-IT" sz="1200" b="1" dirty="0">
                <a:latin typeface="Arial" panose="020B0604020202020204" pitchFamily="34" charset="0"/>
                <a:cs typeface="Arial" panose="020B0604020202020204" pitchFamily="34" charset="0"/>
              </a:rPr>
              <a:t>10 luglio 2026 </a:t>
            </a:r>
            <a:r>
              <a:rPr lang="it-IT" sz="1200" dirty="0">
                <a:latin typeface="Arial" panose="020B0604020202020204" pitchFamily="34" charset="0"/>
                <a:cs typeface="Arial" panose="020B0604020202020204" pitchFamily="34" charset="0"/>
              </a:rPr>
              <a:t>e </a:t>
            </a:r>
            <a:r>
              <a:rPr lang="it-IT" sz="1200" b="1" dirty="0">
                <a:latin typeface="Arial" panose="020B0604020202020204" pitchFamily="34" charset="0"/>
                <a:cs typeface="Arial" panose="020B0604020202020204" pitchFamily="34" charset="0"/>
              </a:rPr>
              <a:t>all’articolo 18 entro il 10 luglio 2029</a:t>
            </a:r>
            <a:r>
              <a:rPr lang="it-IT" sz="1200" dirty="0">
                <a:latin typeface="Arial" panose="020B0604020202020204" pitchFamily="34" charset="0"/>
                <a:cs typeface="Arial" panose="020B0604020202020204" pitchFamily="34" charset="0"/>
              </a:rPr>
              <a:t>. Essi ne informano senza ritardo la Commissione</a:t>
            </a:r>
          </a:p>
          <a:p>
            <a:pPr algn="just"/>
            <a:r>
              <a:rPr lang="it-IT" sz="1200" b="1" i="1" dirty="0">
                <a:latin typeface="Arial" panose="020B0604020202020204" pitchFamily="34" charset="0"/>
                <a:cs typeface="Arial" panose="020B0604020202020204" pitchFamily="34" charset="0"/>
              </a:rPr>
              <a:t>     (Art. 78)</a:t>
            </a:r>
          </a:p>
        </p:txBody>
      </p:sp>
      <p:sp>
        <p:nvSpPr>
          <p:cNvPr id="6" name="Rettangolo 5">
            <a:extLst>
              <a:ext uri="{FF2B5EF4-FFF2-40B4-BE49-F238E27FC236}">
                <a16:creationId xmlns:a16="http://schemas.microsoft.com/office/drawing/2014/main" id="{5B78D798-B006-58E4-A97C-F745C271FA60}"/>
              </a:ext>
            </a:extLst>
          </p:cNvPr>
          <p:cNvSpPr/>
          <p:nvPr/>
        </p:nvSpPr>
        <p:spPr>
          <a:xfrm>
            <a:off x="186051" y="4775193"/>
            <a:ext cx="2816922" cy="4659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it-IT" sz="1000" i="1" dirty="0">
                <a:latin typeface="Arial" panose="020B0604020202020204" pitchFamily="34" charset="0"/>
                <a:cs typeface="Arial" panose="020B0604020202020204" pitchFamily="34" charset="0"/>
              </a:rPr>
              <a:t>Articolo 74</a:t>
            </a:r>
            <a:endParaRPr lang="it-IT" sz="1000" dirty="0">
              <a:latin typeface="Arial" panose="020B0604020202020204" pitchFamily="34" charset="0"/>
              <a:cs typeface="Arial" panose="020B0604020202020204" pitchFamily="34" charset="0"/>
            </a:endParaRPr>
          </a:p>
          <a:p>
            <a:r>
              <a:rPr lang="it-IT" sz="1000" b="1" dirty="0">
                <a:latin typeface="Arial" panose="020B0604020202020204" pitchFamily="34" charset="0"/>
                <a:cs typeface="Arial" panose="020B0604020202020204" pitchFamily="34" charset="0"/>
              </a:rPr>
              <a:t>Modifiche della direttiva (UE) 2015/849 Art. 30 – Informazioni sulla titolarità effettiva</a:t>
            </a:r>
            <a:endParaRPr lang="it-IT" sz="1000" dirty="0">
              <a:latin typeface="Arial" panose="020B0604020202020204" pitchFamily="34" charset="0"/>
              <a:cs typeface="Arial" panose="020B0604020202020204" pitchFamily="34" charset="0"/>
            </a:endParaRPr>
          </a:p>
        </p:txBody>
      </p:sp>
      <p:sp>
        <p:nvSpPr>
          <p:cNvPr id="18" name="Rettangolo 17">
            <a:extLst>
              <a:ext uri="{FF2B5EF4-FFF2-40B4-BE49-F238E27FC236}">
                <a16:creationId xmlns:a16="http://schemas.microsoft.com/office/drawing/2014/main" id="{D8896590-60C5-BC9E-156D-4935C0B03908}"/>
              </a:ext>
            </a:extLst>
          </p:cNvPr>
          <p:cNvSpPr/>
          <p:nvPr/>
        </p:nvSpPr>
        <p:spPr>
          <a:xfrm>
            <a:off x="3164357" y="4775193"/>
            <a:ext cx="5277551" cy="142675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it-IT" sz="1200" b="1" dirty="0">
                <a:latin typeface="Arial" panose="020B0604020202020204" pitchFamily="34" charset="0"/>
                <a:cs typeface="Arial" panose="020B0604020202020204" pitchFamily="34" charset="0"/>
              </a:rPr>
              <a:t>Articolo 11 </a:t>
            </a:r>
            <a:r>
              <a:rPr lang="it-IT" sz="1200" dirty="0">
                <a:latin typeface="Arial" panose="020B0604020202020204" pitchFamily="34" charset="0"/>
                <a:cs typeface="Arial" panose="020B0604020202020204" pitchFamily="34" charset="0"/>
              </a:rPr>
              <a:t>- Norme generali relative all'accesso ai registri dei titolari effettivi da parte delle autorità competenti, degli organi di autoregolamentazione e dei soggetti obbligati</a:t>
            </a:r>
          </a:p>
          <a:p>
            <a:pPr algn="just"/>
            <a:r>
              <a:rPr lang="it-IT" sz="1200" b="1" dirty="0">
                <a:latin typeface="Arial" panose="020B0604020202020204" pitchFamily="34" charset="0"/>
                <a:cs typeface="Arial" panose="020B0604020202020204" pitchFamily="34" charset="0"/>
              </a:rPr>
              <a:t>Articolo 12 </a:t>
            </a:r>
            <a:r>
              <a:rPr lang="it-IT" sz="1200" dirty="0">
                <a:latin typeface="Arial" panose="020B0604020202020204" pitchFamily="34" charset="0"/>
                <a:cs typeface="Arial" panose="020B0604020202020204" pitchFamily="34" charset="0"/>
              </a:rPr>
              <a:t>- Norme specifiche di accesso ai registri dei titolari effettivi per le persone aventi un interesse legittimo</a:t>
            </a:r>
          </a:p>
          <a:p>
            <a:pPr algn="just"/>
            <a:r>
              <a:rPr lang="it-IT" sz="1200" b="1" dirty="0">
                <a:latin typeface="Arial" panose="020B0604020202020204" pitchFamily="34" charset="0"/>
                <a:cs typeface="Arial" panose="020B0604020202020204" pitchFamily="34" charset="0"/>
              </a:rPr>
              <a:t>Articolo 13</a:t>
            </a:r>
            <a:r>
              <a:rPr lang="it-IT" sz="1200" i="1" dirty="0">
                <a:latin typeface="Arial" panose="020B0604020202020204" pitchFamily="34" charset="0"/>
                <a:cs typeface="Arial" panose="020B0604020202020204" pitchFamily="34" charset="0"/>
              </a:rPr>
              <a:t> - </a:t>
            </a:r>
            <a:r>
              <a:rPr lang="it-IT" sz="1200" dirty="0">
                <a:latin typeface="Arial" panose="020B0604020202020204" pitchFamily="34" charset="0"/>
                <a:cs typeface="Arial" panose="020B0604020202020204" pitchFamily="34" charset="0"/>
              </a:rPr>
              <a:t>Procedura per la verifica e il riconoscimento reciproco di un interesse legittimo ad accedere alle informazioni sulla titolarità effettiva</a:t>
            </a:r>
          </a:p>
          <a:p>
            <a:pPr algn="just"/>
            <a:r>
              <a:rPr lang="it-IT" sz="1200" b="1" dirty="0">
                <a:latin typeface="Arial" panose="020B0604020202020204" pitchFamily="34" charset="0"/>
                <a:cs typeface="Arial" panose="020B0604020202020204" pitchFamily="34" charset="0"/>
              </a:rPr>
              <a:t>Articolo 15 </a:t>
            </a:r>
            <a:r>
              <a:rPr lang="it-IT" sz="1200" i="1" dirty="0">
                <a:latin typeface="Arial" panose="020B0604020202020204" pitchFamily="34" charset="0"/>
                <a:cs typeface="Arial" panose="020B0604020202020204" pitchFamily="34" charset="0"/>
              </a:rPr>
              <a:t>- </a:t>
            </a:r>
            <a:r>
              <a:rPr lang="it-IT" sz="1200" dirty="0">
                <a:latin typeface="Arial" panose="020B0604020202020204" pitchFamily="34" charset="0"/>
                <a:cs typeface="Arial" panose="020B0604020202020204" pitchFamily="34" charset="0"/>
              </a:rPr>
              <a:t>Eccezioni alle norme di accesso ai registri dei titolari effettivi</a:t>
            </a:r>
          </a:p>
        </p:txBody>
      </p:sp>
      <p:sp>
        <p:nvSpPr>
          <p:cNvPr id="19" name="Rettangolo 18">
            <a:extLst>
              <a:ext uri="{FF2B5EF4-FFF2-40B4-BE49-F238E27FC236}">
                <a16:creationId xmlns:a16="http://schemas.microsoft.com/office/drawing/2014/main" id="{66CADCB7-0469-22F0-073C-7C49C78EA341}"/>
              </a:ext>
            </a:extLst>
          </p:cNvPr>
          <p:cNvSpPr/>
          <p:nvPr/>
        </p:nvSpPr>
        <p:spPr>
          <a:xfrm>
            <a:off x="8715837" y="4775193"/>
            <a:ext cx="3277082" cy="61629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it-IT" sz="1200" b="1" dirty="0">
                <a:latin typeface="Arial" panose="020B0604020202020204" pitchFamily="34" charset="0"/>
                <a:cs typeface="Arial" panose="020B0604020202020204" pitchFamily="34" charset="0"/>
              </a:rPr>
              <a:t>Articolo 18</a:t>
            </a:r>
          </a:p>
          <a:p>
            <a:r>
              <a:rPr lang="it-IT" sz="1200" dirty="0">
                <a:latin typeface="Arial" panose="020B0604020202020204" pitchFamily="34" charset="0"/>
                <a:cs typeface="Arial" panose="020B0604020202020204" pitchFamily="34" charset="0"/>
              </a:rPr>
              <a:t>Punto di accesso unico alle informazioni sui beni immobili</a:t>
            </a:r>
          </a:p>
        </p:txBody>
      </p:sp>
      <p:sp>
        <p:nvSpPr>
          <p:cNvPr id="23" name="Rettangolo 22">
            <a:extLst>
              <a:ext uri="{FF2B5EF4-FFF2-40B4-BE49-F238E27FC236}">
                <a16:creationId xmlns:a16="http://schemas.microsoft.com/office/drawing/2014/main" id="{3808E7A3-F193-A5A2-6A2D-0A948A4540D6}"/>
              </a:ext>
            </a:extLst>
          </p:cNvPr>
          <p:cNvSpPr/>
          <p:nvPr/>
        </p:nvSpPr>
        <p:spPr>
          <a:xfrm>
            <a:off x="149407" y="3833883"/>
            <a:ext cx="8405046" cy="248862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CasellaDiTesto 24">
            <a:extLst>
              <a:ext uri="{FF2B5EF4-FFF2-40B4-BE49-F238E27FC236}">
                <a16:creationId xmlns:a16="http://schemas.microsoft.com/office/drawing/2014/main" id="{0400EA00-1AA4-34B8-1BF6-C77CC3CF6BC4}"/>
              </a:ext>
            </a:extLst>
          </p:cNvPr>
          <p:cNvSpPr txBox="1"/>
          <p:nvPr/>
        </p:nvSpPr>
        <p:spPr>
          <a:xfrm>
            <a:off x="8715837" y="3844171"/>
            <a:ext cx="3277082" cy="830997"/>
          </a:xfrm>
          <a:prstGeom prst="rect">
            <a:avLst/>
          </a:prstGeom>
          <a:noFill/>
        </p:spPr>
        <p:txBody>
          <a:bodyPr wrap="square">
            <a:spAutoFit/>
          </a:bodyPr>
          <a:lstStyle/>
          <a:p>
            <a:pPr algn="ctr"/>
            <a:r>
              <a:rPr lang="it-IT" sz="1200" b="1" dirty="0"/>
              <a:t>Accesso immediato e diretto alle informazioni sui detentori di beni immobili e sulle operazioni a questi riferibili effettuate a partire dall’8 luglio 2019</a:t>
            </a:r>
          </a:p>
        </p:txBody>
      </p:sp>
      <p:sp>
        <p:nvSpPr>
          <p:cNvPr id="26" name="Rettangolo 25">
            <a:extLst>
              <a:ext uri="{FF2B5EF4-FFF2-40B4-BE49-F238E27FC236}">
                <a16:creationId xmlns:a16="http://schemas.microsoft.com/office/drawing/2014/main" id="{1836E20E-F2B4-DE88-33EF-61C9181E6BB7}"/>
              </a:ext>
            </a:extLst>
          </p:cNvPr>
          <p:cNvSpPr/>
          <p:nvPr/>
        </p:nvSpPr>
        <p:spPr>
          <a:xfrm>
            <a:off x="8715837" y="3844171"/>
            <a:ext cx="3350213" cy="167832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Rettangolo 26">
            <a:extLst>
              <a:ext uri="{FF2B5EF4-FFF2-40B4-BE49-F238E27FC236}">
                <a16:creationId xmlns:a16="http://schemas.microsoft.com/office/drawing/2014/main" id="{33FCF074-A4A3-9012-6CE2-AF890E577E67}"/>
              </a:ext>
            </a:extLst>
          </p:cNvPr>
          <p:cNvSpPr/>
          <p:nvPr/>
        </p:nvSpPr>
        <p:spPr>
          <a:xfrm>
            <a:off x="5803132" y="2944585"/>
            <a:ext cx="2791327" cy="197267"/>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42" name="Connettore a gomito 41">
            <a:extLst>
              <a:ext uri="{FF2B5EF4-FFF2-40B4-BE49-F238E27FC236}">
                <a16:creationId xmlns:a16="http://schemas.microsoft.com/office/drawing/2014/main" id="{12616D35-F6B7-DE6D-712F-51D5573C2C68}"/>
              </a:ext>
            </a:extLst>
          </p:cNvPr>
          <p:cNvCxnSpPr>
            <a:cxnSpLocks/>
            <a:stCxn id="27" idx="2"/>
            <a:endCxn id="23" idx="0"/>
          </p:cNvCxnSpPr>
          <p:nvPr/>
        </p:nvCxnSpPr>
        <p:spPr>
          <a:xfrm rot="5400000">
            <a:off x="5429348" y="2064434"/>
            <a:ext cx="692031" cy="2846866"/>
          </a:xfrm>
          <a:prstGeom prst="bent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7" name="Rettangolo 46">
            <a:extLst>
              <a:ext uri="{FF2B5EF4-FFF2-40B4-BE49-F238E27FC236}">
                <a16:creationId xmlns:a16="http://schemas.microsoft.com/office/drawing/2014/main" id="{5FC4F797-689E-0B9D-0546-E8A255D8D228}"/>
              </a:ext>
            </a:extLst>
          </p:cNvPr>
          <p:cNvSpPr/>
          <p:nvPr/>
        </p:nvSpPr>
        <p:spPr>
          <a:xfrm>
            <a:off x="9482030" y="2950028"/>
            <a:ext cx="1218627" cy="197267"/>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50" name="Connettore a gomito 49">
            <a:extLst>
              <a:ext uri="{FF2B5EF4-FFF2-40B4-BE49-F238E27FC236}">
                <a16:creationId xmlns:a16="http://schemas.microsoft.com/office/drawing/2014/main" id="{65D06256-7861-1A63-3B9D-775DF02E3AD2}"/>
              </a:ext>
            </a:extLst>
          </p:cNvPr>
          <p:cNvCxnSpPr>
            <a:cxnSpLocks/>
            <a:stCxn id="47" idx="2"/>
            <a:endCxn id="26" idx="0"/>
          </p:cNvCxnSpPr>
          <p:nvPr/>
        </p:nvCxnSpPr>
        <p:spPr>
          <a:xfrm rot="16200000" flipH="1">
            <a:off x="9892706" y="3345933"/>
            <a:ext cx="696876" cy="299600"/>
          </a:xfrm>
          <a:prstGeom prst="bentConnector3">
            <a:avLst>
              <a:gd name="adj1" fmla="val 50000"/>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9990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947DF-64BA-6B4E-4585-7856013B00CE}"/>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0FB2ED3B-6167-EED9-D7A0-5CA7AF5171B5}"/>
              </a:ext>
            </a:extLst>
          </p:cNvPr>
          <p:cNvSpPr txBox="1"/>
          <p:nvPr/>
        </p:nvSpPr>
        <p:spPr>
          <a:xfrm>
            <a:off x="365193" y="887337"/>
            <a:ext cx="11778455" cy="1002582"/>
          </a:xfrm>
          <a:prstGeom prst="rect">
            <a:avLst/>
          </a:prstGeom>
          <a:noFill/>
        </p:spPr>
        <p:txBody>
          <a:bodyPr wrap="square" rtlCol="0" anchor="ctr">
            <a:spAutoFit/>
          </a:bodyPr>
          <a:lstStyle/>
          <a:p>
            <a:pPr algn="just">
              <a:lnSpc>
                <a:spcPct val="130000"/>
              </a:lnSpc>
              <a:spcAft>
                <a:spcPts val="1200"/>
              </a:spcAft>
            </a:pPr>
            <a:r>
              <a:rPr lang="it-IT" sz="2400" dirty="0">
                <a:latin typeface="Arial" panose="020B0604020202020204" pitchFamily="34" charset="0"/>
                <a:cs typeface="Arial" panose="020B0604020202020204" pitchFamily="34" charset="0"/>
              </a:rPr>
              <a:t>3. PRINCIPALI NOVITA’ INTRODOTTE E POSSIBILI IMPATTI SU SISTEMA PROCEDURE E CONTROLLI INTERMEDIARI BANCARI</a:t>
            </a:r>
          </a:p>
        </p:txBody>
      </p:sp>
      <p:sp>
        <p:nvSpPr>
          <p:cNvPr id="3" name="CasellaDiTesto 2">
            <a:extLst>
              <a:ext uri="{FF2B5EF4-FFF2-40B4-BE49-F238E27FC236}">
                <a16:creationId xmlns:a16="http://schemas.microsoft.com/office/drawing/2014/main" id="{18A4BF19-139E-7060-8B20-8253814776AE}"/>
              </a:ext>
            </a:extLst>
          </p:cNvPr>
          <p:cNvSpPr txBox="1"/>
          <p:nvPr/>
        </p:nvSpPr>
        <p:spPr>
          <a:xfrm>
            <a:off x="365193" y="2034527"/>
            <a:ext cx="6118058" cy="369332"/>
          </a:xfrm>
          <a:prstGeom prst="rect">
            <a:avLst/>
          </a:prstGeom>
          <a:noFill/>
        </p:spPr>
        <p:txBody>
          <a:bodyPr wrap="square">
            <a:spAutoFit/>
          </a:bodyPr>
          <a:lstStyle/>
          <a:p>
            <a:r>
              <a:rPr lang="it-IT" sz="1800" dirty="0">
                <a:latin typeface="Arial" panose="020B0604020202020204" pitchFamily="34" charset="0"/>
                <a:cs typeface="Arial" panose="020B0604020202020204" pitchFamily="34" charset="0"/>
              </a:rPr>
              <a:t>a) NUOVA PLATEA DI SOGGETTI OBBLIGATI</a:t>
            </a:r>
          </a:p>
        </p:txBody>
      </p:sp>
      <p:graphicFrame>
        <p:nvGraphicFramePr>
          <p:cNvPr id="4" name="Tabella 3">
            <a:extLst>
              <a:ext uri="{FF2B5EF4-FFF2-40B4-BE49-F238E27FC236}">
                <a16:creationId xmlns:a16="http://schemas.microsoft.com/office/drawing/2014/main" id="{5187FEA4-9CFC-DE19-DEEC-2DAA08622866}"/>
              </a:ext>
            </a:extLst>
          </p:cNvPr>
          <p:cNvGraphicFramePr>
            <a:graphicFrameLocks noGrp="1"/>
          </p:cNvGraphicFramePr>
          <p:nvPr>
            <p:extLst>
              <p:ext uri="{D42A27DB-BD31-4B8C-83A1-F6EECF244321}">
                <p14:modId xmlns:p14="http://schemas.microsoft.com/office/powerpoint/2010/main" val="2735422156"/>
              </p:ext>
            </p:extLst>
          </p:nvPr>
        </p:nvGraphicFramePr>
        <p:xfrm>
          <a:off x="433710" y="2368217"/>
          <a:ext cx="11458933" cy="4297783"/>
        </p:xfrm>
        <a:graphic>
          <a:graphicData uri="http://schemas.openxmlformats.org/drawingml/2006/table">
            <a:tbl>
              <a:tblPr firstRow="1" bandRow="1">
                <a:tableStyleId>{5C22544A-7EE6-4342-B048-85BDC9FD1C3A}</a:tableStyleId>
              </a:tblPr>
              <a:tblGrid>
                <a:gridCol w="1512268">
                  <a:extLst>
                    <a:ext uri="{9D8B030D-6E8A-4147-A177-3AD203B41FA5}">
                      <a16:colId xmlns:a16="http://schemas.microsoft.com/office/drawing/2014/main" val="2487101923"/>
                    </a:ext>
                  </a:extLst>
                </a:gridCol>
                <a:gridCol w="2810327">
                  <a:extLst>
                    <a:ext uri="{9D8B030D-6E8A-4147-A177-3AD203B41FA5}">
                      <a16:colId xmlns:a16="http://schemas.microsoft.com/office/drawing/2014/main" val="1235370478"/>
                    </a:ext>
                  </a:extLst>
                </a:gridCol>
                <a:gridCol w="7136338">
                  <a:extLst>
                    <a:ext uri="{9D8B030D-6E8A-4147-A177-3AD203B41FA5}">
                      <a16:colId xmlns:a16="http://schemas.microsoft.com/office/drawing/2014/main" val="3322918876"/>
                    </a:ext>
                  </a:extLst>
                </a:gridCol>
              </a:tblGrid>
              <a:tr h="274423">
                <a:tc>
                  <a:txBody>
                    <a:bodyPr/>
                    <a:lstStyle/>
                    <a:p>
                      <a:r>
                        <a:rPr lang="it-IT" sz="12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TIPOLOGIA SOGGETTO</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NOTE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4289481"/>
                  </a:ext>
                </a:extLst>
              </a:tr>
              <a:tr h="1523516">
                <a:tc>
                  <a:txBody>
                    <a:bodyPr/>
                    <a:lstStyle/>
                    <a:p>
                      <a:r>
                        <a:rPr lang="it-IT" sz="1200" dirty="0">
                          <a:latin typeface="Arial" panose="020B0604020202020204" pitchFamily="34" charset="0"/>
                          <a:cs typeface="Arial" panose="020B0604020202020204" pitchFamily="34" charset="0"/>
                        </a:rPr>
                        <a:t>Art. 3 ,  nr. 3, Punto o)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b="1" dirty="0">
                          <a:latin typeface="Arial" panose="020B0604020202020204" pitchFamily="34" charset="0"/>
                          <a:cs typeface="Arial" panose="020B0604020202020204" pitchFamily="34" charset="0"/>
                        </a:rPr>
                        <a:t>Agenti calcistici e società calcistiche professionistiche </a:t>
                      </a:r>
                      <a:r>
                        <a:rPr lang="it-IT" sz="1200" dirty="0">
                          <a:latin typeface="Arial" panose="020B0604020202020204" pitchFamily="34" charset="0"/>
                          <a:cs typeface="Arial" panose="020B0604020202020204" pitchFamily="34" charset="0"/>
                        </a:rPr>
                        <a:t>per:</a:t>
                      </a:r>
                    </a:p>
                    <a:p>
                      <a:pPr marL="285750" indent="-285750" algn="just">
                        <a:buFontTx/>
                        <a:buChar char="-"/>
                      </a:pPr>
                      <a:r>
                        <a:rPr lang="it-IT" sz="1200" dirty="0">
                          <a:latin typeface="Arial" panose="020B0604020202020204" pitchFamily="34" charset="0"/>
                          <a:cs typeface="Arial" panose="020B0604020202020204" pitchFamily="34" charset="0"/>
                        </a:rPr>
                        <a:t>Operazioni con investitore;</a:t>
                      </a:r>
                    </a:p>
                    <a:p>
                      <a:pPr marL="285750" indent="-285750" algn="just">
                        <a:buFontTx/>
                        <a:buChar char="-"/>
                      </a:pPr>
                      <a:r>
                        <a:rPr lang="it-IT" sz="1200" dirty="0">
                          <a:latin typeface="Arial" panose="020B0604020202020204" pitchFamily="34" charset="0"/>
                          <a:cs typeface="Arial" panose="020B0604020202020204" pitchFamily="34" charset="0"/>
                        </a:rPr>
                        <a:t>Operazioni con Sponsor;</a:t>
                      </a:r>
                    </a:p>
                    <a:p>
                      <a:pPr marL="285750" indent="-285750" algn="just">
                        <a:buFontTx/>
                        <a:buChar char="-"/>
                      </a:pPr>
                      <a:r>
                        <a:rPr lang="it-IT" sz="1200" dirty="0">
                          <a:latin typeface="Arial" panose="020B0604020202020204" pitchFamily="34" charset="0"/>
                          <a:cs typeface="Arial" panose="020B0604020202020204" pitchFamily="34" charset="0"/>
                        </a:rPr>
                        <a:t>Operazioni con Agenti calcistici o altri intermediari;</a:t>
                      </a:r>
                    </a:p>
                    <a:p>
                      <a:pPr marL="285750" indent="-285750" algn="just">
                        <a:buFontTx/>
                        <a:buChar char="-"/>
                      </a:pPr>
                      <a:r>
                        <a:rPr lang="it-IT" sz="1200" dirty="0">
                          <a:latin typeface="Arial" panose="020B0604020202020204" pitchFamily="34" charset="0"/>
                          <a:cs typeface="Arial" panose="020B0604020202020204" pitchFamily="34" charset="0"/>
                        </a:rPr>
                        <a:t>Operazioni ai fini del trasferimento di un calciatore.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just">
                        <a:buFontTx/>
                        <a:buNone/>
                      </a:pPr>
                      <a:r>
                        <a:rPr lang="it-IT" sz="1200" dirty="0">
                          <a:latin typeface="Arial" panose="020B0604020202020204" pitchFamily="34" charset="0"/>
                          <a:cs typeface="Arial" panose="020B0604020202020204" pitchFamily="34" charset="0"/>
                        </a:rPr>
                        <a:t>Possibile esonero, sulla base del </a:t>
                      </a:r>
                      <a:r>
                        <a:rPr lang="it-IT" sz="1200" b="1" dirty="0">
                          <a:latin typeface="Arial" panose="020B0604020202020204" pitchFamily="34" charset="0"/>
                          <a:cs typeface="Arial" panose="020B0604020202020204" pitchFamily="34" charset="0"/>
                        </a:rPr>
                        <a:t>comprovato basso livello di rischio</a:t>
                      </a:r>
                      <a:r>
                        <a:rPr lang="it-IT" sz="1200" dirty="0">
                          <a:latin typeface="Arial" panose="020B0604020202020204" pitchFamily="34" charset="0"/>
                          <a:cs typeface="Arial" panose="020B0604020202020204" pitchFamily="34" charset="0"/>
                        </a:rPr>
                        <a:t>, per:</a:t>
                      </a:r>
                    </a:p>
                    <a:p>
                      <a:pPr marL="285750" indent="-285750" algn="just">
                        <a:buFontTx/>
                        <a:buChar char="-"/>
                      </a:pPr>
                      <a:r>
                        <a:rPr lang="it-IT" sz="1200" b="1" dirty="0">
                          <a:latin typeface="Arial" panose="020B0604020202020204" pitchFamily="34" charset="0"/>
                          <a:cs typeface="Arial" panose="020B0604020202020204" pitchFamily="34" charset="0"/>
                        </a:rPr>
                        <a:t>Società calcistiche professionistiche </a:t>
                      </a:r>
                      <a:r>
                        <a:rPr lang="it-IT" sz="1200" dirty="0">
                          <a:latin typeface="Arial" panose="020B0604020202020204" pitchFamily="34" charset="0"/>
                          <a:cs typeface="Arial" panose="020B0604020202020204" pitchFamily="34" charset="0"/>
                        </a:rPr>
                        <a:t>della </a:t>
                      </a:r>
                      <a:r>
                        <a:rPr lang="it-IT" sz="1200" b="1" dirty="0">
                          <a:latin typeface="Arial" panose="020B0604020202020204" pitchFamily="34" charset="0"/>
                          <a:cs typeface="Arial" panose="020B0604020202020204" pitchFamily="34" charset="0"/>
                        </a:rPr>
                        <a:t>massima divisione </a:t>
                      </a:r>
                      <a:r>
                        <a:rPr lang="it-IT" sz="1200" dirty="0">
                          <a:latin typeface="Arial" panose="020B0604020202020204" pitchFamily="34" charset="0"/>
                          <a:cs typeface="Arial" panose="020B0604020202020204" pitchFamily="34" charset="0"/>
                        </a:rPr>
                        <a:t>del campionato nazionale di calcio con fatturato annuo complessivo &lt;5.000.000€ per ciascuno dei due anni civili precedenti;</a:t>
                      </a:r>
                    </a:p>
                    <a:p>
                      <a:pPr marL="285750" indent="-285750" algn="just">
                        <a:buFontTx/>
                        <a:buChar char="-"/>
                      </a:pPr>
                      <a:r>
                        <a:rPr lang="it-IT" sz="1200" b="1" dirty="0">
                          <a:latin typeface="Arial" panose="020B0604020202020204" pitchFamily="34" charset="0"/>
                          <a:cs typeface="Arial" panose="020B0604020202020204" pitchFamily="34" charset="0"/>
                        </a:rPr>
                        <a:t>Società calcistiche professionistiche </a:t>
                      </a:r>
                      <a:r>
                        <a:rPr lang="it-IT" sz="1200" dirty="0">
                          <a:latin typeface="Arial" panose="020B0604020202020204" pitchFamily="34" charset="0"/>
                          <a:cs typeface="Arial" panose="020B0604020202020204" pitchFamily="34" charset="0"/>
                        </a:rPr>
                        <a:t>di </a:t>
                      </a:r>
                      <a:r>
                        <a:rPr lang="it-IT" sz="1200" b="1" dirty="0">
                          <a:latin typeface="Arial" panose="020B0604020202020204" pitchFamily="34" charset="0"/>
                          <a:cs typeface="Arial" panose="020B0604020202020204" pitchFamily="34" charset="0"/>
                        </a:rPr>
                        <a:t>divisione inferiore alla massima divisione </a:t>
                      </a:r>
                      <a:r>
                        <a:rPr lang="it-IT" sz="1200" dirty="0">
                          <a:latin typeface="Arial" panose="020B0604020202020204" pitchFamily="34" charset="0"/>
                          <a:cs typeface="Arial" panose="020B0604020202020204" pitchFamily="34" charset="0"/>
                        </a:rPr>
                        <a:t>del campionato nazionale di calcio.</a:t>
                      </a:r>
                    </a:p>
                    <a:p>
                      <a:pPr marL="0" marR="0" lvl="0" indent="0" algn="just"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Lo Stato è tenuto a notificare alla Commissione, entro il </a:t>
                      </a:r>
                      <a:r>
                        <a:rPr lang="it-IT" sz="1200" b="1" dirty="0">
                          <a:latin typeface="Arial" panose="020B0604020202020204" pitchFamily="34" charset="0"/>
                          <a:cs typeface="Arial" panose="020B0604020202020204" pitchFamily="34" charset="0"/>
                        </a:rPr>
                        <a:t>10 ottobre 2027,</a:t>
                      </a:r>
                      <a:r>
                        <a:rPr lang="it-IT" sz="1200" dirty="0">
                          <a:latin typeface="Arial" panose="020B0604020202020204" pitchFamily="34" charset="0"/>
                          <a:cs typeface="Arial" panose="020B0604020202020204" pitchFamily="34" charset="0"/>
                        </a:rPr>
                        <a:t> l’intenzione di voler applicare l’esenzione; quest’ultima fornisce riscontro entro 2 mesi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9212542"/>
                  </a:ext>
                </a:extLst>
              </a:tr>
              <a:tr h="627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Art. 3 ,  nr. 3, Punto c)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just">
                        <a:buFontTx/>
                        <a:buNone/>
                      </a:pPr>
                      <a:r>
                        <a:rPr lang="it-IT" sz="1200" dirty="0">
                          <a:latin typeface="Arial" panose="020B0604020202020204" pitchFamily="34" charset="0"/>
                          <a:cs typeface="Arial" panose="020B0604020202020204" pitchFamily="34" charset="0"/>
                        </a:rPr>
                        <a:t>Persone che </a:t>
                      </a:r>
                      <a:r>
                        <a:rPr lang="it-IT" sz="1200" b="1" dirty="0">
                          <a:latin typeface="Arial" panose="020B0604020202020204" pitchFamily="34" charset="0"/>
                          <a:cs typeface="Arial" panose="020B0604020202020204" pitchFamily="34" charset="0"/>
                        </a:rPr>
                        <a:t>commerciano</a:t>
                      </a:r>
                      <a:r>
                        <a:rPr lang="it-IT" sz="1200" dirty="0">
                          <a:latin typeface="Arial" panose="020B0604020202020204" pitchFamily="34" charset="0"/>
                          <a:cs typeface="Arial" panose="020B0604020202020204" pitchFamily="34" charset="0"/>
                        </a:rPr>
                        <a:t>, quale attività professionale regolare o principale, </a:t>
                      </a:r>
                      <a:r>
                        <a:rPr lang="it-IT" sz="1200" b="1" dirty="0">
                          <a:latin typeface="Arial" panose="020B0604020202020204" pitchFamily="34" charset="0"/>
                          <a:cs typeface="Arial" panose="020B0604020202020204" pitchFamily="34" charset="0"/>
                        </a:rPr>
                        <a:t>pietre o metalli preziosi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it-IT" sz="12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2857272"/>
                  </a:ext>
                </a:extLst>
              </a:tr>
              <a:tr h="13442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Art. 3 ,  nr. 3, Punto f) Reg. 2024/1624</a:t>
                      </a:r>
                    </a:p>
                    <a:p>
                      <a:endParaRPr lang="it-IT" sz="12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b="0" dirty="0">
                          <a:latin typeface="Arial" panose="020B0604020202020204" pitchFamily="34" charset="0"/>
                          <a:cs typeface="Arial" panose="020B0604020202020204" pitchFamily="34" charset="0"/>
                        </a:rPr>
                        <a:t>Persone che </a:t>
                      </a:r>
                      <a:r>
                        <a:rPr lang="it-IT" sz="1200" b="1" dirty="0">
                          <a:latin typeface="Arial" panose="020B0604020202020204" pitchFamily="34" charset="0"/>
                          <a:cs typeface="Arial" panose="020B0604020202020204" pitchFamily="34" charset="0"/>
                        </a:rPr>
                        <a:t>commerciano</a:t>
                      </a:r>
                      <a:r>
                        <a:rPr lang="it-IT" sz="1200" b="0" dirty="0">
                          <a:latin typeface="Arial" panose="020B0604020202020204" pitchFamily="34" charset="0"/>
                          <a:cs typeface="Arial" panose="020B0604020202020204" pitchFamily="34" charset="0"/>
                        </a:rPr>
                        <a:t>, quale attività professionale regolare o principale, </a:t>
                      </a:r>
                      <a:r>
                        <a:rPr lang="it-IT" sz="1200" b="1" dirty="0">
                          <a:latin typeface="Arial" panose="020B0604020202020204" pitchFamily="34" charset="0"/>
                          <a:cs typeface="Arial" panose="020B0604020202020204" pitchFamily="34" charset="0"/>
                        </a:rPr>
                        <a:t>beni di valore elevato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it-IT" sz="1200" dirty="0">
                          <a:latin typeface="Arial" panose="020B0604020202020204" pitchFamily="34" charset="0"/>
                          <a:cs typeface="Arial" panose="020B0604020202020204" pitchFamily="34" charset="0"/>
                        </a:rPr>
                        <a:t>Per </a:t>
                      </a:r>
                      <a:r>
                        <a:rPr lang="it-IT" sz="1200" b="1" dirty="0">
                          <a:latin typeface="Arial" panose="020B0604020202020204" pitchFamily="34" charset="0"/>
                          <a:cs typeface="Arial" panose="020B0604020202020204" pitchFamily="34" charset="0"/>
                        </a:rPr>
                        <a:t>Beni di valore elevato </a:t>
                      </a:r>
                      <a:r>
                        <a:rPr lang="it-IT" sz="1200" dirty="0">
                          <a:latin typeface="Arial" panose="020B0604020202020204" pitchFamily="34" charset="0"/>
                          <a:cs typeface="Arial" panose="020B0604020202020204" pitchFamily="34" charset="0"/>
                        </a:rPr>
                        <a:t>si intendono, ai sensi dell’Allegato IV:</a:t>
                      </a:r>
                    </a:p>
                    <a:p>
                      <a:pPr marL="228600" indent="-228600">
                        <a:buAutoNum type="arabicParenR"/>
                      </a:pPr>
                      <a:r>
                        <a:rPr lang="it-IT" sz="1200" dirty="0">
                          <a:latin typeface="Arial" panose="020B0604020202020204" pitchFamily="34" charset="0"/>
                          <a:cs typeface="Arial" panose="020B0604020202020204" pitchFamily="34" charset="0"/>
                        </a:rPr>
                        <a:t>Articoli di </a:t>
                      </a:r>
                      <a:r>
                        <a:rPr lang="it-IT" sz="1200" b="1" dirty="0">
                          <a:latin typeface="Arial" panose="020B0604020202020204" pitchFamily="34" charset="0"/>
                          <a:cs typeface="Arial" panose="020B0604020202020204" pitchFamily="34" charset="0"/>
                        </a:rPr>
                        <a:t>gioielleria</a:t>
                      </a:r>
                      <a:r>
                        <a:rPr lang="it-IT" sz="1200" dirty="0">
                          <a:latin typeface="Arial" panose="020B0604020202020204" pitchFamily="34" charset="0"/>
                          <a:cs typeface="Arial" panose="020B0604020202020204" pitchFamily="34" charset="0"/>
                        </a:rPr>
                        <a:t> o di </a:t>
                      </a:r>
                      <a:r>
                        <a:rPr lang="it-IT" sz="1200" b="1" dirty="0">
                          <a:latin typeface="Arial" panose="020B0604020202020204" pitchFamily="34" charset="0"/>
                          <a:cs typeface="Arial" panose="020B0604020202020204" pitchFamily="34" charset="0"/>
                        </a:rPr>
                        <a:t>oreficeria</a:t>
                      </a:r>
                      <a:r>
                        <a:rPr lang="it-IT" sz="1200" dirty="0">
                          <a:latin typeface="Arial" panose="020B0604020202020204" pitchFamily="34" charset="0"/>
                          <a:cs typeface="Arial" panose="020B0604020202020204" pitchFamily="34" charset="0"/>
                        </a:rPr>
                        <a:t> di valore superiore a </a:t>
                      </a:r>
                      <a:r>
                        <a:rPr lang="it-IT" sz="1200" b="1" dirty="0">
                          <a:latin typeface="Arial" panose="020B0604020202020204" pitchFamily="34" charset="0"/>
                          <a:cs typeface="Arial" panose="020B0604020202020204" pitchFamily="34" charset="0"/>
                        </a:rPr>
                        <a:t>10.000 euro </a:t>
                      </a:r>
                      <a:r>
                        <a:rPr lang="it-IT" sz="1200" dirty="0">
                          <a:latin typeface="Arial" panose="020B0604020202020204" pitchFamily="34" charset="0"/>
                          <a:cs typeface="Arial" panose="020B0604020202020204" pitchFamily="34" charset="0"/>
                        </a:rPr>
                        <a:t>o al controvalore in moneta nazionale;</a:t>
                      </a:r>
                    </a:p>
                    <a:p>
                      <a:pPr marL="228600" indent="-228600">
                        <a:buAutoNum type="arabicParenR"/>
                      </a:pPr>
                      <a:r>
                        <a:rPr lang="it-IT" sz="1200" b="1" dirty="0">
                          <a:latin typeface="Arial" panose="020B0604020202020204" pitchFamily="34" charset="0"/>
                          <a:cs typeface="Arial" panose="020B0604020202020204" pitchFamily="34" charset="0"/>
                        </a:rPr>
                        <a:t>Orologi</a:t>
                      </a:r>
                      <a:r>
                        <a:rPr lang="it-IT" sz="1200" dirty="0">
                          <a:latin typeface="Arial" panose="020B0604020202020204" pitchFamily="34" charset="0"/>
                          <a:cs typeface="Arial" panose="020B0604020202020204" pitchFamily="34" charset="0"/>
                        </a:rPr>
                        <a:t> di valore superiore a </a:t>
                      </a:r>
                      <a:r>
                        <a:rPr lang="it-IT" sz="1200" b="1" dirty="0">
                          <a:latin typeface="Arial" panose="020B0604020202020204" pitchFamily="34" charset="0"/>
                          <a:cs typeface="Arial" panose="020B0604020202020204" pitchFamily="34" charset="0"/>
                        </a:rPr>
                        <a:t>10.000 euro </a:t>
                      </a:r>
                      <a:r>
                        <a:rPr lang="it-IT" sz="1200" dirty="0">
                          <a:latin typeface="Arial" panose="020B0604020202020204" pitchFamily="34" charset="0"/>
                          <a:cs typeface="Arial" panose="020B0604020202020204" pitchFamily="34" charset="0"/>
                        </a:rPr>
                        <a:t>o al controvalore in moneta nazionale;</a:t>
                      </a:r>
                    </a:p>
                    <a:p>
                      <a:pPr marL="228600" indent="-228600">
                        <a:buAutoNum type="arabicParenR"/>
                      </a:pPr>
                      <a:r>
                        <a:rPr lang="it-IT" sz="1200" b="1" dirty="0">
                          <a:latin typeface="Arial" panose="020B0604020202020204" pitchFamily="34" charset="0"/>
                          <a:cs typeface="Arial" panose="020B0604020202020204" pitchFamily="34" charset="0"/>
                        </a:rPr>
                        <a:t>Veicoli a motore </a:t>
                      </a:r>
                      <a:r>
                        <a:rPr lang="it-IT" sz="1200" dirty="0">
                          <a:latin typeface="Arial" panose="020B0604020202020204" pitchFamily="34" charset="0"/>
                          <a:cs typeface="Arial" panose="020B0604020202020204" pitchFamily="34" charset="0"/>
                        </a:rPr>
                        <a:t>di prezzo superiore a </a:t>
                      </a:r>
                      <a:r>
                        <a:rPr lang="it-IT" sz="1200" b="1" dirty="0">
                          <a:latin typeface="Arial" panose="020B0604020202020204" pitchFamily="34" charset="0"/>
                          <a:cs typeface="Arial" panose="020B0604020202020204" pitchFamily="34" charset="0"/>
                        </a:rPr>
                        <a:t>250.000 euro </a:t>
                      </a:r>
                      <a:r>
                        <a:rPr lang="it-IT" sz="1200" dirty="0">
                          <a:latin typeface="Arial" panose="020B0604020202020204" pitchFamily="34" charset="0"/>
                          <a:cs typeface="Arial" panose="020B0604020202020204" pitchFamily="34" charset="0"/>
                        </a:rPr>
                        <a:t>o al controvalore in moneta nazionale;</a:t>
                      </a:r>
                    </a:p>
                    <a:p>
                      <a:pPr marL="228600" indent="-228600">
                        <a:buAutoNum type="arabicParenR"/>
                      </a:pPr>
                      <a:r>
                        <a:rPr lang="it-IT" sz="1200" b="1" dirty="0">
                          <a:latin typeface="Arial" panose="020B0604020202020204" pitchFamily="34" charset="0"/>
                          <a:cs typeface="Arial" panose="020B0604020202020204" pitchFamily="34" charset="0"/>
                        </a:rPr>
                        <a:t>Aeromobile</a:t>
                      </a:r>
                      <a:r>
                        <a:rPr lang="it-IT" sz="1200" dirty="0">
                          <a:latin typeface="Arial" panose="020B0604020202020204" pitchFamily="34" charset="0"/>
                          <a:cs typeface="Arial" panose="020B0604020202020204" pitchFamily="34" charset="0"/>
                        </a:rPr>
                        <a:t> di valore superiore a </a:t>
                      </a:r>
                      <a:r>
                        <a:rPr lang="it-IT" sz="1200" b="1" dirty="0">
                          <a:latin typeface="Arial" panose="020B0604020202020204" pitchFamily="34" charset="0"/>
                          <a:cs typeface="Arial" panose="020B0604020202020204" pitchFamily="34" charset="0"/>
                        </a:rPr>
                        <a:t>7.500.000 euro </a:t>
                      </a:r>
                      <a:r>
                        <a:rPr lang="it-IT" sz="1200" dirty="0">
                          <a:latin typeface="Arial" panose="020B0604020202020204" pitchFamily="34" charset="0"/>
                          <a:cs typeface="Arial" panose="020B0604020202020204" pitchFamily="34" charset="0"/>
                        </a:rPr>
                        <a:t>o al controvalore in moneta nazionale;</a:t>
                      </a:r>
                    </a:p>
                    <a:p>
                      <a:pPr marL="228600" indent="-228600">
                        <a:buAutoNum type="arabicParenR"/>
                      </a:pPr>
                      <a:r>
                        <a:rPr lang="it-IT" sz="1200" b="1" dirty="0">
                          <a:latin typeface="Arial" panose="020B0604020202020204" pitchFamily="34" charset="0"/>
                          <a:cs typeface="Arial" panose="020B0604020202020204" pitchFamily="34" charset="0"/>
                        </a:rPr>
                        <a:t>Natante</a:t>
                      </a:r>
                      <a:r>
                        <a:rPr lang="it-IT" sz="1200" dirty="0">
                          <a:latin typeface="Arial" panose="020B0604020202020204" pitchFamily="34" charset="0"/>
                          <a:cs typeface="Arial" panose="020B0604020202020204" pitchFamily="34" charset="0"/>
                        </a:rPr>
                        <a:t> di valore superiore a </a:t>
                      </a:r>
                      <a:r>
                        <a:rPr lang="it-IT" sz="1200" b="1" dirty="0">
                          <a:latin typeface="Arial" panose="020B0604020202020204" pitchFamily="34" charset="0"/>
                          <a:cs typeface="Arial" panose="020B0604020202020204" pitchFamily="34" charset="0"/>
                        </a:rPr>
                        <a:t>7.500.000 euro </a:t>
                      </a:r>
                      <a:r>
                        <a:rPr lang="it-IT" sz="1200" dirty="0">
                          <a:latin typeface="Arial" panose="020B0604020202020204" pitchFamily="34" charset="0"/>
                          <a:cs typeface="Arial" panose="020B0604020202020204" pitchFamily="34" charset="0"/>
                        </a:rPr>
                        <a:t>o al controvalore in moneta nazionale.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9743267"/>
                  </a:ext>
                </a:extLst>
              </a:tr>
              <a:tr h="448093">
                <a:tc>
                  <a:txBody>
                    <a:bodyPr/>
                    <a:lstStyle/>
                    <a:p>
                      <a:r>
                        <a:rPr lang="it-IT" sz="1200" dirty="0">
                          <a:latin typeface="Arial" panose="020B0604020202020204" pitchFamily="34" charset="0"/>
                          <a:cs typeface="Arial" panose="020B0604020202020204" pitchFamily="34" charset="0"/>
                        </a:rPr>
                        <a:t>Art. 3, nr. 3, Punto h)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b="1" dirty="0">
                          <a:latin typeface="Arial" panose="020B0604020202020204" pitchFamily="34" charset="0"/>
                          <a:cs typeface="Arial" panose="020B0604020202020204" pitchFamily="34" charset="0"/>
                        </a:rPr>
                        <a:t>Fornitori di servizi di </a:t>
                      </a:r>
                      <a:r>
                        <a:rPr lang="it-IT" sz="1200" b="1" dirty="0" err="1">
                          <a:latin typeface="Arial" panose="020B0604020202020204" pitchFamily="34" charset="0"/>
                          <a:cs typeface="Arial" panose="020B0604020202020204" pitchFamily="34" charset="0"/>
                        </a:rPr>
                        <a:t>crowfunding</a:t>
                      </a:r>
                      <a:r>
                        <a:rPr lang="it-IT" sz="1200" b="1" dirty="0">
                          <a:latin typeface="Arial" panose="020B0604020202020204" pitchFamily="34" charset="0"/>
                          <a:cs typeface="Arial" panose="020B0604020202020204" pitchFamily="34" charset="0"/>
                        </a:rPr>
                        <a:t> e intermediari di </a:t>
                      </a:r>
                      <a:r>
                        <a:rPr lang="it-IT" sz="1200" b="1" dirty="0" err="1">
                          <a:latin typeface="Arial" panose="020B0604020202020204" pitchFamily="34" charset="0"/>
                          <a:cs typeface="Arial" panose="020B0604020202020204" pitchFamily="34" charset="0"/>
                        </a:rPr>
                        <a:t>crowfunding</a:t>
                      </a:r>
                      <a:endParaRPr lang="it-IT" sz="1200" b="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it-IT" sz="12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7178085"/>
                  </a:ext>
                </a:extLst>
              </a:tr>
            </a:tbl>
          </a:graphicData>
        </a:graphic>
      </p:graphicFrame>
    </p:spTree>
    <p:extLst>
      <p:ext uri="{BB962C8B-B14F-4D97-AF65-F5344CB8AC3E}">
        <p14:creationId xmlns:p14="http://schemas.microsoft.com/office/powerpoint/2010/main" val="1340590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EA311-5787-B73C-6BC2-0BBE22B185FE}"/>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146F396B-F1B6-FE5E-0BCF-F4DAEACE598C}"/>
              </a:ext>
            </a:extLst>
          </p:cNvPr>
          <p:cNvSpPr txBox="1"/>
          <p:nvPr/>
        </p:nvSpPr>
        <p:spPr>
          <a:xfrm>
            <a:off x="365193" y="887337"/>
            <a:ext cx="11778455" cy="1002582"/>
          </a:xfrm>
          <a:prstGeom prst="rect">
            <a:avLst/>
          </a:prstGeom>
          <a:noFill/>
        </p:spPr>
        <p:txBody>
          <a:bodyPr wrap="square" rtlCol="0" anchor="ctr">
            <a:spAutoFit/>
          </a:bodyPr>
          <a:lstStyle/>
          <a:p>
            <a:pPr algn="just">
              <a:lnSpc>
                <a:spcPct val="130000"/>
              </a:lnSpc>
              <a:spcAft>
                <a:spcPts val="1200"/>
              </a:spcAft>
            </a:pPr>
            <a:r>
              <a:rPr lang="it-IT" sz="2400" dirty="0">
                <a:latin typeface="Arial" panose="020B0604020202020204" pitchFamily="34" charset="0"/>
                <a:cs typeface="Arial" panose="020B0604020202020204" pitchFamily="34" charset="0"/>
              </a:rPr>
              <a:t>3. AMLR REG. 2024/1624 </a:t>
            </a:r>
            <a:r>
              <a:rPr lang="it-IT" sz="2400" b="1" dirty="0">
                <a:latin typeface="Arial" panose="020B0604020202020204" pitchFamily="34" charset="0"/>
                <a:cs typeface="Arial" panose="020B0604020202020204" pitchFamily="34" charset="0"/>
              </a:rPr>
              <a:t>- </a:t>
            </a:r>
            <a:r>
              <a:rPr lang="it-IT" sz="2400" dirty="0">
                <a:latin typeface="Arial" panose="020B0604020202020204" pitchFamily="34" charset="0"/>
                <a:cs typeface="Arial" panose="020B0604020202020204" pitchFamily="34" charset="0"/>
              </a:rPr>
              <a:t>PRINCIPALI NOVITA’ INTRODOTTE E POSSIBILI IMPATTI SU SISTEMA PROCEDURE E CONTROLLI INTERMEDIARI BANCARI</a:t>
            </a:r>
          </a:p>
        </p:txBody>
      </p:sp>
      <p:sp>
        <p:nvSpPr>
          <p:cNvPr id="3" name="CasellaDiTesto 2">
            <a:extLst>
              <a:ext uri="{FF2B5EF4-FFF2-40B4-BE49-F238E27FC236}">
                <a16:creationId xmlns:a16="http://schemas.microsoft.com/office/drawing/2014/main" id="{9B692265-3622-BFAE-4151-7F29E1DBD547}"/>
              </a:ext>
            </a:extLst>
          </p:cNvPr>
          <p:cNvSpPr txBox="1"/>
          <p:nvPr/>
        </p:nvSpPr>
        <p:spPr>
          <a:xfrm>
            <a:off x="267702" y="1914211"/>
            <a:ext cx="8888329" cy="646331"/>
          </a:xfrm>
          <a:prstGeom prst="rect">
            <a:avLst/>
          </a:prstGeom>
          <a:noFill/>
        </p:spPr>
        <p:txBody>
          <a:bodyPr wrap="square">
            <a:spAutoFit/>
          </a:bodyPr>
          <a:lstStyle/>
          <a:p>
            <a:r>
              <a:rPr lang="it-IT" dirty="0">
                <a:latin typeface="Arial" panose="020B0604020202020204" pitchFamily="34" charset="0"/>
                <a:cs typeface="Arial" panose="020B0604020202020204" pitchFamily="34" charset="0"/>
              </a:rPr>
              <a:t>b</a:t>
            </a:r>
            <a:r>
              <a:rPr lang="it-IT" sz="1800" dirty="0">
                <a:latin typeface="Arial" panose="020B0604020202020204" pitchFamily="34" charset="0"/>
                <a:cs typeface="Arial" panose="020B0604020202020204" pitchFamily="34" charset="0"/>
              </a:rPr>
              <a:t>) AMPLIAMENTO DELLA DEFINIZIONE DI PERSONE POLITICAMENTE ESPOSTE</a:t>
            </a:r>
          </a:p>
        </p:txBody>
      </p:sp>
      <p:graphicFrame>
        <p:nvGraphicFramePr>
          <p:cNvPr id="4" name="Tabella 3">
            <a:extLst>
              <a:ext uri="{FF2B5EF4-FFF2-40B4-BE49-F238E27FC236}">
                <a16:creationId xmlns:a16="http://schemas.microsoft.com/office/drawing/2014/main" id="{FFC1536E-DEFA-94B4-2B17-77D8B7727DEE}"/>
              </a:ext>
            </a:extLst>
          </p:cNvPr>
          <p:cNvGraphicFramePr>
            <a:graphicFrameLocks noGrp="1"/>
          </p:cNvGraphicFramePr>
          <p:nvPr>
            <p:extLst>
              <p:ext uri="{D42A27DB-BD31-4B8C-83A1-F6EECF244321}">
                <p14:modId xmlns:p14="http://schemas.microsoft.com/office/powerpoint/2010/main" val="495682357"/>
              </p:ext>
            </p:extLst>
          </p:nvPr>
        </p:nvGraphicFramePr>
        <p:xfrm>
          <a:off x="365192" y="2290444"/>
          <a:ext cx="8232217" cy="4169733"/>
        </p:xfrm>
        <a:graphic>
          <a:graphicData uri="http://schemas.openxmlformats.org/drawingml/2006/table">
            <a:tbl>
              <a:tblPr firstRow="1" bandRow="1">
                <a:tableStyleId>{5C22544A-7EE6-4342-B048-85BDC9FD1C3A}</a:tableStyleId>
              </a:tblPr>
              <a:tblGrid>
                <a:gridCol w="1338422">
                  <a:extLst>
                    <a:ext uri="{9D8B030D-6E8A-4147-A177-3AD203B41FA5}">
                      <a16:colId xmlns:a16="http://schemas.microsoft.com/office/drawing/2014/main" val="3923469610"/>
                    </a:ext>
                  </a:extLst>
                </a:gridCol>
                <a:gridCol w="3445329">
                  <a:extLst>
                    <a:ext uri="{9D8B030D-6E8A-4147-A177-3AD203B41FA5}">
                      <a16:colId xmlns:a16="http://schemas.microsoft.com/office/drawing/2014/main" val="673082202"/>
                    </a:ext>
                  </a:extLst>
                </a:gridCol>
                <a:gridCol w="3448466">
                  <a:extLst>
                    <a:ext uri="{9D8B030D-6E8A-4147-A177-3AD203B41FA5}">
                      <a16:colId xmlns:a16="http://schemas.microsoft.com/office/drawing/2014/main" val="3831047241"/>
                    </a:ext>
                  </a:extLst>
                </a:gridCol>
              </a:tblGrid>
              <a:tr h="215078">
                <a:tc>
                  <a:txBody>
                    <a:bodyPr/>
                    <a:lstStyle/>
                    <a:p>
                      <a:r>
                        <a:rPr lang="it-IT" sz="1200" b="1"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b="1" dirty="0">
                          <a:latin typeface="Arial" panose="020B0604020202020204" pitchFamily="34" charset="0"/>
                          <a:cs typeface="Arial" panose="020B0604020202020204" pitchFamily="34" charset="0"/>
                        </a:rPr>
                        <a:t>NOVITÀ INTRODOTTE </a:t>
                      </a:r>
                    </a:p>
                  </a:txBody>
                  <a:tcPr>
                    <a:lnB w="12700" cap="flat" cmpd="sng" algn="ctr">
                      <a:solidFill>
                        <a:schemeClr val="tx1"/>
                      </a:solidFill>
                      <a:prstDash val="solid"/>
                      <a:round/>
                      <a:headEnd type="none" w="med" len="med"/>
                      <a:tailEnd type="none" w="med" len="med"/>
                    </a:lnB>
                  </a:tcPr>
                </a:tc>
                <a:tc>
                  <a:txBody>
                    <a:bodyPr/>
                    <a:lstStyle/>
                    <a:p>
                      <a:r>
                        <a:rPr lang="it-IT" sz="1200" b="1" dirty="0">
                          <a:latin typeface="Arial" panose="020B0604020202020204" pitchFamily="34" charset="0"/>
                          <a:cs typeface="Arial" panose="020B0604020202020204" pitchFamily="34" charset="0"/>
                        </a:rPr>
                        <a:t>NOTE</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95676"/>
                  </a:ext>
                </a:extLst>
              </a:tr>
              <a:tr h="908106">
                <a:tc>
                  <a:txBody>
                    <a:bodyPr/>
                    <a:lstStyle/>
                    <a:p>
                      <a:pPr algn="just"/>
                      <a:r>
                        <a:rPr lang="it-IT" sz="1200" dirty="0">
                          <a:latin typeface="Arial" panose="020B0604020202020204" pitchFamily="34" charset="0"/>
                          <a:cs typeface="Arial" panose="020B0604020202020204" pitchFamily="34" charset="0"/>
                        </a:rPr>
                        <a:t>2, nr. 35, lett. d)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Rilevanza ai fini della qualifica di </a:t>
                      </a:r>
                      <a:r>
                        <a:rPr lang="it-IT" sz="1200" b="1" dirty="0">
                          <a:latin typeface="Arial" panose="020B0604020202020204" pitchFamily="34" charset="0"/>
                          <a:cs typeface="Arial" panose="020B0604020202020204" pitchFamily="34" charset="0"/>
                        </a:rPr>
                        <a:t>familiari</a:t>
                      </a:r>
                      <a:r>
                        <a:rPr lang="it-IT" sz="1200" dirty="0">
                          <a:latin typeface="Arial" panose="020B0604020202020204" pitchFamily="34" charset="0"/>
                          <a:cs typeface="Arial" panose="020B0604020202020204" pitchFamily="34" charset="0"/>
                        </a:rPr>
                        <a:t> di Persone Politicamente Esposte del legame di </a:t>
                      </a:r>
                      <a:r>
                        <a:rPr lang="it-IT" sz="1200" b="1" dirty="0">
                          <a:latin typeface="Arial" panose="020B0604020202020204" pitchFamily="34" charset="0"/>
                          <a:cs typeface="Arial" panose="020B0604020202020204" pitchFamily="34" charset="0"/>
                        </a:rPr>
                        <a:t>fratello o sorella</a:t>
                      </a:r>
                      <a:r>
                        <a:rPr lang="it-IT" sz="1200" dirty="0">
                          <a:latin typeface="Arial" panose="020B0604020202020204" pitchFamily="34" charset="0"/>
                          <a:cs typeface="Arial" panose="020B0604020202020204" pitchFamily="34" charset="0"/>
                        </a:rPr>
                        <a:t>, per i Capi di Stato, Capi di Governo, Ministri e Viceministri o sottosegretari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Ove giustificato dalle strutture sociali e culturali e dal rischio rispettivi, gli Stati membri </a:t>
                      </a:r>
                      <a:r>
                        <a:rPr lang="it-IT" sz="1200" b="1" dirty="0">
                          <a:latin typeface="Arial" panose="020B0604020202020204" pitchFamily="34" charset="0"/>
                          <a:cs typeface="Arial" panose="020B0604020202020204" pitchFamily="34" charset="0"/>
                        </a:rPr>
                        <a:t>possono applicare un ambito di applicazione più ampio </a:t>
                      </a:r>
                      <a:r>
                        <a:rPr lang="it-IT" sz="1200" dirty="0">
                          <a:latin typeface="Arial" panose="020B0604020202020204" pitchFamily="34" charset="0"/>
                          <a:cs typeface="Arial" panose="020B0604020202020204" pitchFamily="34" charset="0"/>
                        </a:rPr>
                        <a:t>per le designazioni di fratelli e sorelle, mediante </a:t>
                      </a:r>
                      <a:r>
                        <a:rPr lang="it-IT" sz="1200" b="1" dirty="0">
                          <a:latin typeface="Arial" panose="020B0604020202020204" pitchFamily="34" charset="0"/>
                          <a:cs typeface="Arial" panose="020B0604020202020204" pitchFamily="34" charset="0"/>
                        </a:rPr>
                        <a:t>notifica alla Commissione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2136724"/>
                  </a:ext>
                </a:extLst>
              </a:tr>
              <a:tr h="107538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2, nr. 34, lett. A), punto III) Reg. 2024/1624</a:t>
                      </a:r>
                    </a:p>
                    <a:p>
                      <a:pPr algn="just"/>
                      <a:endParaRPr lang="it-IT" sz="1200" b="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Estensione della qualifica di </a:t>
                      </a:r>
                      <a:r>
                        <a:rPr lang="it-IT" sz="1200" dirty="0" err="1">
                          <a:latin typeface="Arial" panose="020B0604020202020204" pitchFamily="34" charset="0"/>
                          <a:cs typeface="Arial" panose="020B0604020202020204" pitchFamily="34" charset="0"/>
                        </a:rPr>
                        <a:t>Pep</a:t>
                      </a:r>
                      <a:r>
                        <a:rPr lang="it-IT" sz="1200" dirty="0">
                          <a:latin typeface="Arial" panose="020B0604020202020204" pitchFamily="34" charset="0"/>
                          <a:cs typeface="Arial" panose="020B0604020202020204" pitchFamily="34" charset="0"/>
                        </a:rPr>
                        <a:t> anche ai membri degli organi direttivi di partiti politici che occupano seggi in organi </a:t>
                      </a:r>
                      <a:r>
                        <a:rPr lang="it-IT" sz="1200" b="1" dirty="0">
                          <a:latin typeface="Arial" panose="020B0604020202020204" pitchFamily="34" charset="0"/>
                          <a:cs typeface="Arial" panose="020B0604020202020204" pitchFamily="34" charset="0"/>
                        </a:rPr>
                        <a:t>esecutivi o legislativi regionali o locali </a:t>
                      </a:r>
                      <a:r>
                        <a:rPr lang="it-IT" sz="1200" dirty="0">
                          <a:latin typeface="Arial" panose="020B0604020202020204" pitchFamily="34" charset="0"/>
                          <a:cs typeface="Arial" panose="020B0604020202020204" pitchFamily="34" charset="0"/>
                        </a:rPr>
                        <a:t>che rappresentano circoscrizioni di almeno </a:t>
                      </a:r>
                      <a:r>
                        <a:rPr lang="it-IT" sz="1200" b="1" dirty="0">
                          <a:latin typeface="Arial" panose="020B0604020202020204" pitchFamily="34" charset="0"/>
                          <a:cs typeface="Arial" panose="020B0604020202020204" pitchFamily="34" charset="0"/>
                        </a:rPr>
                        <a:t>50.000 abitanti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Possibile applicazione di </a:t>
                      </a:r>
                      <a:r>
                        <a:rPr lang="it-IT" sz="1200" b="1" dirty="0">
                          <a:latin typeface="Arial" panose="020B0604020202020204" pitchFamily="34" charset="0"/>
                          <a:cs typeface="Arial" panose="020B0604020202020204" pitchFamily="34" charset="0"/>
                        </a:rPr>
                        <a:t>soglie inferiori </a:t>
                      </a:r>
                      <a:r>
                        <a:rPr lang="it-IT" sz="1200" dirty="0">
                          <a:latin typeface="Arial" panose="020B0604020202020204" pitchFamily="34" charset="0"/>
                          <a:cs typeface="Arial" panose="020B0604020202020204" pitchFamily="34" charset="0"/>
                        </a:rPr>
                        <a:t>da parte degli Stati membri, mediante notifica alla Commissione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195292"/>
                  </a:ext>
                </a:extLst>
              </a:tr>
              <a:tr h="740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2, nr. 34, lett. A), punto VII)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Estensione della qualifica di PEP anche ai membri degli organi di amministrazione, direzione o sorveglianza di </a:t>
                      </a:r>
                      <a:r>
                        <a:rPr lang="it-IT" sz="1200" b="1" dirty="0">
                          <a:latin typeface="Arial" panose="020B0604020202020204" pitchFamily="34" charset="0"/>
                          <a:cs typeface="Arial" panose="020B0604020202020204" pitchFamily="34" charset="0"/>
                        </a:rPr>
                        <a:t>imprese controllate dalle autorità regionali o locali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endParaRPr lang="it-IT" sz="12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4066483"/>
                  </a:ext>
                </a:extLst>
              </a:tr>
              <a:tr h="9912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2, nr. 34, lett. A), punto VIII)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Estensione della qualifica di PEP anche ai </a:t>
                      </a:r>
                      <a:r>
                        <a:rPr lang="it-IT" sz="1200" b="1" dirty="0">
                          <a:latin typeface="Arial" panose="020B0604020202020204" pitchFamily="34" charset="0"/>
                          <a:cs typeface="Arial" panose="020B0604020202020204" pitchFamily="34" charset="0"/>
                        </a:rPr>
                        <a:t>Capi di autorità regionali e locali</a:t>
                      </a:r>
                      <a:r>
                        <a:rPr lang="it-IT" sz="1200" dirty="0">
                          <a:latin typeface="Arial" panose="020B0604020202020204" pitchFamily="34" charset="0"/>
                          <a:cs typeface="Arial" panose="020B0604020202020204" pitchFamily="34" charset="0"/>
                        </a:rPr>
                        <a:t>, compresi i raggruppamenti di Comuni e le regioni metropolitane con </a:t>
                      </a:r>
                      <a:r>
                        <a:rPr lang="it-IT" sz="1200" b="1" dirty="0">
                          <a:latin typeface="Arial" panose="020B0604020202020204" pitchFamily="34" charset="0"/>
                          <a:cs typeface="Arial" panose="020B0604020202020204" pitchFamily="34" charset="0"/>
                        </a:rPr>
                        <a:t>almeno 50000 abitanti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Possibile applicazione di </a:t>
                      </a:r>
                      <a:r>
                        <a:rPr lang="it-IT" sz="1200" b="1" dirty="0">
                          <a:latin typeface="Arial" panose="020B0604020202020204" pitchFamily="34" charset="0"/>
                          <a:cs typeface="Arial" panose="020B0604020202020204" pitchFamily="34" charset="0"/>
                        </a:rPr>
                        <a:t>soglie inferiori </a:t>
                      </a:r>
                      <a:r>
                        <a:rPr lang="it-IT" sz="1200" dirty="0">
                          <a:latin typeface="Arial" panose="020B0604020202020204" pitchFamily="34" charset="0"/>
                          <a:cs typeface="Arial" panose="020B0604020202020204" pitchFamily="34" charset="0"/>
                        </a:rPr>
                        <a:t>da parte degli Stati membri, mediante notifica alla Commissione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515633"/>
                  </a:ext>
                </a:extLst>
              </a:tr>
            </a:tbl>
          </a:graphicData>
        </a:graphic>
      </p:graphicFrame>
      <p:grpSp>
        <p:nvGrpSpPr>
          <p:cNvPr id="13" name="Gruppo 12">
            <a:extLst>
              <a:ext uri="{FF2B5EF4-FFF2-40B4-BE49-F238E27FC236}">
                <a16:creationId xmlns:a16="http://schemas.microsoft.com/office/drawing/2014/main" id="{A86E36DD-1889-BEBC-C852-FF4B26DA4683}"/>
              </a:ext>
            </a:extLst>
          </p:cNvPr>
          <p:cNvGrpSpPr/>
          <p:nvPr/>
        </p:nvGrpSpPr>
        <p:grpSpPr>
          <a:xfrm>
            <a:off x="8637973" y="2181213"/>
            <a:ext cx="3505675" cy="2716112"/>
            <a:chOff x="400595" y="1811383"/>
            <a:chExt cx="4311272" cy="2711144"/>
          </a:xfrm>
        </p:grpSpPr>
        <p:sp>
          <p:nvSpPr>
            <p:cNvPr id="11" name="Rettangolo 10">
              <a:extLst>
                <a:ext uri="{FF2B5EF4-FFF2-40B4-BE49-F238E27FC236}">
                  <a16:creationId xmlns:a16="http://schemas.microsoft.com/office/drawing/2014/main" id="{89165836-67F9-C3C1-55EA-88541FEFB0C1}"/>
                </a:ext>
              </a:extLst>
            </p:cNvPr>
            <p:cNvSpPr/>
            <p:nvPr/>
          </p:nvSpPr>
          <p:spPr>
            <a:xfrm>
              <a:off x="400595" y="1811383"/>
              <a:ext cx="4311272" cy="2711144"/>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a:latin typeface="Arial" panose="020B0604020202020204" pitchFamily="34" charset="0"/>
                <a:cs typeface="Arial" panose="020B0604020202020204" pitchFamily="34" charset="0"/>
              </a:endParaRPr>
            </a:p>
          </p:txBody>
        </p:sp>
        <p:sp>
          <p:nvSpPr>
            <p:cNvPr id="8" name="CasellaDiTesto 7">
              <a:extLst>
                <a:ext uri="{FF2B5EF4-FFF2-40B4-BE49-F238E27FC236}">
                  <a16:creationId xmlns:a16="http://schemas.microsoft.com/office/drawing/2014/main" id="{898D7A25-5E5E-D167-A7EA-3322F901CEDE}"/>
                </a:ext>
              </a:extLst>
            </p:cNvPr>
            <p:cNvSpPr txBox="1"/>
            <p:nvPr/>
          </p:nvSpPr>
          <p:spPr>
            <a:xfrm>
              <a:off x="1332581" y="1828126"/>
              <a:ext cx="3379286" cy="2677656"/>
            </a:xfrm>
            <a:prstGeom prst="rect">
              <a:avLst/>
            </a:prstGeom>
            <a:solidFill>
              <a:schemeClr val="bg1">
                <a:lumMod val="95000"/>
              </a:schemeClr>
            </a:solidFill>
          </p:spPr>
          <p:txBody>
            <a:bodyPr wrap="square" rtlCol="0">
              <a:spAutoFit/>
            </a:bodyPr>
            <a:lstStyle/>
            <a:p>
              <a:r>
                <a:rPr lang="it-IT" sz="1400" b="1" u="sng" dirty="0">
                  <a:latin typeface="Arial" panose="020B0604020202020204" pitchFamily="34" charset="0"/>
                  <a:cs typeface="Arial" panose="020B0604020202020204" pitchFamily="34" charset="0"/>
                </a:rPr>
                <a:t>Possibili impatti su</a:t>
              </a:r>
              <a:r>
                <a:rPr lang="it-IT" sz="14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Policy (necessità di integrare la Policy AML con le  nuove definizioni di PEP);</a:t>
              </a: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Processi e Procedure (individuazione mediante procedure anche informatiche delle nuove figure di PEP);</a:t>
              </a: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controlli di primo – secondo e terzo livello;</a:t>
              </a:r>
            </a:p>
            <a:p>
              <a:pPr marL="285750" indent="-285750">
                <a:buFont typeface="Arial" panose="020B0604020202020204" pitchFamily="34" charset="0"/>
                <a:buChar char="•"/>
              </a:pPr>
              <a:r>
                <a:rPr lang="it-IT" sz="1400" dirty="0">
                  <a:latin typeface="Arial" panose="020B0604020202020204" pitchFamily="34" charset="0"/>
                  <a:cs typeface="Arial" panose="020B0604020202020204" pitchFamily="34" charset="0"/>
                </a:rPr>
                <a:t>Formazione</a:t>
              </a:r>
            </a:p>
          </p:txBody>
        </p:sp>
      </p:grpSp>
      <p:pic>
        <p:nvPicPr>
          <p:cNvPr id="14" name="Immagine 13">
            <a:extLst>
              <a:ext uri="{FF2B5EF4-FFF2-40B4-BE49-F238E27FC236}">
                <a16:creationId xmlns:a16="http://schemas.microsoft.com/office/drawing/2014/main" id="{28E10F04-D4C5-4EDA-B881-E57B83AB7A84}"/>
              </a:ext>
            </a:extLst>
          </p:cNvPr>
          <p:cNvPicPr>
            <a:picLocks noChangeAspect="1"/>
          </p:cNvPicPr>
          <p:nvPr/>
        </p:nvPicPr>
        <p:blipFill>
          <a:blip r:embed="rId2"/>
          <a:stretch>
            <a:fillRect/>
          </a:stretch>
        </p:blipFill>
        <p:spPr>
          <a:xfrm>
            <a:off x="8837188" y="2257011"/>
            <a:ext cx="482395" cy="424041"/>
          </a:xfrm>
          <a:prstGeom prst="rect">
            <a:avLst/>
          </a:prstGeom>
        </p:spPr>
      </p:pic>
    </p:spTree>
    <p:extLst>
      <p:ext uri="{BB962C8B-B14F-4D97-AF65-F5344CB8AC3E}">
        <p14:creationId xmlns:p14="http://schemas.microsoft.com/office/powerpoint/2010/main" val="2434750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71AA271D-9304-24B7-1624-C591AD35B813}"/>
              </a:ext>
            </a:extLst>
          </p:cNvPr>
          <p:cNvSpPr txBox="1"/>
          <p:nvPr/>
        </p:nvSpPr>
        <p:spPr>
          <a:xfrm>
            <a:off x="237623" y="861945"/>
            <a:ext cx="6106026" cy="369332"/>
          </a:xfrm>
          <a:prstGeom prst="rect">
            <a:avLst/>
          </a:prstGeom>
          <a:noFill/>
        </p:spPr>
        <p:txBody>
          <a:bodyPr wrap="square">
            <a:spAutoFit/>
          </a:bodyPr>
          <a:lstStyle/>
          <a:p>
            <a:r>
              <a:rPr lang="it-IT" sz="1800" dirty="0">
                <a:latin typeface="Arial" panose="020B0604020202020204" pitchFamily="34" charset="0"/>
                <a:cs typeface="Arial" panose="020B0604020202020204" pitchFamily="34" charset="0"/>
              </a:rPr>
              <a:t>c) ELENCO DELLE IMPORTANTI CARICHE PUBBLICHE</a:t>
            </a:r>
          </a:p>
        </p:txBody>
      </p:sp>
      <p:graphicFrame>
        <p:nvGraphicFramePr>
          <p:cNvPr id="6" name="Tabella 5">
            <a:extLst>
              <a:ext uri="{FF2B5EF4-FFF2-40B4-BE49-F238E27FC236}">
                <a16:creationId xmlns:a16="http://schemas.microsoft.com/office/drawing/2014/main" id="{F9B33C64-695B-594E-2964-9485CC2E6DF4}"/>
              </a:ext>
            </a:extLst>
          </p:cNvPr>
          <p:cNvGraphicFramePr>
            <a:graphicFrameLocks noGrp="1"/>
          </p:cNvGraphicFramePr>
          <p:nvPr>
            <p:extLst>
              <p:ext uri="{D42A27DB-BD31-4B8C-83A1-F6EECF244321}">
                <p14:modId xmlns:p14="http://schemas.microsoft.com/office/powerpoint/2010/main" val="2402604657"/>
              </p:ext>
            </p:extLst>
          </p:nvPr>
        </p:nvGraphicFramePr>
        <p:xfrm>
          <a:off x="297494" y="1308437"/>
          <a:ext cx="8879864" cy="3013753"/>
        </p:xfrm>
        <a:graphic>
          <a:graphicData uri="http://schemas.openxmlformats.org/drawingml/2006/table">
            <a:tbl>
              <a:tblPr firstRow="1" bandRow="1">
                <a:tableStyleId>{5C22544A-7EE6-4342-B048-85BDC9FD1C3A}</a:tableStyleId>
              </a:tblPr>
              <a:tblGrid>
                <a:gridCol w="1333691">
                  <a:extLst>
                    <a:ext uri="{9D8B030D-6E8A-4147-A177-3AD203B41FA5}">
                      <a16:colId xmlns:a16="http://schemas.microsoft.com/office/drawing/2014/main" val="3923469610"/>
                    </a:ext>
                  </a:extLst>
                </a:gridCol>
                <a:gridCol w="7546173">
                  <a:extLst>
                    <a:ext uri="{9D8B030D-6E8A-4147-A177-3AD203B41FA5}">
                      <a16:colId xmlns:a16="http://schemas.microsoft.com/office/drawing/2014/main" val="673082202"/>
                    </a:ext>
                  </a:extLst>
                </a:gridCol>
              </a:tblGrid>
              <a:tr h="251987">
                <a:tc>
                  <a:txBody>
                    <a:bodyPr/>
                    <a:lstStyle/>
                    <a:p>
                      <a:r>
                        <a:rPr lang="it-IT" sz="1200" b="1"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b="1" dirty="0">
                          <a:latin typeface="Arial" panose="020B0604020202020204" pitchFamily="34" charset="0"/>
                          <a:cs typeface="Arial" panose="020B0604020202020204" pitchFamily="34" charset="0"/>
                        </a:rPr>
                        <a:t>NOVITÀ INTRODOTTE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95676"/>
                  </a:ext>
                </a:extLst>
              </a:tr>
              <a:tr h="867955">
                <a:tc>
                  <a:txBody>
                    <a:bodyPr/>
                    <a:lstStyle/>
                    <a:p>
                      <a:pPr algn="just"/>
                      <a:r>
                        <a:rPr lang="it-IT" sz="1200" dirty="0">
                          <a:latin typeface="Arial" panose="020B0604020202020204" pitchFamily="34" charset="0"/>
                          <a:cs typeface="Arial" panose="020B0604020202020204" pitchFamily="34" charset="0"/>
                        </a:rPr>
                        <a:t>43 comma 1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Ogni Stato membro </a:t>
                      </a:r>
                      <a:r>
                        <a:rPr lang="it-IT" sz="1200" b="1" dirty="0">
                          <a:latin typeface="Arial" panose="020B0604020202020204" pitchFamily="34" charset="0"/>
                          <a:cs typeface="Arial" panose="020B0604020202020204" pitchFamily="34" charset="0"/>
                        </a:rPr>
                        <a:t>è tenuto a pubblicare e aggiornare un elenco</a:t>
                      </a:r>
                      <a:r>
                        <a:rPr lang="it-IT" sz="1200" dirty="0">
                          <a:latin typeface="Arial" panose="020B0604020202020204" pitchFamily="34" charset="0"/>
                          <a:cs typeface="Arial" panose="020B0604020202020204" pitchFamily="34" charset="0"/>
                        </a:rPr>
                        <a:t> indicante esattamente le funzioni che, conformemente alle sue disposizioni legislative, regolamentari e amministrative nazionali, sono considerate </a:t>
                      </a:r>
                      <a:r>
                        <a:rPr lang="it-IT" sz="1200" b="1" dirty="0">
                          <a:latin typeface="Arial" panose="020B0604020202020204" pitchFamily="34" charset="0"/>
                          <a:cs typeface="Arial" panose="020B0604020202020204" pitchFamily="34" charset="0"/>
                        </a:rPr>
                        <a:t>cariche pubbliche </a:t>
                      </a:r>
                      <a:r>
                        <a:rPr lang="it-IT" sz="1200" dirty="0">
                          <a:latin typeface="Arial" panose="020B0604020202020204" pitchFamily="34" charset="0"/>
                          <a:cs typeface="Arial" panose="020B0604020202020204" pitchFamily="34" charset="0"/>
                        </a:rPr>
                        <a:t>ai fini della definizione di Persona Politicamente Esposta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2136724"/>
                  </a:ext>
                </a:extLst>
              </a:tr>
              <a:tr h="67196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43, comma 1 Reg. 2024/1624</a:t>
                      </a:r>
                    </a:p>
                    <a:p>
                      <a:pPr algn="just"/>
                      <a:endParaRPr lang="it-IT" sz="1200" b="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Ogni </a:t>
                      </a:r>
                      <a:r>
                        <a:rPr lang="it-IT" sz="1200" b="1" dirty="0">
                          <a:latin typeface="Arial" panose="020B0604020202020204" pitchFamily="34" charset="0"/>
                          <a:cs typeface="Arial" panose="020B0604020202020204" pitchFamily="34" charset="0"/>
                        </a:rPr>
                        <a:t>Organizzazione Internazionale </a:t>
                      </a:r>
                      <a:r>
                        <a:rPr lang="it-IT" sz="1200" dirty="0">
                          <a:latin typeface="Arial" panose="020B0604020202020204" pitchFamily="34" charset="0"/>
                          <a:cs typeface="Arial" panose="020B0604020202020204" pitchFamily="34" charset="0"/>
                        </a:rPr>
                        <a:t>accreditata in ciascun Stato membro </a:t>
                      </a:r>
                      <a:r>
                        <a:rPr lang="it-IT" sz="1200" b="1" dirty="0">
                          <a:latin typeface="Arial" panose="020B0604020202020204" pitchFamily="34" charset="0"/>
                          <a:cs typeface="Arial" panose="020B0604020202020204" pitchFamily="34" charset="0"/>
                        </a:rPr>
                        <a:t>è tenuta a pubblicare e aggiornare un elenco delle importanti cariche pubbliche</a:t>
                      </a:r>
                      <a:r>
                        <a:rPr lang="it-IT" sz="1200" dirty="0">
                          <a:latin typeface="Arial" panose="020B0604020202020204" pitchFamily="34" charset="0"/>
                          <a:cs typeface="Arial" panose="020B0604020202020204" pitchFamily="34" charset="0"/>
                        </a:rPr>
                        <a:t> presso tale Organizzazione rilevanti ai fini della definizione di Persona Politicamente Esposta</a:t>
                      </a:r>
                      <a:endParaRPr lang="it-IT" sz="1200" b="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60195292"/>
                  </a:ext>
                </a:extLst>
              </a:tr>
              <a:tr h="4759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43, comma 4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La </a:t>
                      </a:r>
                      <a:r>
                        <a:rPr lang="it-IT" sz="1200" b="1" dirty="0">
                          <a:latin typeface="Arial" panose="020B0604020202020204" pitchFamily="34" charset="0"/>
                          <a:cs typeface="Arial" panose="020B0604020202020204" pitchFamily="34" charset="0"/>
                        </a:rPr>
                        <a:t>Commissione redige e aggiorna l’elenco </a:t>
                      </a:r>
                      <a:r>
                        <a:rPr lang="it-IT" sz="1200" dirty="0">
                          <a:latin typeface="Arial" panose="020B0604020202020204" pitchFamily="34" charset="0"/>
                          <a:cs typeface="Arial" panose="020B0604020202020204" pitchFamily="34" charset="0"/>
                        </a:rPr>
                        <a:t>esatto delle funzioni che sono considerate importanti cariche pubbliche a livello dell’Unione</a:t>
                      </a:r>
                      <a:endParaRPr lang="it-IT" sz="1200" b="1"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4066483"/>
                  </a:ext>
                </a:extLst>
              </a:tr>
              <a:tr h="7235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43 comma 5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La Commissione </a:t>
                      </a:r>
                      <a:r>
                        <a:rPr lang="it-IT" sz="1200" b="1" dirty="0">
                          <a:latin typeface="Arial" panose="020B0604020202020204" pitchFamily="34" charset="0"/>
                          <a:cs typeface="Arial" panose="020B0604020202020204" pitchFamily="34" charset="0"/>
                        </a:rPr>
                        <a:t>redige, sulla base degli elenchi suddetti, un elenco unico di tutte le importanti cariche pubbliche </a:t>
                      </a:r>
                      <a:r>
                        <a:rPr lang="it-IT" sz="1200" dirty="0">
                          <a:latin typeface="Arial" panose="020B0604020202020204" pitchFamily="34" charset="0"/>
                          <a:cs typeface="Arial" panose="020B0604020202020204" pitchFamily="34" charset="0"/>
                        </a:rPr>
                        <a:t>e pubblica lo stesso sulla Gazzetta Ufficiale Europea.</a:t>
                      </a:r>
                    </a:p>
                    <a:p>
                      <a:pPr algn="just"/>
                      <a:r>
                        <a:rPr lang="it-IT" sz="1200" b="1" dirty="0">
                          <a:latin typeface="Arial" panose="020B0604020202020204" pitchFamily="34" charset="0"/>
                          <a:cs typeface="Arial" panose="020B0604020202020204" pitchFamily="34" charset="0"/>
                        </a:rPr>
                        <a:t>L’</a:t>
                      </a:r>
                      <a:r>
                        <a:rPr lang="it-IT" sz="1200" b="1" dirty="0" err="1">
                          <a:latin typeface="Arial" panose="020B0604020202020204" pitchFamily="34" charset="0"/>
                          <a:cs typeface="Arial" panose="020B0604020202020204" pitchFamily="34" charset="0"/>
                        </a:rPr>
                        <a:t>Amla</a:t>
                      </a:r>
                      <a:r>
                        <a:rPr lang="it-IT" sz="1200" b="1" dirty="0">
                          <a:latin typeface="Arial" panose="020B0604020202020204" pitchFamily="34" charset="0"/>
                          <a:cs typeface="Arial" panose="020B0604020202020204" pitchFamily="34" charset="0"/>
                        </a:rPr>
                        <a:t> mette tale elenco a disposizione del pubblico sul sito web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9515633"/>
                  </a:ext>
                </a:extLst>
              </a:tr>
            </a:tbl>
          </a:graphicData>
        </a:graphic>
      </p:graphicFrame>
      <p:sp>
        <p:nvSpPr>
          <p:cNvPr id="4" name="Rettangolo 3">
            <a:extLst>
              <a:ext uri="{FF2B5EF4-FFF2-40B4-BE49-F238E27FC236}">
                <a16:creationId xmlns:a16="http://schemas.microsoft.com/office/drawing/2014/main" id="{4BA63D64-6865-246E-1FB9-554B23A8324F}"/>
              </a:ext>
            </a:extLst>
          </p:cNvPr>
          <p:cNvSpPr/>
          <p:nvPr/>
        </p:nvSpPr>
        <p:spPr>
          <a:xfrm>
            <a:off x="1846554" y="4642756"/>
            <a:ext cx="7270231" cy="1926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it-IT" sz="1400" dirty="0">
                <a:latin typeface="Arial" panose="020B0604020202020204" pitchFamily="34" charset="0"/>
                <a:cs typeface="Arial" panose="020B0604020202020204" pitchFamily="34" charset="0"/>
              </a:rPr>
              <a:t>Entro il 10 luglio 2027 l’</a:t>
            </a:r>
            <a:r>
              <a:rPr lang="it-IT" sz="1400" dirty="0" err="1">
                <a:latin typeface="Arial" panose="020B0604020202020204" pitchFamily="34" charset="0"/>
                <a:cs typeface="Arial" panose="020B0604020202020204" pitchFamily="34" charset="0"/>
              </a:rPr>
              <a:t>Amla</a:t>
            </a:r>
            <a:r>
              <a:rPr lang="it-IT" sz="1400" dirty="0">
                <a:latin typeface="Arial" panose="020B0604020202020204" pitchFamily="34" charset="0"/>
                <a:cs typeface="Arial" panose="020B0604020202020204" pitchFamily="34" charset="0"/>
              </a:rPr>
              <a:t> emanerà orientamenti su:</a:t>
            </a:r>
          </a:p>
          <a:p>
            <a:pPr marL="342900" indent="-342900" algn="just">
              <a:buAutoNum type="alphaLcParenR"/>
            </a:pPr>
            <a:r>
              <a:rPr lang="it-IT" sz="1400" dirty="0">
                <a:latin typeface="Arial" panose="020B0604020202020204" pitchFamily="34" charset="0"/>
                <a:cs typeface="Arial" panose="020B0604020202020204" pitchFamily="34" charset="0"/>
              </a:rPr>
              <a:t>Criteri per identificazione dei soggetti coi quali le PEP intrattengono </a:t>
            </a:r>
            <a:r>
              <a:rPr lang="it-IT" sz="1400" dirty="0" err="1">
                <a:latin typeface="Arial" panose="020B0604020202020204" pitchFamily="34" charset="0"/>
                <a:cs typeface="Arial" panose="020B0604020202020204" pitchFamily="34" charset="0"/>
              </a:rPr>
              <a:t>notoriam,ente</a:t>
            </a:r>
            <a:r>
              <a:rPr lang="it-IT" sz="1400" dirty="0">
                <a:latin typeface="Arial" panose="020B0604020202020204" pitchFamily="34" charset="0"/>
                <a:cs typeface="Arial" panose="020B0604020202020204" pitchFamily="34" charset="0"/>
              </a:rPr>
              <a:t> stretti legami;</a:t>
            </a:r>
          </a:p>
          <a:p>
            <a:pPr marL="342900" indent="-342900" algn="just">
              <a:buAutoNum type="alphaLcParenR"/>
            </a:pPr>
            <a:r>
              <a:rPr lang="it-IT" sz="1400" dirty="0">
                <a:latin typeface="Arial" panose="020B0604020202020204" pitchFamily="34" charset="0"/>
                <a:cs typeface="Arial" panose="020B0604020202020204" pitchFamily="34" charset="0"/>
              </a:rPr>
              <a:t>Il livello di rischio associato a una particolare categoria di persone politicamente esposte, al familiare o a un soggetto col quale le PEP </a:t>
            </a:r>
            <a:r>
              <a:rPr lang="it-IT" sz="1400" dirty="0" err="1">
                <a:latin typeface="Arial" panose="020B0604020202020204" pitchFamily="34" charset="0"/>
                <a:cs typeface="Arial" panose="020B0604020202020204" pitchFamily="34" charset="0"/>
              </a:rPr>
              <a:t>intrattiengono</a:t>
            </a:r>
            <a:r>
              <a:rPr lang="it-IT" sz="1400" dirty="0">
                <a:latin typeface="Arial" panose="020B0604020202020204" pitchFamily="34" charset="0"/>
                <a:cs typeface="Arial" panose="020B0604020202020204" pitchFamily="34" charset="0"/>
              </a:rPr>
              <a:t> stretti legami, </a:t>
            </a:r>
            <a:r>
              <a:rPr lang="it-IT" sz="1400" dirty="0" err="1">
                <a:latin typeface="Arial" panose="020B0604020202020204" pitchFamily="34" charset="0"/>
                <a:cs typeface="Arial" panose="020B0604020202020204" pitchFamily="34" charset="0"/>
              </a:rPr>
              <a:t>compres</a:t>
            </a:r>
            <a:r>
              <a:rPr lang="it-IT" sz="1400" dirty="0">
                <a:latin typeface="Arial" panose="020B0604020202020204" pitchFamily="34" charset="0"/>
                <a:cs typeface="Arial" panose="020B0604020202020204" pitchFamily="34" charset="0"/>
              </a:rPr>
              <a:t> gli orientamenti sulle modalità di valutazione di tali rischi quando la persona non ricopre più un’importante carica pubblica</a:t>
            </a:r>
          </a:p>
        </p:txBody>
      </p:sp>
      <p:grpSp>
        <p:nvGrpSpPr>
          <p:cNvPr id="7" name="Gruppo 6">
            <a:extLst>
              <a:ext uri="{FF2B5EF4-FFF2-40B4-BE49-F238E27FC236}">
                <a16:creationId xmlns:a16="http://schemas.microsoft.com/office/drawing/2014/main" id="{764E335A-E7C3-BA0E-0978-033EF8465FCE}"/>
              </a:ext>
            </a:extLst>
          </p:cNvPr>
          <p:cNvGrpSpPr/>
          <p:nvPr/>
        </p:nvGrpSpPr>
        <p:grpSpPr>
          <a:xfrm>
            <a:off x="9307761" y="1308437"/>
            <a:ext cx="2801381" cy="2655470"/>
            <a:chOff x="1164836" y="1811383"/>
            <a:chExt cx="3547031" cy="2711144"/>
          </a:xfrm>
        </p:grpSpPr>
        <p:sp>
          <p:nvSpPr>
            <p:cNvPr id="8" name="Rettangolo 7">
              <a:extLst>
                <a:ext uri="{FF2B5EF4-FFF2-40B4-BE49-F238E27FC236}">
                  <a16:creationId xmlns:a16="http://schemas.microsoft.com/office/drawing/2014/main" id="{192ADFE2-B9A6-FC5D-CEE7-49D14676D2D8}"/>
                </a:ext>
              </a:extLst>
            </p:cNvPr>
            <p:cNvSpPr/>
            <p:nvPr/>
          </p:nvSpPr>
          <p:spPr>
            <a:xfrm>
              <a:off x="1164836" y="1811383"/>
              <a:ext cx="3547031" cy="2711144"/>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it-IT" sz="1400">
                <a:latin typeface="Arial" panose="020B0604020202020204" pitchFamily="34" charset="0"/>
                <a:cs typeface="Arial" panose="020B0604020202020204" pitchFamily="34" charset="0"/>
              </a:endParaRPr>
            </a:p>
          </p:txBody>
        </p:sp>
        <p:sp>
          <p:nvSpPr>
            <p:cNvPr id="10" name="CasellaDiTesto 9">
              <a:extLst>
                <a:ext uri="{FF2B5EF4-FFF2-40B4-BE49-F238E27FC236}">
                  <a16:creationId xmlns:a16="http://schemas.microsoft.com/office/drawing/2014/main" id="{C584A92D-3D6E-74F3-9808-971CE6AC7163}"/>
                </a:ext>
              </a:extLst>
            </p:cNvPr>
            <p:cNvSpPr txBox="1"/>
            <p:nvPr/>
          </p:nvSpPr>
          <p:spPr>
            <a:xfrm>
              <a:off x="2150637" y="1896820"/>
              <a:ext cx="2262917" cy="2513835"/>
            </a:xfrm>
            <a:prstGeom prst="rect">
              <a:avLst/>
            </a:prstGeom>
            <a:solidFill>
              <a:schemeClr val="bg1">
                <a:lumMod val="95000"/>
              </a:schemeClr>
            </a:solidFill>
          </p:spPr>
          <p:txBody>
            <a:bodyPr wrap="square" rtlCol="0">
              <a:spAutoFit/>
            </a:bodyPr>
            <a:lstStyle/>
            <a:p>
              <a:r>
                <a:rPr lang="it-IT" sz="1400" b="1" u="sng" dirty="0">
                  <a:latin typeface="Arial" panose="020B0604020202020204" pitchFamily="34" charset="0"/>
                  <a:cs typeface="Arial" panose="020B0604020202020204" pitchFamily="34" charset="0"/>
                </a:rPr>
                <a:t>Possibili impatti su</a:t>
              </a:r>
              <a:r>
                <a:rPr lang="it-IT" sz="1400"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it-IT" sz="1400" dirty="0">
                  <a:latin typeface="Arial" panose="020B0604020202020204" pitchFamily="34" charset="0"/>
                  <a:cs typeface="Arial" panose="020B0604020202020204" pitchFamily="34" charset="0"/>
                </a:rPr>
                <a:t>Procedure (interrogazione lista ufficiale AMLA);</a:t>
              </a:r>
            </a:p>
            <a:p>
              <a:pPr marL="342900" indent="-342900">
                <a:buFont typeface="Arial" panose="020B0604020202020204" pitchFamily="34" charset="0"/>
                <a:buChar char="•"/>
              </a:pPr>
              <a:r>
                <a:rPr lang="it-IT" sz="1400" dirty="0">
                  <a:latin typeface="Arial" panose="020B0604020202020204" pitchFamily="34" charset="0"/>
                  <a:cs typeface="Arial" panose="020B0604020202020204" pitchFamily="34" charset="0"/>
                </a:rPr>
                <a:t>controlli di primo – secondo e terzo livello;</a:t>
              </a:r>
            </a:p>
            <a:p>
              <a:pPr marL="342900" indent="-342900">
                <a:buFont typeface="Arial" panose="020B0604020202020204" pitchFamily="34" charset="0"/>
                <a:buChar char="•"/>
              </a:pPr>
              <a:r>
                <a:rPr lang="it-IT" sz="1400" dirty="0">
                  <a:latin typeface="Arial" panose="020B0604020202020204" pitchFamily="34" charset="0"/>
                  <a:cs typeface="Arial" panose="020B0604020202020204" pitchFamily="34" charset="0"/>
                </a:rPr>
                <a:t>Formazione</a:t>
              </a:r>
            </a:p>
          </p:txBody>
        </p:sp>
      </p:grpSp>
      <p:pic>
        <p:nvPicPr>
          <p:cNvPr id="11" name="Immagine 10">
            <a:extLst>
              <a:ext uri="{FF2B5EF4-FFF2-40B4-BE49-F238E27FC236}">
                <a16:creationId xmlns:a16="http://schemas.microsoft.com/office/drawing/2014/main" id="{88CF5177-EA16-47C6-FC1A-CBC925AF5DD9}"/>
              </a:ext>
            </a:extLst>
          </p:cNvPr>
          <p:cNvPicPr>
            <a:picLocks noChangeAspect="1"/>
          </p:cNvPicPr>
          <p:nvPr/>
        </p:nvPicPr>
        <p:blipFill>
          <a:blip r:embed="rId2"/>
          <a:stretch>
            <a:fillRect/>
          </a:stretch>
        </p:blipFill>
        <p:spPr>
          <a:xfrm>
            <a:off x="9412959" y="1392120"/>
            <a:ext cx="482395" cy="424041"/>
          </a:xfrm>
          <a:prstGeom prst="rect">
            <a:avLst/>
          </a:prstGeom>
        </p:spPr>
      </p:pic>
      <p:sp>
        <p:nvSpPr>
          <p:cNvPr id="12" name="Freccia a destra con strisce 5">
            <a:extLst>
              <a:ext uri="{FF2B5EF4-FFF2-40B4-BE49-F238E27FC236}">
                <a16:creationId xmlns:a16="http://schemas.microsoft.com/office/drawing/2014/main" id="{FFF33A9D-14B5-00C3-6908-B9E021A39B18}"/>
              </a:ext>
            </a:extLst>
          </p:cNvPr>
          <p:cNvSpPr/>
          <p:nvPr/>
        </p:nvSpPr>
        <p:spPr>
          <a:xfrm>
            <a:off x="539929" y="5144238"/>
            <a:ext cx="1176629" cy="851817"/>
          </a:xfrm>
          <a:prstGeom prst="stripedRightArrow">
            <a:avLst>
              <a:gd name="adj1" fmla="val 6307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NOTA BENE</a:t>
            </a:r>
          </a:p>
        </p:txBody>
      </p:sp>
    </p:spTree>
    <p:extLst>
      <p:ext uri="{BB962C8B-B14F-4D97-AF65-F5344CB8AC3E}">
        <p14:creationId xmlns:p14="http://schemas.microsoft.com/office/powerpoint/2010/main" val="3768381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724A2-F6C4-D337-644D-C4FE784CA2FA}"/>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511A3001-D3C3-1E18-CE4B-21FBBAADD14A}"/>
              </a:ext>
            </a:extLst>
          </p:cNvPr>
          <p:cNvSpPr txBox="1"/>
          <p:nvPr/>
        </p:nvSpPr>
        <p:spPr>
          <a:xfrm>
            <a:off x="357794" y="2851751"/>
            <a:ext cx="6788582" cy="338554"/>
          </a:xfrm>
          <a:prstGeom prst="rect">
            <a:avLst/>
          </a:prstGeom>
          <a:noFill/>
        </p:spPr>
        <p:txBody>
          <a:bodyPr wrap="square">
            <a:spAutoFit/>
          </a:bodyPr>
          <a:lstStyle/>
          <a:p>
            <a:r>
              <a:rPr lang="it-IT" sz="1600" dirty="0">
                <a:latin typeface="Arial" panose="020B0604020202020204" pitchFamily="34" charset="0"/>
                <a:cs typeface="Arial" panose="020B0604020202020204" pitchFamily="34" charset="0"/>
              </a:rPr>
              <a:t>e) AGGIORNAMENTO DATI E INFORMAZIONI ADEGUATA VERIRICA</a:t>
            </a:r>
          </a:p>
        </p:txBody>
      </p:sp>
      <p:graphicFrame>
        <p:nvGraphicFramePr>
          <p:cNvPr id="6" name="Tabella 5">
            <a:extLst>
              <a:ext uri="{FF2B5EF4-FFF2-40B4-BE49-F238E27FC236}">
                <a16:creationId xmlns:a16="http://schemas.microsoft.com/office/drawing/2014/main" id="{C661B8A2-CA0E-7AFA-709A-2F0709B7F729}"/>
              </a:ext>
            </a:extLst>
          </p:cNvPr>
          <p:cNvGraphicFramePr>
            <a:graphicFrameLocks noGrp="1"/>
          </p:cNvGraphicFramePr>
          <p:nvPr>
            <p:extLst>
              <p:ext uri="{D42A27DB-BD31-4B8C-83A1-F6EECF244321}">
                <p14:modId xmlns:p14="http://schemas.microsoft.com/office/powerpoint/2010/main" val="293226078"/>
              </p:ext>
            </p:extLst>
          </p:nvPr>
        </p:nvGraphicFramePr>
        <p:xfrm>
          <a:off x="457199" y="3272251"/>
          <a:ext cx="6428015" cy="1097280"/>
        </p:xfrm>
        <a:graphic>
          <a:graphicData uri="http://schemas.openxmlformats.org/drawingml/2006/table">
            <a:tbl>
              <a:tblPr firstRow="1" bandRow="1">
                <a:tableStyleId>{5C22544A-7EE6-4342-B048-85BDC9FD1C3A}</a:tableStyleId>
              </a:tblPr>
              <a:tblGrid>
                <a:gridCol w="957944">
                  <a:extLst>
                    <a:ext uri="{9D8B030D-6E8A-4147-A177-3AD203B41FA5}">
                      <a16:colId xmlns:a16="http://schemas.microsoft.com/office/drawing/2014/main" val="3923469610"/>
                    </a:ext>
                  </a:extLst>
                </a:gridCol>
                <a:gridCol w="5470071">
                  <a:extLst>
                    <a:ext uri="{9D8B030D-6E8A-4147-A177-3AD203B41FA5}">
                      <a16:colId xmlns:a16="http://schemas.microsoft.com/office/drawing/2014/main" val="673082202"/>
                    </a:ext>
                  </a:extLst>
                </a:gridCol>
              </a:tblGrid>
              <a:tr h="220805">
                <a:tc>
                  <a:txBody>
                    <a:bodyPr/>
                    <a:lstStyle/>
                    <a:p>
                      <a:r>
                        <a:rPr lang="it-IT" sz="1200" b="1"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b="1" dirty="0">
                          <a:latin typeface="Arial" panose="020B0604020202020204" pitchFamily="34" charset="0"/>
                          <a:cs typeface="Arial" panose="020B0604020202020204" pitchFamily="34" charset="0"/>
                        </a:rPr>
                        <a:t>NOVITÀ INTRODOTTE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95676"/>
                  </a:ext>
                </a:extLst>
              </a:tr>
              <a:tr h="790473">
                <a:tc>
                  <a:txBody>
                    <a:bodyPr/>
                    <a:lstStyle/>
                    <a:p>
                      <a:pPr algn="just"/>
                      <a:r>
                        <a:rPr lang="it-IT" sz="1200" dirty="0">
                          <a:latin typeface="Arial" panose="020B0604020202020204" pitchFamily="34" charset="0"/>
                          <a:cs typeface="Arial" panose="020B0604020202020204" pitchFamily="34" charset="0"/>
                        </a:rPr>
                        <a:t>26 comma 2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Nel contesto del controllo costante, i soggetti obbligati assicurano che i documenti, dati o le informazioni pertinenti del cliente siano tenuti aggiornati:</a:t>
                      </a:r>
                    </a:p>
                    <a:p>
                      <a:pPr marL="342900" indent="-342900" algn="just">
                        <a:buAutoNum type="alphaLcParenR"/>
                      </a:pPr>
                      <a:r>
                        <a:rPr lang="it-IT" sz="1200" b="1" dirty="0">
                          <a:latin typeface="Arial" panose="020B0604020202020204" pitchFamily="34" charset="0"/>
                          <a:cs typeface="Arial" panose="020B0604020202020204" pitchFamily="34" charset="0"/>
                        </a:rPr>
                        <a:t>Ogni anno</a:t>
                      </a:r>
                      <a:r>
                        <a:rPr lang="it-IT" sz="1200" dirty="0">
                          <a:latin typeface="Arial" panose="020B0604020202020204" pitchFamily="34" charset="0"/>
                          <a:cs typeface="Arial" panose="020B0604020202020204" pitchFamily="34" charset="0"/>
                        </a:rPr>
                        <a:t>, per i clienti ad alto rischio;</a:t>
                      </a:r>
                    </a:p>
                    <a:p>
                      <a:pPr marL="342900" indent="-342900" algn="just">
                        <a:buAutoNum type="alphaLcParenR"/>
                      </a:pPr>
                      <a:r>
                        <a:rPr lang="it-IT" sz="1200" b="1" dirty="0">
                          <a:latin typeface="Arial" panose="020B0604020202020204" pitchFamily="34" charset="0"/>
                          <a:cs typeface="Arial" panose="020B0604020202020204" pitchFamily="34" charset="0"/>
                        </a:rPr>
                        <a:t>Cinque anni</a:t>
                      </a:r>
                      <a:r>
                        <a:rPr lang="it-IT" sz="1200" dirty="0">
                          <a:latin typeface="Arial" panose="020B0604020202020204" pitchFamily="34" charset="0"/>
                          <a:cs typeface="Arial" panose="020B0604020202020204" pitchFamily="34" charset="0"/>
                        </a:rPr>
                        <a:t>, per tutti gli altri clienti.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2136724"/>
                  </a:ext>
                </a:extLst>
              </a:tr>
            </a:tbl>
          </a:graphicData>
        </a:graphic>
      </p:graphicFrame>
      <p:sp>
        <p:nvSpPr>
          <p:cNvPr id="9" name="CasellaDiTesto 8">
            <a:extLst>
              <a:ext uri="{FF2B5EF4-FFF2-40B4-BE49-F238E27FC236}">
                <a16:creationId xmlns:a16="http://schemas.microsoft.com/office/drawing/2014/main" id="{99811E5D-9F12-0944-D5AE-8ACDAA1055F0}"/>
              </a:ext>
            </a:extLst>
          </p:cNvPr>
          <p:cNvSpPr txBox="1"/>
          <p:nvPr/>
        </p:nvSpPr>
        <p:spPr>
          <a:xfrm>
            <a:off x="357794" y="4429524"/>
            <a:ext cx="6195835" cy="338554"/>
          </a:xfrm>
          <a:prstGeom prst="rect">
            <a:avLst/>
          </a:prstGeom>
          <a:noFill/>
        </p:spPr>
        <p:txBody>
          <a:bodyPr wrap="square">
            <a:spAutoFit/>
          </a:bodyPr>
          <a:lstStyle/>
          <a:p>
            <a:r>
              <a:rPr lang="it-IT" sz="1600" dirty="0">
                <a:latin typeface="Arial" panose="020B0604020202020204" pitchFamily="34" charset="0"/>
                <a:cs typeface="Arial" panose="020B0604020202020204" pitchFamily="34" charset="0"/>
              </a:rPr>
              <a:t>f) LIMITI AI PAGAMENTI IN CONTANTI</a:t>
            </a:r>
          </a:p>
        </p:txBody>
      </p:sp>
      <p:graphicFrame>
        <p:nvGraphicFramePr>
          <p:cNvPr id="10" name="Tabella 9">
            <a:extLst>
              <a:ext uri="{FF2B5EF4-FFF2-40B4-BE49-F238E27FC236}">
                <a16:creationId xmlns:a16="http://schemas.microsoft.com/office/drawing/2014/main" id="{D8F53B0B-EBD9-CF1B-2603-F8D30089202A}"/>
              </a:ext>
            </a:extLst>
          </p:cNvPr>
          <p:cNvGraphicFramePr>
            <a:graphicFrameLocks noGrp="1"/>
          </p:cNvGraphicFramePr>
          <p:nvPr>
            <p:extLst>
              <p:ext uri="{D42A27DB-BD31-4B8C-83A1-F6EECF244321}">
                <p14:modId xmlns:p14="http://schemas.microsoft.com/office/powerpoint/2010/main" val="60300223"/>
              </p:ext>
            </p:extLst>
          </p:nvPr>
        </p:nvGraphicFramePr>
        <p:xfrm>
          <a:off x="401557" y="4760059"/>
          <a:ext cx="6422171" cy="2194560"/>
        </p:xfrm>
        <a:graphic>
          <a:graphicData uri="http://schemas.openxmlformats.org/drawingml/2006/table">
            <a:tbl>
              <a:tblPr firstRow="1" bandRow="1">
                <a:tableStyleId>{5C22544A-7EE6-4342-B048-85BDC9FD1C3A}</a:tableStyleId>
              </a:tblPr>
              <a:tblGrid>
                <a:gridCol w="1008143">
                  <a:extLst>
                    <a:ext uri="{9D8B030D-6E8A-4147-A177-3AD203B41FA5}">
                      <a16:colId xmlns:a16="http://schemas.microsoft.com/office/drawing/2014/main" val="3923469610"/>
                    </a:ext>
                  </a:extLst>
                </a:gridCol>
                <a:gridCol w="2840347">
                  <a:extLst>
                    <a:ext uri="{9D8B030D-6E8A-4147-A177-3AD203B41FA5}">
                      <a16:colId xmlns:a16="http://schemas.microsoft.com/office/drawing/2014/main" val="673082202"/>
                    </a:ext>
                  </a:extLst>
                </a:gridCol>
                <a:gridCol w="2573681">
                  <a:extLst>
                    <a:ext uri="{9D8B030D-6E8A-4147-A177-3AD203B41FA5}">
                      <a16:colId xmlns:a16="http://schemas.microsoft.com/office/drawing/2014/main" val="3169706443"/>
                    </a:ext>
                  </a:extLst>
                </a:gridCol>
              </a:tblGrid>
              <a:tr h="253007">
                <a:tc>
                  <a:txBody>
                    <a:bodyPr/>
                    <a:lstStyle/>
                    <a:p>
                      <a:r>
                        <a:rPr lang="it-IT" sz="1200" b="1" dirty="0">
                          <a:latin typeface="Arial" panose="020B0604020202020204" pitchFamily="34" charset="0"/>
                          <a:cs typeface="Arial" panose="020B0604020202020204" pitchFamily="34" charset="0"/>
                        </a:rPr>
                        <a:t>ARTICOLI</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it-IT" sz="1200" b="1" dirty="0">
                          <a:latin typeface="Arial" panose="020B0604020202020204" pitchFamily="34" charset="0"/>
                          <a:cs typeface="Arial" panose="020B0604020202020204" pitchFamily="34" charset="0"/>
                        </a:rPr>
                        <a:t>NOVITÀ INTRODOTTE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200" b="1" dirty="0">
                          <a:latin typeface="Arial" panose="020B0604020202020204" pitchFamily="34" charset="0"/>
                          <a:cs typeface="Arial" panose="020B0604020202020204" pitchFamily="34" charset="0"/>
                        </a:rPr>
                        <a:t>NOTE</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95676"/>
                  </a:ext>
                </a:extLst>
              </a:tr>
              <a:tr h="1762774">
                <a:tc>
                  <a:txBody>
                    <a:bodyPr/>
                    <a:lstStyle/>
                    <a:p>
                      <a:pPr algn="just"/>
                      <a:r>
                        <a:rPr lang="it-IT" sz="1200" dirty="0">
                          <a:latin typeface="Arial" panose="020B0604020202020204" pitchFamily="34" charset="0"/>
                          <a:cs typeface="Arial" panose="020B0604020202020204" pitchFamily="34" charset="0"/>
                        </a:rPr>
                        <a:t>80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Le persone che commerciano beni o forniscono servizi </a:t>
                      </a:r>
                      <a:r>
                        <a:rPr lang="it-IT" sz="1200" b="1" dirty="0">
                          <a:latin typeface="Arial" panose="020B0604020202020204" pitchFamily="34" charset="0"/>
                          <a:cs typeface="Arial" panose="020B0604020202020204" pitchFamily="34" charset="0"/>
                        </a:rPr>
                        <a:t>possono accettare o effettuare un pagamento in contanti </a:t>
                      </a:r>
                      <a:r>
                        <a:rPr lang="it-IT" sz="1200" dirty="0">
                          <a:latin typeface="Arial" panose="020B0604020202020204" pitchFamily="34" charset="0"/>
                          <a:cs typeface="Arial" panose="020B0604020202020204" pitchFamily="34" charset="0"/>
                        </a:rPr>
                        <a:t>fino a un importo di </a:t>
                      </a:r>
                      <a:r>
                        <a:rPr lang="it-IT" sz="1200" b="1" dirty="0">
                          <a:latin typeface="Arial" panose="020B0604020202020204" pitchFamily="34" charset="0"/>
                          <a:cs typeface="Arial" panose="020B0604020202020204" pitchFamily="34" charset="0"/>
                        </a:rPr>
                        <a:t>10.000 euro </a:t>
                      </a:r>
                      <a:r>
                        <a:rPr lang="it-IT" sz="1200" dirty="0">
                          <a:latin typeface="Arial" panose="020B0604020202020204" pitchFamily="34" charset="0"/>
                          <a:cs typeface="Arial" panose="020B0604020202020204" pitchFamily="34" charset="0"/>
                        </a:rPr>
                        <a:t>o importo equivalente in valuta nazionale o estera, indipendentemente dal </a:t>
                      </a:r>
                      <a:r>
                        <a:rPr lang="it-IT" sz="1200" dirty="0" err="1">
                          <a:latin typeface="Arial" panose="020B0604020202020204" pitchFamily="34" charset="0"/>
                          <a:cs typeface="Arial" panose="020B0604020202020204" pitchFamily="34" charset="0"/>
                        </a:rPr>
                        <a:t>fattoche</a:t>
                      </a:r>
                      <a:r>
                        <a:rPr lang="it-IT" sz="1200" dirty="0">
                          <a:latin typeface="Arial" panose="020B0604020202020204" pitchFamily="34" charset="0"/>
                          <a:cs typeface="Arial" panose="020B0604020202020204" pitchFamily="34" charset="0"/>
                        </a:rPr>
                        <a:t> la transazione sia effettuata con un’operazione unica o con diverse operazioni che appaiono collegate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just">
                        <a:buFont typeface="Arial" panose="020B0604020202020204" pitchFamily="34" charset="0"/>
                        <a:buChar char="•"/>
                      </a:pPr>
                      <a:r>
                        <a:rPr lang="it-IT" sz="1200" dirty="0">
                          <a:latin typeface="Arial" panose="020B0604020202020204" pitchFamily="34" charset="0"/>
                          <a:cs typeface="Arial" panose="020B0604020202020204" pitchFamily="34" charset="0"/>
                        </a:rPr>
                        <a:t>Gli Stati membri </a:t>
                      </a:r>
                      <a:r>
                        <a:rPr lang="it-IT" sz="1200" b="1" dirty="0">
                          <a:latin typeface="Arial" panose="020B0604020202020204" pitchFamily="34" charset="0"/>
                          <a:cs typeface="Arial" panose="020B0604020202020204" pitchFamily="34" charset="0"/>
                        </a:rPr>
                        <a:t>possono adottare limiti inferiori</a:t>
                      </a:r>
                      <a:r>
                        <a:rPr lang="it-IT" sz="1200" dirty="0">
                          <a:latin typeface="Arial" panose="020B0604020202020204" pitchFamily="34" charset="0"/>
                          <a:cs typeface="Arial" panose="020B0604020202020204" pitchFamily="34" charset="0"/>
                        </a:rPr>
                        <a:t> previa consultazione della Banca Centrale Europea;</a:t>
                      </a:r>
                    </a:p>
                    <a:p>
                      <a:pPr marL="285750" indent="-285750" algn="just">
                        <a:buFont typeface="Arial" panose="020B0604020202020204" pitchFamily="34" charset="0"/>
                        <a:buChar char="•"/>
                      </a:pPr>
                      <a:r>
                        <a:rPr lang="it-IT" sz="1200" dirty="0">
                          <a:latin typeface="Arial" panose="020B0604020202020204" pitchFamily="34" charset="0"/>
                          <a:cs typeface="Arial" panose="020B0604020202020204" pitchFamily="34" charset="0"/>
                        </a:rPr>
                        <a:t>I </a:t>
                      </a:r>
                      <a:r>
                        <a:rPr lang="it-IT" sz="1200" b="1" dirty="0">
                          <a:latin typeface="Arial" panose="020B0604020202020204" pitchFamily="34" charset="0"/>
                          <a:cs typeface="Arial" panose="020B0604020202020204" pitchFamily="34" charset="0"/>
                        </a:rPr>
                        <a:t>limiti inferiori già esistenti </a:t>
                      </a:r>
                      <a:r>
                        <a:rPr lang="it-IT" sz="1200" dirty="0">
                          <a:latin typeface="Arial" panose="020B0604020202020204" pitchFamily="34" charset="0"/>
                          <a:cs typeface="Arial" panose="020B0604020202020204" pitchFamily="34" charset="0"/>
                        </a:rPr>
                        <a:t>a livello nazionale </a:t>
                      </a:r>
                      <a:r>
                        <a:rPr lang="it-IT" sz="1200" b="1" dirty="0">
                          <a:latin typeface="Arial" panose="020B0604020202020204" pitchFamily="34" charset="0"/>
                          <a:cs typeface="Arial" panose="020B0604020202020204" pitchFamily="34" charset="0"/>
                        </a:rPr>
                        <a:t>continuano ad applicarsi</a:t>
                      </a:r>
                      <a:r>
                        <a:rPr lang="it-IT" sz="1200"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2136724"/>
                  </a:ext>
                </a:extLst>
              </a:tr>
            </a:tbl>
          </a:graphicData>
        </a:graphic>
      </p:graphicFrame>
      <p:grpSp>
        <p:nvGrpSpPr>
          <p:cNvPr id="14" name="Gruppo 13">
            <a:extLst>
              <a:ext uri="{FF2B5EF4-FFF2-40B4-BE49-F238E27FC236}">
                <a16:creationId xmlns:a16="http://schemas.microsoft.com/office/drawing/2014/main" id="{106030AB-6DB0-56EE-9368-DB2B9C3C956E}"/>
              </a:ext>
            </a:extLst>
          </p:cNvPr>
          <p:cNvGrpSpPr/>
          <p:nvPr/>
        </p:nvGrpSpPr>
        <p:grpSpPr>
          <a:xfrm>
            <a:off x="8396079" y="5802532"/>
            <a:ext cx="3700731" cy="896817"/>
            <a:chOff x="7996041" y="4374441"/>
            <a:chExt cx="3700731" cy="896817"/>
          </a:xfrm>
        </p:grpSpPr>
        <p:grpSp>
          <p:nvGrpSpPr>
            <p:cNvPr id="7" name="Gruppo 6">
              <a:extLst>
                <a:ext uri="{FF2B5EF4-FFF2-40B4-BE49-F238E27FC236}">
                  <a16:creationId xmlns:a16="http://schemas.microsoft.com/office/drawing/2014/main" id="{E17429CA-848D-B34C-3764-BD7E15569DE1}"/>
                </a:ext>
              </a:extLst>
            </p:cNvPr>
            <p:cNvGrpSpPr/>
            <p:nvPr/>
          </p:nvGrpSpPr>
          <p:grpSpPr>
            <a:xfrm>
              <a:off x="7996041" y="4374441"/>
              <a:ext cx="3700731" cy="896817"/>
              <a:chOff x="9944699" y="4765666"/>
              <a:chExt cx="3127841" cy="756880"/>
            </a:xfrm>
          </p:grpSpPr>
          <p:sp>
            <p:nvSpPr>
              <p:cNvPr id="4" name="Rettangolo 3">
                <a:extLst>
                  <a:ext uri="{FF2B5EF4-FFF2-40B4-BE49-F238E27FC236}">
                    <a16:creationId xmlns:a16="http://schemas.microsoft.com/office/drawing/2014/main" id="{3945E8A6-5813-3D47-CCDB-7A0CAD052668}"/>
                  </a:ext>
                </a:extLst>
              </p:cNvPr>
              <p:cNvSpPr/>
              <p:nvPr/>
            </p:nvSpPr>
            <p:spPr>
              <a:xfrm>
                <a:off x="9944699" y="4765666"/>
                <a:ext cx="3127841" cy="75688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ttangolo 10">
                <a:extLst>
                  <a:ext uri="{FF2B5EF4-FFF2-40B4-BE49-F238E27FC236}">
                    <a16:creationId xmlns:a16="http://schemas.microsoft.com/office/drawing/2014/main" id="{AC953E12-9C42-3186-A691-89C5F9175D10}"/>
                  </a:ext>
                </a:extLst>
              </p:cNvPr>
              <p:cNvSpPr/>
              <p:nvPr/>
            </p:nvSpPr>
            <p:spPr>
              <a:xfrm>
                <a:off x="10902087" y="4923468"/>
                <a:ext cx="2166258" cy="51426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latin typeface="Arial" panose="020B0604020202020204" pitchFamily="34" charset="0"/>
                    <a:cs typeface="Arial" panose="020B0604020202020204" pitchFamily="34" charset="0"/>
                  </a:rPr>
                  <a:t>In Italia limite all’uso del contante già esistente (€ 5.000)</a:t>
                </a:r>
              </a:p>
            </p:txBody>
          </p:sp>
        </p:grpSp>
        <p:pic>
          <p:nvPicPr>
            <p:cNvPr id="12" name="Immagine 11">
              <a:extLst>
                <a:ext uri="{FF2B5EF4-FFF2-40B4-BE49-F238E27FC236}">
                  <a16:creationId xmlns:a16="http://schemas.microsoft.com/office/drawing/2014/main" id="{2EB1122A-7E34-4CD9-FE35-FE1528CDBEBC}"/>
                </a:ext>
              </a:extLst>
            </p:cNvPr>
            <p:cNvPicPr>
              <a:picLocks noChangeAspect="1"/>
            </p:cNvPicPr>
            <p:nvPr/>
          </p:nvPicPr>
          <p:blipFill>
            <a:blip r:embed="rId2"/>
            <a:stretch>
              <a:fillRect/>
            </a:stretch>
          </p:blipFill>
          <p:spPr>
            <a:xfrm>
              <a:off x="8195975" y="4428327"/>
              <a:ext cx="732874" cy="789044"/>
            </a:xfrm>
            <a:prstGeom prst="rect">
              <a:avLst/>
            </a:prstGeom>
          </p:spPr>
        </p:pic>
      </p:grpSp>
      <p:grpSp>
        <p:nvGrpSpPr>
          <p:cNvPr id="2" name="Gruppo 1">
            <a:extLst>
              <a:ext uri="{FF2B5EF4-FFF2-40B4-BE49-F238E27FC236}">
                <a16:creationId xmlns:a16="http://schemas.microsoft.com/office/drawing/2014/main" id="{707CC12B-EFB6-CC52-F892-DD25EE42D572}"/>
              </a:ext>
            </a:extLst>
          </p:cNvPr>
          <p:cNvGrpSpPr/>
          <p:nvPr/>
        </p:nvGrpSpPr>
        <p:grpSpPr>
          <a:xfrm>
            <a:off x="7151298" y="3271949"/>
            <a:ext cx="5040702" cy="1389093"/>
            <a:chOff x="6633545" y="1241829"/>
            <a:chExt cx="7356874" cy="1678234"/>
          </a:xfrm>
        </p:grpSpPr>
        <p:sp>
          <p:nvSpPr>
            <p:cNvPr id="16" name="Rettangolo 15">
              <a:extLst>
                <a:ext uri="{FF2B5EF4-FFF2-40B4-BE49-F238E27FC236}">
                  <a16:creationId xmlns:a16="http://schemas.microsoft.com/office/drawing/2014/main" id="{490992D0-D46F-79A8-2914-82A35A2D29AE}"/>
                </a:ext>
              </a:extLst>
            </p:cNvPr>
            <p:cNvSpPr/>
            <p:nvPr/>
          </p:nvSpPr>
          <p:spPr>
            <a:xfrm>
              <a:off x="6633545" y="1241829"/>
              <a:ext cx="7356874" cy="167823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rial" panose="020B0604020202020204" pitchFamily="34" charset="0"/>
                <a:cs typeface="Arial" panose="020B0604020202020204" pitchFamily="34" charset="0"/>
              </a:endParaRPr>
            </a:p>
          </p:txBody>
        </p:sp>
        <p:sp>
          <p:nvSpPr>
            <p:cNvPr id="8" name="CasellaDiTesto 7">
              <a:extLst>
                <a:ext uri="{FF2B5EF4-FFF2-40B4-BE49-F238E27FC236}">
                  <a16:creationId xmlns:a16="http://schemas.microsoft.com/office/drawing/2014/main" id="{21377135-1806-82DB-88D2-4775895E88A1}"/>
                </a:ext>
              </a:extLst>
            </p:cNvPr>
            <p:cNvSpPr txBox="1"/>
            <p:nvPr/>
          </p:nvSpPr>
          <p:spPr>
            <a:xfrm>
              <a:off x="7310060" y="1322188"/>
              <a:ext cx="6592978" cy="1463671"/>
            </a:xfrm>
            <a:prstGeom prst="rect">
              <a:avLst/>
            </a:prstGeom>
            <a:solidFill>
              <a:schemeClr val="bg1">
                <a:lumMod val="95000"/>
              </a:schemeClr>
            </a:solidFill>
          </p:spPr>
          <p:txBody>
            <a:bodyPr wrap="square" rtlCol="0">
              <a:spAutoFit/>
            </a:bodyPr>
            <a:lstStyle/>
            <a:p>
              <a:pPr algn="just"/>
              <a:r>
                <a:rPr lang="it-IT" sz="1200" b="1" dirty="0">
                  <a:latin typeface="Arial" panose="020B0604020202020204" pitchFamily="34" charset="0"/>
                  <a:cs typeface="Arial" panose="020B0604020202020204" pitchFamily="34" charset="0"/>
                </a:rPr>
                <a:t>Possibili impatti su</a:t>
              </a:r>
              <a:r>
                <a:rPr lang="it-IT" sz="1200"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Policy (necessità di integrare la Policy AML con le  nuove tempistiche dedicate a clienti NON ad alto rischio);</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Procedure (aggiornamento profilatura di rischio per clientela NON ad alto rischio);</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controlli di primo – secondo e terzo livello;</a:t>
              </a:r>
            </a:p>
          </p:txBody>
        </p:sp>
        <p:pic>
          <p:nvPicPr>
            <p:cNvPr id="15" name="Immagine 14">
              <a:extLst>
                <a:ext uri="{FF2B5EF4-FFF2-40B4-BE49-F238E27FC236}">
                  <a16:creationId xmlns:a16="http://schemas.microsoft.com/office/drawing/2014/main" id="{A4036C35-371D-ADFD-D0BA-EFE6384478DD}"/>
                </a:ext>
              </a:extLst>
            </p:cNvPr>
            <p:cNvPicPr>
              <a:picLocks noChangeAspect="1"/>
            </p:cNvPicPr>
            <p:nvPr/>
          </p:nvPicPr>
          <p:blipFill>
            <a:blip r:embed="rId3"/>
            <a:stretch>
              <a:fillRect/>
            </a:stretch>
          </p:blipFill>
          <p:spPr>
            <a:xfrm>
              <a:off x="6690401" y="1347952"/>
              <a:ext cx="612475" cy="424042"/>
            </a:xfrm>
            <a:prstGeom prst="rect">
              <a:avLst/>
            </a:prstGeom>
          </p:spPr>
        </p:pic>
      </p:grpSp>
      <p:sp>
        <p:nvSpPr>
          <p:cNvPr id="22" name="CasellaDiTesto 21">
            <a:extLst>
              <a:ext uri="{FF2B5EF4-FFF2-40B4-BE49-F238E27FC236}">
                <a16:creationId xmlns:a16="http://schemas.microsoft.com/office/drawing/2014/main" id="{E57B2665-82D2-EC1E-C3A7-037940CFA4AE}"/>
              </a:ext>
            </a:extLst>
          </p:cNvPr>
          <p:cNvSpPr txBox="1"/>
          <p:nvPr/>
        </p:nvSpPr>
        <p:spPr>
          <a:xfrm>
            <a:off x="343092" y="711539"/>
            <a:ext cx="6582277" cy="338554"/>
          </a:xfrm>
          <a:prstGeom prst="rect">
            <a:avLst/>
          </a:prstGeom>
          <a:noFill/>
        </p:spPr>
        <p:txBody>
          <a:bodyPr wrap="square">
            <a:spAutoFit/>
          </a:bodyPr>
          <a:lstStyle/>
          <a:p>
            <a:r>
              <a:rPr lang="it-IT" sz="1600" dirty="0">
                <a:latin typeface="Arial" panose="020B0604020202020204" pitchFamily="34" charset="0"/>
                <a:cs typeface="Arial" panose="020B0604020202020204" pitchFamily="34" charset="0"/>
              </a:rPr>
              <a:t>d) NUOVA SOGLIA PER OPERAZIONI OCCASIONALI</a:t>
            </a:r>
          </a:p>
        </p:txBody>
      </p:sp>
      <p:graphicFrame>
        <p:nvGraphicFramePr>
          <p:cNvPr id="23" name="Tabella 22">
            <a:extLst>
              <a:ext uri="{FF2B5EF4-FFF2-40B4-BE49-F238E27FC236}">
                <a16:creationId xmlns:a16="http://schemas.microsoft.com/office/drawing/2014/main" id="{EC581F9A-CFD9-5487-3204-225644C70793}"/>
              </a:ext>
            </a:extLst>
          </p:cNvPr>
          <p:cNvGraphicFramePr>
            <a:graphicFrameLocks noGrp="1"/>
          </p:cNvGraphicFramePr>
          <p:nvPr>
            <p:extLst>
              <p:ext uri="{D42A27DB-BD31-4B8C-83A1-F6EECF244321}">
                <p14:modId xmlns:p14="http://schemas.microsoft.com/office/powerpoint/2010/main" val="3434029857"/>
              </p:ext>
            </p:extLst>
          </p:nvPr>
        </p:nvGraphicFramePr>
        <p:xfrm>
          <a:off x="457199" y="1080871"/>
          <a:ext cx="6572488" cy="1645920"/>
        </p:xfrm>
        <a:graphic>
          <a:graphicData uri="http://schemas.openxmlformats.org/drawingml/2006/table">
            <a:tbl>
              <a:tblPr firstRow="1" bandRow="1">
                <a:tableStyleId>{5C22544A-7EE6-4342-B048-85BDC9FD1C3A}</a:tableStyleId>
              </a:tblPr>
              <a:tblGrid>
                <a:gridCol w="951649">
                  <a:extLst>
                    <a:ext uri="{9D8B030D-6E8A-4147-A177-3AD203B41FA5}">
                      <a16:colId xmlns:a16="http://schemas.microsoft.com/office/drawing/2014/main" val="3923469610"/>
                    </a:ext>
                  </a:extLst>
                </a:gridCol>
                <a:gridCol w="5620839">
                  <a:extLst>
                    <a:ext uri="{9D8B030D-6E8A-4147-A177-3AD203B41FA5}">
                      <a16:colId xmlns:a16="http://schemas.microsoft.com/office/drawing/2014/main" val="673082202"/>
                    </a:ext>
                  </a:extLst>
                </a:gridCol>
              </a:tblGrid>
              <a:tr h="170006">
                <a:tc>
                  <a:txBody>
                    <a:bodyPr/>
                    <a:lstStyle/>
                    <a:p>
                      <a:r>
                        <a:rPr lang="it-IT" sz="1200" b="1"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b="1" dirty="0">
                          <a:latin typeface="Arial" panose="020B0604020202020204" pitchFamily="34" charset="0"/>
                          <a:cs typeface="Arial" panose="020B0604020202020204" pitchFamily="34" charset="0"/>
                        </a:rPr>
                        <a:t>NOVITÀ INTRODOTTE </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95676"/>
                  </a:ext>
                </a:extLst>
              </a:tr>
              <a:tr h="982255">
                <a:tc>
                  <a:txBody>
                    <a:bodyPr/>
                    <a:lstStyle/>
                    <a:p>
                      <a:pPr algn="just"/>
                      <a:r>
                        <a:rPr lang="it-IT" sz="1200" dirty="0">
                          <a:latin typeface="Arial" panose="020B0604020202020204" pitchFamily="34" charset="0"/>
                          <a:cs typeface="Arial" panose="020B0604020202020204" pitchFamily="34" charset="0"/>
                        </a:rPr>
                        <a:t>19 comma 1 Reg. 2024/1624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1.I soggetti obbligati applicano misure di adeguata verifica della clientela nelle circostanze seguenti:</a:t>
                      </a:r>
                    </a:p>
                    <a:p>
                      <a:pPr algn="just"/>
                      <a:r>
                        <a:rPr lang="it-IT" sz="1200" dirty="0">
                          <a:latin typeface="Arial" panose="020B0604020202020204" pitchFamily="34" charset="0"/>
                          <a:cs typeface="Arial" panose="020B0604020202020204" pitchFamily="34" charset="0"/>
                        </a:rPr>
                        <a:t>a) quando instaurano un rapporto d'affari;</a:t>
                      </a:r>
                    </a:p>
                    <a:p>
                      <a:pPr algn="just"/>
                      <a:r>
                        <a:rPr lang="it-IT" sz="1200" dirty="0">
                          <a:latin typeface="Arial" panose="020B0604020202020204" pitchFamily="34" charset="0"/>
                          <a:cs typeface="Arial" panose="020B0604020202020204" pitchFamily="34" charset="0"/>
                        </a:rPr>
                        <a:t>b) quando procedono a un'operazione occasionale il cui valore è pari ad almeno </a:t>
                      </a:r>
                    </a:p>
                    <a:p>
                      <a:pPr algn="just"/>
                      <a:r>
                        <a:rPr lang="it-IT" sz="1200" b="1" dirty="0">
                          <a:highlight>
                            <a:srgbClr val="FFFF00"/>
                          </a:highlight>
                          <a:latin typeface="Arial" panose="020B0604020202020204" pitchFamily="34" charset="0"/>
                          <a:cs typeface="Arial" panose="020B0604020202020204" pitchFamily="34" charset="0"/>
                        </a:rPr>
                        <a:t>10 000 EUR</a:t>
                      </a:r>
                      <a:r>
                        <a:rPr lang="it-IT" sz="1200" b="1" dirty="0">
                          <a:latin typeface="Arial" panose="020B0604020202020204" pitchFamily="34" charset="0"/>
                          <a:cs typeface="Arial" panose="020B0604020202020204" pitchFamily="34" charset="0"/>
                        </a:rPr>
                        <a:t>, o al controvalore in moneta nazionale,</a:t>
                      </a:r>
                      <a:r>
                        <a:rPr lang="it-IT" sz="1200" dirty="0">
                          <a:latin typeface="Arial" panose="020B0604020202020204" pitchFamily="34" charset="0"/>
                          <a:cs typeface="Arial" panose="020B0604020202020204" pitchFamily="34" charset="0"/>
                        </a:rPr>
                        <a:t> indipendentemente dal fatto che l'operazione sia eseguita con un'unica operazione o mediante operazioni collegate, o a un valore inferiore stabilito a norma del paragrafo 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2136724"/>
                  </a:ext>
                </a:extLst>
              </a:tr>
            </a:tbl>
          </a:graphicData>
        </a:graphic>
      </p:graphicFrame>
      <p:sp>
        <p:nvSpPr>
          <p:cNvPr id="24" name="Rettangolo 23">
            <a:extLst>
              <a:ext uri="{FF2B5EF4-FFF2-40B4-BE49-F238E27FC236}">
                <a16:creationId xmlns:a16="http://schemas.microsoft.com/office/drawing/2014/main" id="{1E63DEBB-2E6B-4528-E1C5-805C1B21A22D}"/>
              </a:ext>
            </a:extLst>
          </p:cNvPr>
          <p:cNvSpPr/>
          <p:nvPr/>
        </p:nvSpPr>
        <p:spPr>
          <a:xfrm>
            <a:off x="237132" y="2070162"/>
            <a:ext cx="1186115" cy="55241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latin typeface="Arial" panose="020B0604020202020204" pitchFamily="34" charset="0"/>
                <a:cs typeface="Arial" panose="020B0604020202020204" pitchFamily="34" charset="0"/>
              </a:rPr>
              <a:t>Precedentemente</a:t>
            </a:r>
            <a:r>
              <a:rPr lang="it-IT" sz="1200" dirty="0">
                <a:solidFill>
                  <a:schemeClr val="tx1"/>
                </a:solidFill>
              </a:rPr>
              <a:t> </a:t>
            </a:r>
            <a:r>
              <a:rPr lang="it-IT" sz="1200" b="1" dirty="0">
                <a:solidFill>
                  <a:schemeClr val="tx1"/>
                </a:solidFill>
              </a:rPr>
              <a:t>era 15.000 EUR</a:t>
            </a:r>
          </a:p>
        </p:txBody>
      </p:sp>
      <p:sp>
        <p:nvSpPr>
          <p:cNvPr id="25" name="Rettangolo 24">
            <a:extLst>
              <a:ext uri="{FF2B5EF4-FFF2-40B4-BE49-F238E27FC236}">
                <a16:creationId xmlns:a16="http://schemas.microsoft.com/office/drawing/2014/main" id="{43A06611-3CEE-CE2E-CFED-3FCE0B87A206}"/>
              </a:ext>
            </a:extLst>
          </p:cNvPr>
          <p:cNvSpPr/>
          <p:nvPr/>
        </p:nvSpPr>
        <p:spPr>
          <a:xfrm>
            <a:off x="1468955" y="2139014"/>
            <a:ext cx="767751" cy="207354"/>
          </a:xfrm>
          <a:prstGeom prst="rect">
            <a:avLst/>
          </a:prstGeom>
          <a:noFill/>
          <a:ln>
            <a:solidFill>
              <a:srgbClr val="00999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7" name="Connettore a gomito 26">
            <a:extLst>
              <a:ext uri="{FF2B5EF4-FFF2-40B4-BE49-F238E27FC236}">
                <a16:creationId xmlns:a16="http://schemas.microsoft.com/office/drawing/2014/main" id="{FB381E38-26CE-3108-A8C7-77516CDA35E6}"/>
              </a:ext>
            </a:extLst>
          </p:cNvPr>
          <p:cNvCxnSpPr>
            <a:cxnSpLocks/>
            <a:endCxn id="24" idx="3"/>
          </p:cNvCxnSpPr>
          <p:nvPr/>
        </p:nvCxnSpPr>
        <p:spPr>
          <a:xfrm rot="10800000">
            <a:off x="1423247" y="2346368"/>
            <a:ext cx="139548" cy="127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ttangolo 28">
            <a:extLst>
              <a:ext uri="{FF2B5EF4-FFF2-40B4-BE49-F238E27FC236}">
                <a16:creationId xmlns:a16="http://schemas.microsoft.com/office/drawing/2014/main" id="{2E355893-417B-E282-492A-18F2A4F3B8CD}"/>
              </a:ext>
            </a:extLst>
          </p:cNvPr>
          <p:cNvSpPr/>
          <p:nvPr/>
        </p:nvSpPr>
        <p:spPr>
          <a:xfrm>
            <a:off x="4566557" y="5828416"/>
            <a:ext cx="2188029" cy="545170"/>
          </a:xfrm>
          <a:prstGeom prst="rect">
            <a:avLst/>
          </a:prstGeom>
          <a:noFill/>
          <a:ln w="28575">
            <a:solidFill>
              <a:srgbClr val="009999"/>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1" name="Connettore a gomito 30">
            <a:extLst>
              <a:ext uri="{FF2B5EF4-FFF2-40B4-BE49-F238E27FC236}">
                <a16:creationId xmlns:a16="http://schemas.microsoft.com/office/drawing/2014/main" id="{62450507-26CD-A13F-DA33-000DE492E8C1}"/>
              </a:ext>
            </a:extLst>
          </p:cNvPr>
          <p:cNvCxnSpPr>
            <a:cxnSpLocks/>
            <a:endCxn id="4" idx="1"/>
          </p:cNvCxnSpPr>
          <p:nvPr/>
        </p:nvCxnSpPr>
        <p:spPr>
          <a:xfrm>
            <a:off x="6823728" y="6101001"/>
            <a:ext cx="1572351" cy="14994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 name="Gruppo 2">
            <a:extLst>
              <a:ext uri="{FF2B5EF4-FFF2-40B4-BE49-F238E27FC236}">
                <a16:creationId xmlns:a16="http://schemas.microsoft.com/office/drawing/2014/main" id="{AE109412-CED8-9A02-64D9-40985195850B}"/>
              </a:ext>
            </a:extLst>
          </p:cNvPr>
          <p:cNvGrpSpPr/>
          <p:nvPr/>
        </p:nvGrpSpPr>
        <p:grpSpPr>
          <a:xfrm>
            <a:off x="7151298" y="1121423"/>
            <a:ext cx="5019984" cy="1377852"/>
            <a:chOff x="6633545" y="1241829"/>
            <a:chExt cx="5420642" cy="2038397"/>
          </a:xfrm>
        </p:grpSpPr>
        <p:sp>
          <p:nvSpPr>
            <p:cNvPr id="13" name="Rettangolo 12">
              <a:extLst>
                <a:ext uri="{FF2B5EF4-FFF2-40B4-BE49-F238E27FC236}">
                  <a16:creationId xmlns:a16="http://schemas.microsoft.com/office/drawing/2014/main" id="{C334B59A-5D69-C29A-4121-3A445380DF22}"/>
                </a:ext>
              </a:extLst>
            </p:cNvPr>
            <p:cNvSpPr/>
            <p:nvPr/>
          </p:nvSpPr>
          <p:spPr>
            <a:xfrm>
              <a:off x="6633545" y="1241829"/>
              <a:ext cx="5420642" cy="203839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CasellaDiTesto 16">
              <a:extLst>
                <a:ext uri="{FF2B5EF4-FFF2-40B4-BE49-F238E27FC236}">
                  <a16:creationId xmlns:a16="http://schemas.microsoft.com/office/drawing/2014/main" id="{5101D44C-1D46-ADD8-A4A9-6AB4F7FBF6A5}"/>
                </a:ext>
              </a:extLst>
            </p:cNvPr>
            <p:cNvSpPr txBox="1"/>
            <p:nvPr/>
          </p:nvSpPr>
          <p:spPr>
            <a:xfrm>
              <a:off x="7251324" y="1322189"/>
              <a:ext cx="4728709" cy="1775771"/>
            </a:xfrm>
            <a:prstGeom prst="rect">
              <a:avLst/>
            </a:prstGeom>
            <a:solidFill>
              <a:schemeClr val="bg1">
                <a:lumMod val="95000"/>
              </a:schemeClr>
            </a:solidFill>
          </p:spPr>
          <p:txBody>
            <a:bodyPr wrap="square" rtlCol="0">
              <a:spAutoFit/>
            </a:bodyPr>
            <a:lstStyle/>
            <a:p>
              <a:pPr algn="just"/>
              <a:r>
                <a:rPr lang="it-IT" sz="1200" b="1" dirty="0">
                  <a:latin typeface="Arial" panose="020B0604020202020204" pitchFamily="34" charset="0"/>
                  <a:cs typeface="Arial" panose="020B0604020202020204" pitchFamily="34" charset="0"/>
                </a:rPr>
                <a:t>Possibili impatti su</a:t>
              </a:r>
              <a:r>
                <a:rPr lang="it-IT" sz="1200"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Policy (necessità di integrare la Policy AML con la nuova soglia);</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Processi e Procedure;</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controlli di primo – secondo e terzo livello;</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formazione</a:t>
              </a:r>
            </a:p>
          </p:txBody>
        </p:sp>
      </p:grpSp>
      <p:pic>
        <p:nvPicPr>
          <p:cNvPr id="34" name="Immagine 33">
            <a:extLst>
              <a:ext uri="{FF2B5EF4-FFF2-40B4-BE49-F238E27FC236}">
                <a16:creationId xmlns:a16="http://schemas.microsoft.com/office/drawing/2014/main" id="{30275200-D7E1-DC65-6D9F-75325BB5799C}"/>
              </a:ext>
            </a:extLst>
          </p:cNvPr>
          <p:cNvPicPr>
            <a:picLocks noChangeAspect="1"/>
          </p:cNvPicPr>
          <p:nvPr/>
        </p:nvPicPr>
        <p:blipFill>
          <a:blip r:embed="rId3"/>
          <a:stretch>
            <a:fillRect/>
          </a:stretch>
        </p:blipFill>
        <p:spPr>
          <a:xfrm>
            <a:off x="7255616" y="1186616"/>
            <a:ext cx="419649" cy="350984"/>
          </a:xfrm>
          <a:prstGeom prst="rect">
            <a:avLst/>
          </a:prstGeom>
        </p:spPr>
      </p:pic>
    </p:spTree>
    <p:extLst>
      <p:ext uri="{BB962C8B-B14F-4D97-AF65-F5344CB8AC3E}">
        <p14:creationId xmlns:p14="http://schemas.microsoft.com/office/powerpoint/2010/main" val="3798850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ella 4">
            <a:extLst>
              <a:ext uri="{FF2B5EF4-FFF2-40B4-BE49-F238E27FC236}">
                <a16:creationId xmlns:a16="http://schemas.microsoft.com/office/drawing/2014/main" id="{3200A8C7-149B-AA69-028C-25AE26444C65}"/>
              </a:ext>
            </a:extLst>
          </p:cNvPr>
          <p:cNvGraphicFramePr>
            <a:graphicFrameLocks noGrp="1"/>
          </p:cNvGraphicFramePr>
          <p:nvPr>
            <p:extLst>
              <p:ext uri="{D42A27DB-BD31-4B8C-83A1-F6EECF244321}">
                <p14:modId xmlns:p14="http://schemas.microsoft.com/office/powerpoint/2010/main" val="3672379388"/>
              </p:ext>
            </p:extLst>
          </p:nvPr>
        </p:nvGraphicFramePr>
        <p:xfrm>
          <a:off x="174172" y="1182309"/>
          <a:ext cx="6049780" cy="5172771"/>
        </p:xfrm>
        <a:graphic>
          <a:graphicData uri="http://schemas.openxmlformats.org/drawingml/2006/table">
            <a:tbl>
              <a:tblPr firstRow="1" bandRow="1">
                <a:tableStyleId>{5C22544A-7EE6-4342-B048-85BDC9FD1C3A}</a:tableStyleId>
              </a:tblPr>
              <a:tblGrid>
                <a:gridCol w="2455033">
                  <a:extLst>
                    <a:ext uri="{9D8B030D-6E8A-4147-A177-3AD203B41FA5}">
                      <a16:colId xmlns:a16="http://schemas.microsoft.com/office/drawing/2014/main" val="526275485"/>
                    </a:ext>
                  </a:extLst>
                </a:gridCol>
                <a:gridCol w="3594747">
                  <a:extLst>
                    <a:ext uri="{9D8B030D-6E8A-4147-A177-3AD203B41FA5}">
                      <a16:colId xmlns:a16="http://schemas.microsoft.com/office/drawing/2014/main" val="4082768777"/>
                    </a:ext>
                  </a:extLst>
                </a:gridCol>
              </a:tblGrid>
              <a:tr h="417891">
                <a:tc>
                  <a:txBody>
                    <a:bodyPr/>
                    <a:lstStyle/>
                    <a:p>
                      <a:r>
                        <a:rPr lang="it-IT" sz="12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Novità introdotta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462892"/>
                  </a:ext>
                </a:extLst>
              </a:tr>
              <a:tr h="370840">
                <a:tc>
                  <a:txBody>
                    <a:bodyPr/>
                    <a:lstStyle/>
                    <a:p>
                      <a:r>
                        <a:rPr lang="it-IT" sz="1200" dirty="0">
                          <a:latin typeface="Arial" panose="020B0604020202020204" pitchFamily="34" charset="0"/>
                          <a:cs typeface="Arial" panose="020B0604020202020204" pitchFamily="34" charset="0"/>
                        </a:rPr>
                        <a:t>52 comma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it-IT" sz="1200" dirty="0">
                          <a:latin typeface="Arial" panose="020B0604020202020204" pitchFamily="34" charset="0"/>
                          <a:cs typeface="Arial" panose="020B0604020202020204" pitchFamily="34" charset="0"/>
                        </a:rPr>
                        <a:t>Nell’ambito dell’identificazione della titolarità effettiva, per partecipazione nella società si intende la proprietà diretta o indiretta di </a:t>
                      </a:r>
                      <a:r>
                        <a:rPr lang="it-IT" sz="1200" b="1" dirty="0">
                          <a:latin typeface="Arial" panose="020B0604020202020204" pitchFamily="34" charset="0"/>
                          <a:cs typeface="Arial" panose="020B0604020202020204" pitchFamily="34" charset="0"/>
                        </a:rPr>
                        <a:t>almeno il 25% </a:t>
                      </a:r>
                      <a:r>
                        <a:rPr lang="it-IT" sz="1200" dirty="0">
                          <a:latin typeface="Arial" panose="020B0604020202020204" pitchFamily="34" charset="0"/>
                          <a:cs typeface="Arial" panose="020B0604020202020204" pitchFamily="34" charset="0"/>
                        </a:rPr>
                        <a:t>delle azioni o dei diritti di voto o di altra partecipazione nella Società, </a:t>
                      </a:r>
                      <a:r>
                        <a:rPr lang="it-IT" sz="1200" b="1" dirty="0">
                          <a:latin typeface="Arial" panose="020B0604020202020204" pitchFamily="34" charset="0"/>
                          <a:cs typeface="Arial" panose="020B0604020202020204" pitchFamily="34" charset="0"/>
                        </a:rPr>
                        <a:t>compresi i diritti a una quota degli utili, ad altre risorse interne o al bilancio di liquidazione</a:t>
                      </a:r>
                      <a:r>
                        <a:rPr lang="it-IT" sz="1200"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0823304"/>
                  </a:ext>
                </a:extLst>
              </a:tr>
              <a:tr h="370840">
                <a:tc>
                  <a:txBody>
                    <a:bodyPr/>
                    <a:lstStyle/>
                    <a:p>
                      <a:r>
                        <a:rPr lang="it-IT" sz="1200" dirty="0">
                          <a:latin typeface="Arial" panose="020B0604020202020204" pitchFamily="34" charset="0"/>
                          <a:cs typeface="Arial" panose="020B0604020202020204" pitchFamily="34" charset="0"/>
                        </a:rPr>
                        <a:t>52 comma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E’ possibile per categorie di soggetti a rischi più elevati l’applicazione di una soglia </a:t>
                      </a:r>
                      <a:r>
                        <a:rPr lang="it-IT" sz="1200" b="1" dirty="0">
                          <a:latin typeface="Arial" panose="020B0604020202020204" pitchFamily="34" charset="0"/>
                          <a:cs typeface="Arial" panose="020B0604020202020204" pitchFamily="34" charset="0"/>
                        </a:rPr>
                        <a:t>inferiore (non più bassa del 15%)</a:t>
                      </a:r>
                      <a:r>
                        <a:rPr lang="it-IT" sz="1200" dirty="0">
                          <a:latin typeface="Arial" panose="020B0604020202020204" pitchFamily="34" charset="0"/>
                          <a:cs typeface="Arial" panose="020B0604020202020204" pitchFamily="34" charset="0"/>
                        </a:rPr>
                        <a:t>, previa </a:t>
                      </a:r>
                      <a:r>
                        <a:rPr lang="it-IT" sz="1200" b="1" dirty="0">
                          <a:latin typeface="Arial" panose="020B0604020202020204" pitchFamily="34" charset="0"/>
                          <a:cs typeface="Arial" panose="020B0604020202020204" pitchFamily="34" charset="0"/>
                        </a:rPr>
                        <a:t>emanazione</a:t>
                      </a:r>
                      <a:r>
                        <a:rPr lang="it-IT" sz="1200" dirty="0">
                          <a:latin typeface="Arial" panose="020B0604020202020204" pitchFamily="34" charset="0"/>
                          <a:cs typeface="Arial" panose="020B0604020202020204" pitchFamily="34" charset="0"/>
                        </a:rPr>
                        <a:t> entro il </a:t>
                      </a:r>
                      <a:r>
                        <a:rPr lang="it-IT" sz="1200" b="1" dirty="0">
                          <a:latin typeface="Arial" panose="020B0604020202020204" pitchFamily="34" charset="0"/>
                          <a:cs typeface="Arial" panose="020B0604020202020204" pitchFamily="34" charset="0"/>
                        </a:rPr>
                        <a:t>10 luglio 2029 </a:t>
                      </a:r>
                      <a:r>
                        <a:rPr lang="it-IT" sz="1200" dirty="0">
                          <a:latin typeface="Arial" panose="020B0604020202020204" pitchFamily="34" charset="0"/>
                          <a:cs typeface="Arial" panose="020B0604020202020204" pitchFamily="34" charset="0"/>
                        </a:rPr>
                        <a:t>da parte della Commissione di un atto delegato.</a:t>
                      </a:r>
                    </a:p>
                    <a:p>
                      <a:pPr algn="just"/>
                      <a:endParaRPr lang="it-IT" sz="1200" dirty="0">
                        <a:latin typeface="Arial" panose="020B0604020202020204" pitchFamily="34" charset="0"/>
                        <a:cs typeface="Arial" panose="020B0604020202020204" pitchFamily="34" charset="0"/>
                      </a:endParaRPr>
                    </a:p>
                  </a:txBody>
                  <a:tcPr marL="137160" marR="137160" marT="137160" marB="1371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4809398"/>
                  </a:ext>
                </a:extLst>
              </a:tr>
              <a:tr h="370840">
                <a:tc>
                  <a:txBody>
                    <a:bodyPr/>
                    <a:lstStyle/>
                    <a:p>
                      <a:r>
                        <a:rPr lang="it-IT" sz="1200" dirty="0">
                          <a:latin typeface="Arial" panose="020B0604020202020204" pitchFamily="34" charset="0"/>
                          <a:cs typeface="Arial" panose="020B0604020202020204" pitchFamily="34" charset="0"/>
                        </a:rPr>
                        <a:t>52 comma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it-IT" sz="1200" dirty="0">
                          <a:latin typeface="Arial" panose="020B0604020202020204" pitchFamily="34" charset="0"/>
                          <a:cs typeface="Arial" panose="020B0604020202020204" pitchFamily="34" charset="0"/>
                        </a:rPr>
                        <a:t>La proprietà indiretta è </a:t>
                      </a:r>
                      <a:r>
                        <a:rPr lang="it-IT" sz="1200" b="1" dirty="0">
                          <a:latin typeface="Arial" panose="020B0604020202020204" pitchFamily="34" charset="0"/>
                          <a:cs typeface="Arial" panose="020B0604020202020204" pitchFamily="34" charset="0"/>
                        </a:rPr>
                        <a:t>calcolata moltiplicando le azioni o i diritti di voto </a:t>
                      </a:r>
                      <a:r>
                        <a:rPr lang="it-IT" sz="1200" dirty="0">
                          <a:latin typeface="Arial" panose="020B0604020202020204" pitchFamily="34" charset="0"/>
                          <a:cs typeface="Arial" panose="020B0604020202020204" pitchFamily="34" charset="0"/>
                        </a:rPr>
                        <a:t>o altre partecipazioni detenute dai soggetti intermedi nella catena di soggetti in cui il titolare effettivo detiene azioni o diritti di voto </a:t>
                      </a:r>
                      <a:r>
                        <a:rPr lang="it-IT" sz="1200" b="1" dirty="0">
                          <a:latin typeface="Arial" panose="020B0604020202020204" pitchFamily="34" charset="0"/>
                          <a:cs typeface="Arial" panose="020B0604020202020204" pitchFamily="34" charset="0"/>
                        </a:rPr>
                        <a:t>e sommando i risultati di tali diverse catene…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3313534"/>
                  </a:ext>
                </a:extLst>
              </a:tr>
              <a:tr h="370840">
                <a:tc>
                  <a:txBody>
                    <a:bodyPr/>
                    <a:lstStyle/>
                    <a:p>
                      <a:r>
                        <a:rPr lang="it-IT" sz="1200" dirty="0">
                          <a:latin typeface="Arial" panose="020B0604020202020204" pitchFamily="34" charset="0"/>
                          <a:cs typeface="Arial" panose="020B0604020202020204" pitchFamily="34" charset="0"/>
                        </a:rPr>
                        <a:t>52 comma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it-IT" sz="1200" dirty="0">
                          <a:latin typeface="Arial" panose="020B0604020202020204" pitchFamily="34" charset="0"/>
                          <a:cs typeface="Arial" panose="020B0604020202020204" pitchFamily="34" charset="0"/>
                        </a:rPr>
                        <a:t>Ai fini delle valutazione dell’esistenza di una partecipazione nella Società, si tiene conto di </a:t>
                      </a:r>
                      <a:r>
                        <a:rPr lang="it-IT" sz="1200" b="1" dirty="0">
                          <a:latin typeface="Arial" panose="020B0604020202020204" pitchFamily="34" charset="0"/>
                          <a:cs typeface="Arial" panose="020B0604020202020204" pitchFamily="34" charset="0"/>
                        </a:rPr>
                        <a:t>tutte le partecipazioni azionarie a ogni livello di proprietà.</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4301806"/>
                  </a:ext>
                </a:extLst>
              </a:tr>
            </a:tbl>
          </a:graphicData>
        </a:graphic>
      </p:graphicFrame>
      <p:sp>
        <p:nvSpPr>
          <p:cNvPr id="4" name="CasellaDiTesto 3">
            <a:extLst>
              <a:ext uri="{FF2B5EF4-FFF2-40B4-BE49-F238E27FC236}">
                <a16:creationId xmlns:a16="http://schemas.microsoft.com/office/drawing/2014/main" id="{A9F68F38-6F51-36CA-C3F5-3348B576ADAD}"/>
              </a:ext>
            </a:extLst>
          </p:cNvPr>
          <p:cNvSpPr txBox="1"/>
          <p:nvPr/>
        </p:nvSpPr>
        <p:spPr>
          <a:xfrm>
            <a:off x="109738" y="854640"/>
            <a:ext cx="7591905" cy="338554"/>
          </a:xfrm>
          <a:prstGeom prst="rect">
            <a:avLst/>
          </a:prstGeom>
          <a:noFill/>
        </p:spPr>
        <p:txBody>
          <a:bodyPr wrap="square">
            <a:spAutoFit/>
          </a:bodyPr>
          <a:lstStyle/>
          <a:p>
            <a:r>
              <a:rPr lang="it-IT" sz="1600" dirty="0">
                <a:latin typeface="Arial" panose="020B0604020202020204" pitchFamily="34" charset="0"/>
                <a:cs typeface="Arial" panose="020B0604020202020204" pitchFamily="34" charset="0"/>
              </a:rPr>
              <a:t>g) NUOVI CRITERI PER INDIVIDUAZIONE TITOLARITA’ EFFETTIVA (1/2)</a:t>
            </a:r>
          </a:p>
        </p:txBody>
      </p:sp>
      <p:sp>
        <p:nvSpPr>
          <p:cNvPr id="6" name="Rettangolo 5">
            <a:extLst>
              <a:ext uri="{FF2B5EF4-FFF2-40B4-BE49-F238E27FC236}">
                <a16:creationId xmlns:a16="http://schemas.microsoft.com/office/drawing/2014/main" id="{F2FC6D68-5F41-F03C-B5EE-7B952F7C6460}"/>
              </a:ext>
            </a:extLst>
          </p:cNvPr>
          <p:cNvSpPr/>
          <p:nvPr/>
        </p:nvSpPr>
        <p:spPr>
          <a:xfrm>
            <a:off x="7160078" y="1612750"/>
            <a:ext cx="1630136" cy="45434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dirty="0">
                <a:solidFill>
                  <a:schemeClr val="tx1"/>
                </a:solidFill>
                <a:latin typeface="Arial" panose="020B0604020202020204" pitchFamily="34" charset="0"/>
                <a:cs typeface="Arial" panose="020B0604020202020204" pitchFamily="34" charset="0"/>
              </a:rPr>
              <a:t>Precedentemente </a:t>
            </a:r>
            <a:r>
              <a:rPr lang="it-IT" sz="1200" b="1" dirty="0">
                <a:solidFill>
                  <a:schemeClr val="tx1"/>
                </a:solidFill>
                <a:latin typeface="Arial" panose="020B0604020202020204" pitchFamily="34" charset="0"/>
                <a:cs typeface="Arial" panose="020B0604020202020204" pitchFamily="34" charset="0"/>
              </a:rPr>
              <a:t>25% più una quota</a:t>
            </a:r>
          </a:p>
        </p:txBody>
      </p:sp>
      <p:cxnSp>
        <p:nvCxnSpPr>
          <p:cNvPr id="8" name="Connettore a gomito 7">
            <a:extLst>
              <a:ext uri="{FF2B5EF4-FFF2-40B4-BE49-F238E27FC236}">
                <a16:creationId xmlns:a16="http://schemas.microsoft.com/office/drawing/2014/main" id="{462BB4A9-30FE-F138-7C53-53BE72377AD7}"/>
              </a:ext>
            </a:extLst>
          </p:cNvPr>
          <p:cNvCxnSpPr>
            <a:cxnSpLocks/>
          </p:cNvCxnSpPr>
          <p:nvPr/>
        </p:nvCxnSpPr>
        <p:spPr>
          <a:xfrm flipV="1">
            <a:off x="2996293" y="1828150"/>
            <a:ext cx="4090307" cy="454343"/>
          </a:xfrm>
          <a:prstGeom prst="bentConnector3">
            <a:avLst>
              <a:gd name="adj1" fmla="val 50000"/>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sp>
        <p:nvSpPr>
          <p:cNvPr id="14" name="Rettangolo 13">
            <a:extLst>
              <a:ext uri="{FF2B5EF4-FFF2-40B4-BE49-F238E27FC236}">
                <a16:creationId xmlns:a16="http://schemas.microsoft.com/office/drawing/2014/main" id="{65F8D685-434B-E316-3B93-29DC00A00A4D}"/>
              </a:ext>
            </a:extLst>
          </p:cNvPr>
          <p:cNvSpPr/>
          <p:nvPr/>
        </p:nvSpPr>
        <p:spPr>
          <a:xfrm>
            <a:off x="7160079" y="3064329"/>
            <a:ext cx="4678135" cy="138792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it-IT" sz="1200" b="1" dirty="0">
                <a:solidFill>
                  <a:schemeClr val="tx1"/>
                </a:solidFill>
                <a:latin typeface="Arial" panose="020B0604020202020204" pitchFamily="34" charset="0"/>
                <a:cs typeface="Arial" panose="020B0604020202020204" pitchFamily="34" charset="0"/>
              </a:rPr>
              <a:t>Superato il criterio </a:t>
            </a:r>
            <a:r>
              <a:rPr lang="it-IT" sz="1200" dirty="0">
                <a:solidFill>
                  <a:schemeClr val="tx1"/>
                </a:solidFill>
                <a:latin typeface="Arial" panose="020B0604020202020204" pitchFamily="34" charset="0"/>
                <a:cs typeface="Arial" panose="020B0604020202020204" pitchFamily="34" charset="0"/>
              </a:rPr>
              <a:t>interpretativo dettato dal MEF nel 2023 </a:t>
            </a:r>
          </a:p>
          <a:p>
            <a:pPr algn="just"/>
            <a:r>
              <a:rPr lang="it-IT" sz="1200" dirty="0">
                <a:solidFill>
                  <a:schemeClr val="tx1"/>
                </a:solidFill>
                <a:latin typeface="Arial" panose="020B0604020202020204" pitchFamily="34" charset="0"/>
                <a:cs typeface="Arial" panose="020B0604020202020204" pitchFamily="34" charset="0"/>
              </a:rPr>
              <a:t>(«</a:t>
            </a:r>
            <a:r>
              <a:rPr lang="it-IT" sz="1200" i="1" dirty="0">
                <a:solidFill>
                  <a:schemeClr val="tx1"/>
                </a:solidFill>
                <a:latin typeface="Arial" panose="020B0604020202020204" pitchFamily="34" charset="0"/>
                <a:cs typeface="Arial" panose="020B0604020202020204" pitchFamily="34" charset="0"/>
              </a:rPr>
              <a:t>Per l’ipotesi di proprietà indiretta, per il tramite di società controllate, la soglia del 25% +1 va considerata </a:t>
            </a:r>
            <a:r>
              <a:rPr lang="it-IT" sz="1200" b="1" i="1" dirty="0">
                <a:solidFill>
                  <a:schemeClr val="tx1"/>
                </a:solidFill>
                <a:latin typeface="Arial" panose="020B0604020202020204" pitchFamily="34" charset="0"/>
                <a:cs typeface="Arial" panose="020B0604020202020204" pitchFamily="34" charset="0"/>
              </a:rPr>
              <a:t>esclusivamente in relazione al capitale della società cliente</a:t>
            </a:r>
            <a:r>
              <a:rPr lang="it-IT" sz="1200" i="1" dirty="0">
                <a:solidFill>
                  <a:schemeClr val="tx1"/>
                </a:solidFill>
                <a:latin typeface="Arial" panose="020B0604020202020204" pitchFamily="34" charset="0"/>
                <a:cs typeface="Arial" panose="020B0604020202020204" pitchFamily="34" charset="0"/>
              </a:rPr>
              <a:t>, al quale si fa espressamente riferimento, risalendo poi la catena partecipativa per individuare la persona fisica o le persone fisiche che esercitano il controllo ai sensi dell’art. 2359, comma </a:t>
            </a:r>
            <a:r>
              <a:rPr lang="it-IT" sz="1200" i="1" dirty="0">
                <a:solidFill>
                  <a:schemeClr val="bg1"/>
                </a:solidFill>
                <a:latin typeface="Arial" panose="020B0604020202020204" pitchFamily="34" charset="0"/>
                <a:cs typeface="Arial" panose="020B0604020202020204" pitchFamily="34" charset="0"/>
              </a:rPr>
              <a:t>1, c.c.»</a:t>
            </a:r>
          </a:p>
        </p:txBody>
      </p:sp>
      <p:sp>
        <p:nvSpPr>
          <p:cNvPr id="22" name="Rettangolo 21">
            <a:extLst>
              <a:ext uri="{FF2B5EF4-FFF2-40B4-BE49-F238E27FC236}">
                <a16:creationId xmlns:a16="http://schemas.microsoft.com/office/drawing/2014/main" id="{65B7DA1E-4B5D-4F7A-7C75-A721B1D09C46}"/>
              </a:ext>
            </a:extLst>
          </p:cNvPr>
          <p:cNvSpPr/>
          <p:nvPr/>
        </p:nvSpPr>
        <p:spPr>
          <a:xfrm>
            <a:off x="2699657" y="3054485"/>
            <a:ext cx="3450772" cy="2426472"/>
          </a:xfrm>
          <a:prstGeom prst="rect">
            <a:avLst/>
          </a:prstGeom>
          <a:noFill/>
          <a:ln w="28575">
            <a:solidFill>
              <a:srgbClr val="00999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4" name="Connettore a gomito 23">
            <a:extLst>
              <a:ext uri="{FF2B5EF4-FFF2-40B4-BE49-F238E27FC236}">
                <a16:creationId xmlns:a16="http://schemas.microsoft.com/office/drawing/2014/main" id="{624D1120-D93F-1038-7E83-2301E57D2CFD}"/>
              </a:ext>
            </a:extLst>
          </p:cNvPr>
          <p:cNvCxnSpPr>
            <a:cxnSpLocks/>
            <a:endCxn id="14" idx="1"/>
          </p:cNvCxnSpPr>
          <p:nvPr/>
        </p:nvCxnSpPr>
        <p:spPr>
          <a:xfrm>
            <a:off x="6324600" y="3739243"/>
            <a:ext cx="835479" cy="19050"/>
          </a:xfrm>
          <a:prstGeom prst="bentConnector3">
            <a:avLst/>
          </a:prstGeom>
          <a:ln w="28575">
            <a:solidFill>
              <a:srgbClr val="00999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 name="Rettangolo 1">
            <a:extLst>
              <a:ext uri="{FF2B5EF4-FFF2-40B4-BE49-F238E27FC236}">
                <a16:creationId xmlns:a16="http://schemas.microsoft.com/office/drawing/2014/main" id="{18653297-7E80-F209-F124-925B92F94A65}"/>
              </a:ext>
            </a:extLst>
          </p:cNvPr>
          <p:cNvSpPr/>
          <p:nvPr/>
        </p:nvSpPr>
        <p:spPr>
          <a:xfrm>
            <a:off x="7160078" y="2207674"/>
            <a:ext cx="4678135" cy="56120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200" b="1" dirty="0">
                <a:solidFill>
                  <a:schemeClr val="tx1"/>
                </a:solidFill>
                <a:latin typeface="Arial" panose="020B0604020202020204" pitchFamily="34" charset="0"/>
                <a:cs typeface="Arial" panose="020B0604020202020204" pitchFamily="34" charset="0"/>
              </a:rPr>
              <a:t>Esteso il criterio di partecipazione rilevante, non più limitato alle azioni o diritto di voto ma esteso anche ad altri diritti</a:t>
            </a:r>
          </a:p>
        </p:txBody>
      </p:sp>
      <p:sp>
        <p:nvSpPr>
          <p:cNvPr id="7" name="Rettangolo 6">
            <a:extLst>
              <a:ext uri="{FF2B5EF4-FFF2-40B4-BE49-F238E27FC236}">
                <a16:creationId xmlns:a16="http://schemas.microsoft.com/office/drawing/2014/main" id="{814C74D5-1A5F-44D9-B1CB-2F56246F6546}"/>
              </a:ext>
            </a:extLst>
          </p:cNvPr>
          <p:cNvSpPr/>
          <p:nvPr/>
        </p:nvSpPr>
        <p:spPr>
          <a:xfrm>
            <a:off x="2628900" y="2415396"/>
            <a:ext cx="3595052" cy="506186"/>
          </a:xfrm>
          <a:prstGeom prst="rect">
            <a:avLst/>
          </a:prstGeom>
          <a:noFill/>
          <a:ln w="28575">
            <a:solidFill>
              <a:srgbClr val="00999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0" name="Connettore a gomito 9">
            <a:extLst>
              <a:ext uri="{FF2B5EF4-FFF2-40B4-BE49-F238E27FC236}">
                <a16:creationId xmlns:a16="http://schemas.microsoft.com/office/drawing/2014/main" id="{AC325439-31FD-62D5-D1C7-9199438B2381}"/>
              </a:ext>
            </a:extLst>
          </p:cNvPr>
          <p:cNvCxnSpPr>
            <a:cxnSpLocks/>
            <a:endCxn id="2" idx="1"/>
          </p:cNvCxnSpPr>
          <p:nvPr/>
        </p:nvCxnSpPr>
        <p:spPr>
          <a:xfrm flipV="1">
            <a:off x="6223952" y="2488277"/>
            <a:ext cx="936126" cy="121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7602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F7672-36CC-BE7C-4083-F65B679C5156}"/>
            </a:ext>
          </a:extLst>
        </p:cNvPr>
        <p:cNvGrpSpPr/>
        <p:nvPr/>
      </p:nvGrpSpPr>
      <p:grpSpPr>
        <a:xfrm>
          <a:off x="0" y="0"/>
          <a:ext cx="0" cy="0"/>
          <a:chOff x="0" y="0"/>
          <a:chExt cx="0" cy="0"/>
        </a:xfrm>
      </p:grpSpPr>
      <p:sp>
        <p:nvSpPr>
          <p:cNvPr id="4" name="CasellaDiTesto 3">
            <a:extLst>
              <a:ext uri="{FF2B5EF4-FFF2-40B4-BE49-F238E27FC236}">
                <a16:creationId xmlns:a16="http://schemas.microsoft.com/office/drawing/2014/main" id="{E7FC782E-2973-EF42-9D6D-8624E43F1E15}"/>
              </a:ext>
            </a:extLst>
          </p:cNvPr>
          <p:cNvSpPr txBox="1"/>
          <p:nvPr/>
        </p:nvSpPr>
        <p:spPr>
          <a:xfrm>
            <a:off x="174172" y="783771"/>
            <a:ext cx="6966857" cy="338554"/>
          </a:xfrm>
          <a:prstGeom prst="rect">
            <a:avLst/>
          </a:prstGeom>
          <a:noFill/>
        </p:spPr>
        <p:txBody>
          <a:bodyPr wrap="square">
            <a:spAutoFit/>
          </a:bodyPr>
          <a:lstStyle/>
          <a:p>
            <a:r>
              <a:rPr lang="it-IT" sz="1600" dirty="0">
                <a:latin typeface="Arial" panose="020B0604020202020204" pitchFamily="34" charset="0"/>
                <a:cs typeface="Arial" panose="020B0604020202020204" pitchFamily="34" charset="0"/>
              </a:rPr>
              <a:t>g) NUOVI CRITERI PER INDIVIDUAZIONE TITOLARITA’ EFFETTIVA (2/2)</a:t>
            </a:r>
          </a:p>
        </p:txBody>
      </p:sp>
      <p:graphicFrame>
        <p:nvGraphicFramePr>
          <p:cNvPr id="5" name="Tabella 4">
            <a:extLst>
              <a:ext uri="{FF2B5EF4-FFF2-40B4-BE49-F238E27FC236}">
                <a16:creationId xmlns:a16="http://schemas.microsoft.com/office/drawing/2014/main" id="{AC172E76-4A08-D626-637D-13B8AE33D87C}"/>
              </a:ext>
            </a:extLst>
          </p:cNvPr>
          <p:cNvGraphicFramePr>
            <a:graphicFrameLocks noGrp="1"/>
          </p:cNvGraphicFramePr>
          <p:nvPr>
            <p:extLst>
              <p:ext uri="{D42A27DB-BD31-4B8C-83A1-F6EECF244321}">
                <p14:modId xmlns:p14="http://schemas.microsoft.com/office/powerpoint/2010/main" val="749297558"/>
              </p:ext>
            </p:extLst>
          </p:nvPr>
        </p:nvGraphicFramePr>
        <p:xfrm>
          <a:off x="174172" y="1182309"/>
          <a:ext cx="6901542" cy="3709731"/>
        </p:xfrm>
        <a:graphic>
          <a:graphicData uri="http://schemas.openxmlformats.org/drawingml/2006/table">
            <a:tbl>
              <a:tblPr firstRow="1" bandRow="1">
                <a:tableStyleId>{5C22544A-7EE6-4342-B048-85BDC9FD1C3A}</a:tableStyleId>
              </a:tblPr>
              <a:tblGrid>
                <a:gridCol w="1191985">
                  <a:extLst>
                    <a:ext uri="{9D8B030D-6E8A-4147-A177-3AD203B41FA5}">
                      <a16:colId xmlns:a16="http://schemas.microsoft.com/office/drawing/2014/main" val="526275485"/>
                    </a:ext>
                  </a:extLst>
                </a:gridCol>
                <a:gridCol w="5709557">
                  <a:extLst>
                    <a:ext uri="{9D8B030D-6E8A-4147-A177-3AD203B41FA5}">
                      <a16:colId xmlns:a16="http://schemas.microsoft.com/office/drawing/2014/main" val="4082768777"/>
                    </a:ext>
                  </a:extLst>
                </a:gridCol>
              </a:tblGrid>
              <a:tr h="417891">
                <a:tc>
                  <a:txBody>
                    <a:bodyPr/>
                    <a:lstStyle/>
                    <a:p>
                      <a:r>
                        <a:rPr lang="it-IT" sz="12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Novità introdotta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462892"/>
                  </a:ext>
                </a:extLst>
              </a:tr>
              <a:tr h="370840">
                <a:tc>
                  <a:txBody>
                    <a:bodyPr/>
                    <a:lstStyle/>
                    <a:p>
                      <a:r>
                        <a:rPr lang="it-IT" sz="1200" dirty="0">
                          <a:latin typeface="Arial" panose="020B0604020202020204" pitchFamily="34" charset="0"/>
                          <a:cs typeface="Arial" panose="020B0604020202020204" pitchFamily="34" charset="0"/>
                        </a:rPr>
                        <a:t>51 comma 1,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just">
                        <a:buNone/>
                      </a:pPr>
                      <a:r>
                        <a:rPr lang="it-IT" sz="1200" dirty="0">
                          <a:latin typeface="Arial" panose="020B0604020202020204" pitchFamily="34" charset="0"/>
                          <a:cs typeface="Arial" panose="020B0604020202020204" pitchFamily="34" charset="0"/>
                        </a:rPr>
                        <a:t>I titolari effettivi di soggetti giuridici sono la persona fisica o le persone fisiche che:</a:t>
                      </a:r>
                    </a:p>
                    <a:p>
                      <a:pPr marL="0" indent="0" algn="just">
                        <a:buNone/>
                      </a:pPr>
                      <a:r>
                        <a:rPr lang="it-IT" sz="1200" dirty="0">
                          <a:latin typeface="Arial" panose="020B0604020202020204" pitchFamily="34" charset="0"/>
                          <a:cs typeface="Arial" panose="020B0604020202020204" pitchFamily="34" charset="0"/>
                        </a:rPr>
                        <a:t>a) detengono, direttamente o indirettamente, una partecipazione nella società; o</a:t>
                      </a:r>
                    </a:p>
                    <a:p>
                      <a:pPr marL="0" indent="0" algn="just">
                        <a:buNone/>
                      </a:pPr>
                      <a:r>
                        <a:rPr lang="it-IT" sz="1200" dirty="0">
                          <a:latin typeface="Arial" panose="020B0604020202020204" pitchFamily="34" charset="0"/>
                          <a:cs typeface="Arial" panose="020B0604020202020204" pitchFamily="34" charset="0"/>
                        </a:rPr>
                        <a:t>b) controllano, direttamente o indirettamente, la società o un altro soggetto giuridico attraverso una partecipazione o con altri mezzi.</a:t>
                      </a:r>
                    </a:p>
                    <a:p>
                      <a:pPr marL="0" indent="0" algn="just">
                        <a:buNone/>
                      </a:pPr>
                      <a:r>
                        <a:rPr lang="it-IT" sz="1200" dirty="0">
                          <a:latin typeface="Arial" panose="020B0604020202020204" pitchFamily="34" charset="0"/>
                          <a:cs typeface="Arial" panose="020B0604020202020204" pitchFamily="34" charset="0"/>
                        </a:rPr>
                        <a:t>Il </a:t>
                      </a:r>
                      <a:r>
                        <a:rPr lang="it-IT" sz="1200" b="1" dirty="0">
                          <a:latin typeface="Arial" panose="020B0604020202020204" pitchFamily="34" charset="0"/>
                          <a:cs typeface="Arial" panose="020B0604020202020204" pitchFamily="34" charset="0"/>
                        </a:rPr>
                        <a:t>controllo con altri mezzi </a:t>
                      </a:r>
                      <a:r>
                        <a:rPr lang="it-IT" sz="1200" dirty="0">
                          <a:latin typeface="Arial" panose="020B0604020202020204" pitchFamily="34" charset="0"/>
                          <a:cs typeface="Arial" panose="020B0604020202020204" pitchFamily="34" charset="0"/>
                        </a:rPr>
                        <a:t>di cui al primo comma, lettera b), </a:t>
                      </a:r>
                      <a:r>
                        <a:rPr lang="it-IT" sz="1200" b="1" u="sng" dirty="0">
                          <a:latin typeface="Arial" panose="020B0604020202020204" pitchFamily="34" charset="0"/>
                          <a:cs typeface="Arial" panose="020B0604020202020204" pitchFamily="34" charset="0"/>
                        </a:rPr>
                        <a:t>è individuato a prescindere </a:t>
                      </a:r>
                      <a:r>
                        <a:rPr lang="it-IT" sz="1200" dirty="0">
                          <a:latin typeface="Arial" panose="020B0604020202020204" pitchFamily="34" charset="0"/>
                          <a:cs typeface="Arial" panose="020B0604020202020204" pitchFamily="34" charset="0"/>
                        </a:rPr>
                        <a:t>dall'esistenza di una partecipazione o di un controllo attraverso una partecipazione, e in parallelo ad essa.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8085110"/>
                  </a:ext>
                </a:extLst>
              </a:tr>
              <a:tr h="370840">
                <a:tc>
                  <a:txBody>
                    <a:bodyPr/>
                    <a:lstStyle/>
                    <a:p>
                      <a:r>
                        <a:rPr lang="it-IT" sz="1200" dirty="0">
                          <a:latin typeface="Arial" panose="020B0604020202020204" pitchFamily="34" charset="0"/>
                          <a:cs typeface="Arial" panose="020B0604020202020204" pitchFamily="34" charset="0"/>
                        </a:rPr>
                        <a:t>54 comma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sz="1200" dirty="0">
                          <a:latin typeface="Arial" panose="020B0604020202020204" pitchFamily="34" charset="0"/>
                          <a:cs typeface="Arial" panose="020B0604020202020204" pitchFamily="34" charset="0"/>
                        </a:rPr>
                        <a:t>Se le Società </a:t>
                      </a:r>
                      <a:r>
                        <a:rPr lang="it-IT" sz="1200" b="1" dirty="0">
                          <a:latin typeface="Arial" panose="020B0604020202020204" pitchFamily="34" charset="0"/>
                          <a:cs typeface="Arial" panose="020B0604020202020204" pitchFamily="34" charset="0"/>
                        </a:rPr>
                        <a:t>sono detenute attraverso un assetto proprietario a più livelli e, in una o più catene di tale assetto, la partecipazione e il controllo coesistono </a:t>
                      </a:r>
                      <a:r>
                        <a:rPr lang="it-IT" sz="1200" dirty="0">
                          <a:latin typeface="Arial" panose="020B0604020202020204" pitchFamily="34" charset="0"/>
                          <a:cs typeface="Arial" panose="020B0604020202020204" pitchFamily="34" charset="0"/>
                        </a:rPr>
                        <a:t>in relazione a diversi livelli della catena, i titolari effettivi sono:</a:t>
                      </a:r>
                    </a:p>
                    <a:p>
                      <a:pPr marL="342900" indent="-342900" algn="just">
                        <a:buAutoNum type="alphaLcParenR"/>
                      </a:pPr>
                      <a:r>
                        <a:rPr lang="it-IT" sz="1200" b="1" dirty="0">
                          <a:latin typeface="Arial" panose="020B0604020202020204" pitchFamily="34" charset="0"/>
                          <a:cs typeface="Arial" panose="020B0604020202020204" pitchFamily="34" charset="0"/>
                        </a:rPr>
                        <a:t>Le persone fisiche che controllano</a:t>
                      </a:r>
                      <a:r>
                        <a:rPr lang="it-IT" sz="1200" dirty="0">
                          <a:latin typeface="Arial" panose="020B0604020202020204" pitchFamily="34" charset="0"/>
                          <a:cs typeface="Arial" panose="020B0604020202020204" pitchFamily="34" charset="0"/>
                        </a:rPr>
                        <a:t>, direttamente o indirettamente, attraverso una partecipazione o altri mezzi, </a:t>
                      </a:r>
                      <a:r>
                        <a:rPr lang="it-IT" sz="1200" b="1" dirty="0">
                          <a:latin typeface="Arial" panose="020B0604020202020204" pitchFamily="34" charset="0"/>
                          <a:cs typeface="Arial" panose="020B0604020202020204" pitchFamily="34" charset="0"/>
                        </a:rPr>
                        <a:t>i soggetti che detengono una partecipazione diretta </a:t>
                      </a:r>
                      <a:r>
                        <a:rPr lang="it-IT" sz="1200" dirty="0">
                          <a:latin typeface="Arial" panose="020B0604020202020204" pitchFamily="34" charset="0"/>
                          <a:cs typeface="Arial" panose="020B0604020202020204" pitchFamily="34" charset="0"/>
                        </a:rPr>
                        <a:t>nella Società, individualmente o cumulativamente;</a:t>
                      </a:r>
                    </a:p>
                    <a:p>
                      <a:pPr marL="342900" indent="-342900" algn="just">
                        <a:buAutoNum type="alphaLcParenR"/>
                      </a:pPr>
                      <a:r>
                        <a:rPr lang="it-IT" sz="1200" dirty="0">
                          <a:latin typeface="Arial" panose="020B0604020202020204" pitchFamily="34" charset="0"/>
                          <a:cs typeface="Arial" panose="020B0604020202020204" pitchFamily="34" charset="0"/>
                        </a:rPr>
                        <a:t>Le </a:t>
                      </a:r>
                      <a:r>
                        <a:rPr lang="it-IT" sz="1200" b="1" dirty="0">
                          <a:latin typeface="Arial" panose="020B0604020202020204" pitchFamily="34" charset="0"/>
                          <a:cs typeface="Arial" panose="020B0604020202020204" pitchFamily="34" charset="0"/>
                        </a:rPr>
                        <a:t>persone fisiche che</a:t>
                      </a:r>
                      <a:r>
                        <a:rPr lang="it-IT" sz="1200" dirty="0">
                          <a:latin typeface="Arial" panose="020B0604020202020204" pitchFamily="34" charset="0"/>
                          <a:cs typeface="Arial" panose="020B0604020202020204" pitchFamily="34" charset="0"/>
                        </a:rPr>
                        <a:t>, individualmente o cumulativamente, direttamente o indirettamente, </a:t>
                      </a:r>
                      <a:r>
                        <a:rPr lang="it-IT" sz="1200" b="1" dirty="0">
                          <a:latin typeface="Arial" panose="020B0604020202020204" pitchFamily="34" charset="0"/>
                          <a:cs typeface="Arial" panose="020B0604020202020204" pitchFamily="34" charset="0"/>
                        </a:rPr>
                        <a:t>detengono una partecipazione nella società </a:t>
                      </a:r>
                      <a:r>
                        <a:rPr lang="it-IT" sz="1200" dirty="0">
                          <a:latin typeface="Arial" panose="020B0604020202020204" pitchFamily="34" charset="0"/>
                          <a:cs typeface="Arial" panose="020B0604020202020204" pitchFamily="34" charset="0"/>
                        </a:rPr>
                        <a:t>che controlla, attraverso una partecipazione o altri mezzi, la Società, direttamente o indirettamente.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3209141"/>
                  </a:ext>
                </a:extLst>
              </a:tr>
            </a:tbl>
          </a:graphicData>
        </a:graphic>
      </p:graphicFrame>
      <p:grpSp>
        <p:nvGrpSpPr>
          <p:cNvPr id="3" name="Gruppo 2">
            <a:extLst>
              <a:ext uri="{FF2B5EF4-FFF2-40B4-BE49-F238E27FC236}">
                <a16:creationId xmlns:a16="http://schemas.microsoft.com/office/drawing/2014/main" id="{F7458B1B-3C6C-DCC2-5323-6EFAB1141C2D}"/>
              </a:ext>
            </a:extLst>
          </p:cNvPr>
          <p:cNvGrpSpPr/>
          <p:nvPr/>
        </p:nvGrpSpPr>
        <p:grpSpPr>
          <a:xfrm>
            <a:off x="7527471" y="1875903"/>
            <a:ext cx="4490357" cy="2562086"/>
            <a:chOff x="7565494" y="489012"/>
            <a:chExt cx="4354441" cy="4682089"/>
          </a:xfrm>
        </p:grpSpPr>
        <p:sp>
          <p:nvSpPr>
            <p:cNvPr id="7" name="Figura a mano libera: forma 6">
              <a:extLst>
                <a:ext uri="{FF2B5EF4-FFF2-40B4-BE49-F238E27FC236}">
                  <a16:creationId xmlns:a16="http://schemas.microsoft.com/office/drawing/2014/main" id="{3C8C6CFB-841F-1893-B576-C9CE3975C684}"/>
                </a:ext>
              </a:extLst>
            </p:cNvPr>
            <p:cNvSpPr/>
            <p:nvPr/>
          </p:nvSpPr>
          <p:spPr>
            <a:xfrm rot="21600000">
              <a:off x="7565494" y="1687439"/>
              <a:ext cx="2128887" cy="3483662"/>
            </a:xfrm>
            <a:custGeom>
              <a:avLst/>
              <a:gdLst>
                <a:gd name="csX0" fmla="*/ 354885 w 3483661"/>
                <a:gd name="csY0" fmla="*/ 0 h 2128886"/>
                <a:gd name="csX1" fmla="*/ 3128776 w 3483661"/>
                <a:gd name="csY1" fmla="*/ 0 h 2128886"/>
                <a:gd name="csX2" fmla="*/ 3483661 w 3483661"/>
                <a:gd name="csY2" fmla="*/ 354885 h 2128886"/>
                <a:gd name="csX3" fmla="*/ 3483661 w 3483661"/>
                <a:gd name="csY3" fmla="*/ 2128886 h 2128886"/>
                <a:gd name="csX4" fmla="*/ 3483661 w 3483661"/>
                <a:gd name="csY4" fmla="*/ 2128886 h 2128886"/>
                <a:gd name="csX5" fmla="*/ 0 w 3483661"/>
                <a:gd name="csY5" fmla="*/ 2128886 h 2128886"/>
                <a:gd name="csX6" fmla="*/ 0 w 3483661"/>
                <a:gd name="csY6" fmla="*/ 2128886 h 2128886"/>
                <a:gd name="csX7" fmla="*/ 0 w 3483661"/>
                <a:gd name="csY7" fmla="*/ 354885 h 2128886"/>
                <a:gd name="csX8" fmla="*/ 354885 w 3483661"/>
                <a:gd name="csY8" fmla="*/ 0 h 21288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3661" h="2128886">
                  <a:moveTo>
                    <a:pt x="1" y="1912013"/>
                  </a:moveTo>
                  <a:lnTo>
                    <a:pt x="1" y="216873"/>
                  </a:lnTo>
                  <a:cubicBezTo>
                    <a:pt x="1" y="97097"/>
                    <a:pt x="260000" y="0"/>
                    <a:pt x="580726" y="0"/>
                  </a:cubicBezTo>
                  <a:lnTo>
                    <a:pt x="3483660" y="0"/>
                  </a:lnTo>
                  <a:lnTo>
                    <a:pt x="3483660" y="0"/>
                  </a:lnTo>
                  <a:lnTo>
                    <a:pt x="3483660" y="2128886"/>
                  </a:lnTo>
                  <a:lnTo>
                    <a:pt x="3483660" y="2128886"/>
                  </a:lnTo>
                  <a:lnTo>
                    <a:pt x="580726" y="2128886"/>
                  </a:lnTo>
                  <a:cubicBezTo>
                    <a:pt x="260000" y="2128886"/>
                    <a:pt x="1" y="2031789"/>
                    <a:pt x="1" y="1912013"/>
                  </a:cubicBez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168712" tIns="211893" rIns="97156" bIns="211892" numCol="1" spcCol="1270" anchor="t" anchorCtr="0">
              <a:noAutofit/>
            </a:bodyPr>
            <a:lstStyle/>
            <a:p>
              <a:pPr marL="0" lvl="0" indent="0" algn="l" defTabSz="755650">
                <a:lnSpc>
                  <a:spcPct val="90000"/>
                </a:lnSpc>
                <a:spcBef>
                  <a:spcPct val="0"/>
                </a:spcBef>
                <a:spcAft>
                  <a:spcPct val="35000"/>
                </a:spcAft>
                <a:buNone/>
              </a:pPr>
              <a:r>
                <a:rPr lang="it-IT" sz="1200" b="1" kern="1200" dirty="0">
                  <a:solidFill>
                    <a:schemeClr val="tx1"/>
                  </a:solidFill>
                  <a:latin typeface="Arial" panose="020B0604020202020204" pitchFamily="34" charset="0"/>
                  <a:cs typeface="Arial" panose="020B0604020202020204" pitchFamily="34" charset="0"/>
                </a:rPr>
                <a:t>Reg. 2015/849</a:t>
              </a:r>
            </a:p>
            <a:p>
              <a:pPr marL="0" lvl="0" indent="0" algn="l" defTabSz="755650">
                <a:lnSpc>
                  <a:spcPct val="90000"/>
                </a:lnSpc>
                <a:spcBef>
                  <a:spcPct val="0"/>
                </a:spcBef>
                <a:spcAft>
                  <a:spcPct val="35000"/>
                </a:spcAft>
                <a:buNone/>
              </a:pPr>
              <a:r>
                <a:rPr lang="it-IT" sz="1200" b="1" kern="1200" dirty="0">
                  <a:solidFill>
                    <a:schemeClr val="tx1"/>
                  </a:solidFill>
                  <a:latin typeface="Arial" panose="020B0604020202020204" pitchFamily="34" charset="0"/>
                  <a:cs typeface="Arial" panose="020B0604020202020204" pitchFamily="34" charset="0"/>
                </a:rPr>
                <a:t>Approccio «sequenziale» </a:t>
              </a:r>
            </a:p>
            <a:p>
              <a:pPr marL="0" lvl="0" indent="0" algn="l" defTabSz="755650">
                <a:lnSpc>
                  <a:spcPct val="90000"/>
                </a:lnSpc>
                <a:spcBef>
                  <a:spcPct val="0"/>
                </a:spcBef>
                <a:spcAft>
                  <a:spcPct val="35000"/>
                </a:spcAft>
                <a:buNone/>
              </a:pPr>
              <a:r>
                <a:rPr lang="it-IT" sz="1200" kern="1200" dirty="0">
                  <a:solidFill>
                    <a:schemeClr val="tx1"/>
                  </a:solidFill>
                  <a:latin typeface="Arial" panose="020B0604020202020204" pitchFamily="34" charset="0"/>
                  <a:cs typeface="Arial" panose="020B0604020202020204" pitchFamily="34" charset="0"/>
                </a:rPr>
                <a:t>(applicazione del criterio del controllo solo in assenza di titolari effettivi individuabili secondo il criterio della proprietà)</a:t>
              </a:r>
            </a:p>
          </p:txBody>
        </p:sp>
        <p:sp>
          <p:nvSpPr>
            <p:cNvPr id="9" name="Figura a mano libera: forma 8">
              <a:extLst>
                <a:ext uri="{FF2B5EF4-FFF2-40B4-BE49-F238E27FC236}">
                  <a16:creationId xmlns:a16="http://schemas.microsoft.com/office/drawing/2014/main" id="{F19115C9-F308-AE6F-9890-40AEEBABD072}"/>
                </a:ext>
              </a:extLst>
            </p:cNvPr>
            <p:cNvSpPr/>
            <p:nvPr/>
          </p:nvSpPr>
          <p:spPr>
            <a:xfrm>
              <a:off x="9791048" y="1687439"/>
              <a:ext cx="2128887" cy="3483662"/>
            </a:xfrm>
            <a:custGeom>
              <a:avLst/>
              <a:gdLst>
                <a:gd name="csX0" fmla="*/ 354885 w 3483661"/>
                <a:gd name="csY0" fmla="*/ 0 h 2128886"/>
                <a:gd name="csX1" fmla="*/ 3128776 w 3483661"/>
                <a:gd name="csY1" fmla="*/ 0 h 2128886"/>
                <a:gd name="csX2" fmla="*/ 3483661 w 3483661"/>
                <a:gd name="csY2" fmla="*/ 354885 h 2128886"/>
                <a:gd name="csX3" fmla="*/ 3483661 w 3483661"/>
                <a:gd name="csY3" fmla="*/ 2128886 h 2128886"/>
                <a:gd name="csX4" fmla="*/ 3483661 w 3483661"/>
                <a:gd name="csY4" fmla="*/ 2128886 h 2128886"/>
                <a:gd name="csX5" fmla="*/ 0 w 3483661"/>
                <a:gd name="csY5" fmla="*/ 2128886 h 2128886"/>
                <a:gd name="csX6" fmla="*/ 0 w 3483661"/>
                <a:gd name="csY6" fmla="*/ 2128886 h 2128886"/>
                <a:gd name="csX7" fmla="*/ 0 w 3483661"/>
                <a:gd name="csY7" fmla="*/ 354885 h 2128886"/>
                <a:gd name="csX8" fmla="*/ 354885 w 3483661"/>
                <a:gd name="csY8" fmla="*/ 0 h 21288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3661" h="2128886">
                  <a:moveTo>
                    <a:pt x="3483660" y="216873"/>
                  </a:moveTo>
                  <a:lnTo>
                    <a:pt x="3483660" y="1912013"/>
                  </a:lnTo>
                  <a:cubicBezTo>
                    <a:pt x="3483660" y="2031789"/>
                    <a:pt x="3223661" y="2128886"/>
                    <a:pt x="2902935" y="2128886"/>
                  </a:cubicBezTo>
                  <a:lnTo>
                    <a:pt x="1" y="2128886"/>
                  </a:lnTo>
                  <a:lnTo>
                    <a:pt x="1" y="2128886"/>
                  </a:lnTo>
                  <a:lnTo>
                    <a:pt x="1" y="0"/>
                  </a:lnTo>
                  <a:lnTo>
                    <a:pt x="1" y="0"/>
                  </a:lnTo>
                  <a:lnTo>
                    <a:pt x="2902935" y="0"/>
                  </a:lnTo>
                  <a:cubicBezTo>
                    <a:pt x="3223661" y="0"/>
                    <a:pt x="3483660" y="97097"/>
                    <a:pt x="3483660" y="216873"/>
                  </a:cubicBez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97155" tIns="211893" rIns="168713" bIns="211892" numCol="1" spcCol="1270" anchor="t" anchorCtr="0">
              <a:noAutofit/>
            </a:bodyPr>
            <a:lstStyle/>
            <a:p>
              <a:pPr marL="0" lvl="0" indent="0" algn="l" defTabSz="755650">
                <a:lnSpc>
                  <a:spcPct val="90000"/>
                </a:lnSpc>
                <a:spcBef>
                  <a:spcPct val="0"/>
                </a:spcBef>
                <a:spcAft>
                  <a:spcPct val="35000"/>
                </a:spcAft>
                <a:buNone/>
              </a:pPr>
              <a:r>
                <a:rPr lang="it-IT" sz="1200" b="1" kern="1200" dirty="0">
                  <a:solidFill>
                    <a:schemeClr val="tx1"/>
                  </a:solidFill>
                  <a:latin typeface="Arial" panose="020B0604020202020204" pitchFamily="34" charset="0"/>
                  <a:cs typeface="Arial" panose="020B0604020202020204" pitchFamily="34" charset="0"/>
                </a:rPr>
                <a:t>Reg 2024/1624</a:t>
              </a:r>
            </a:p>
            <a:p>
              <a:pPr marL="0" lvl="0" indent="0" algn="l" defTabSz="755650">
                <a:lnSpc>
                  <a:spcPct val="90000"/>
                </a:lnSpc>
                <a:spcBef>
                  <a:spcPct val="0"/>
                </a:spcBef>
                <a:spcAft>
                  <a:spcPct val="35000"/>
                </a:spcAft>
                <a:buNone/>
              </a:pPr>
              <a:r>
                <a:rPr lang="it-IT" sz="1200" b="1" kern="1200" dirty="0">
                  <a:solidFill>
                    <a:schemeClr val="tx1"/>
                  </a:solidFill>
                  <a:latin typeface="Arial" panose="020B0604020202020204" pitchFamily="34" charset="0"/>
                  <a:cs typeface="Arial" panose="020B0604020202020204" pitchFamily="34" charset="0"/>
                </a:rPr>
                <a:t>Approccio «simultaneo» </a:t>
              </a:r>
              <a:r>
                <a:rPr lang="it-IT" sz="1200" kern="1200" dirty="0">
                  <a:solidFill>
                    <a:schemeClr val="tx1"/>
                  </a:solidFill>
                  <a:latin typeface="Arial" panose="020B0604020202020204" pitchFamily="34" charset="0"/>
                  <a:cs typeface="Arial" panose="020B0604020202020204" pitchFamily="34" charset="0"/>
                </a:rPr>
                <a:t>(applicazione in contemporanea del criterio del controllo e della proprietà)</a:t>
              </a:r>
            </a:p>
          </p:txBody>
        </p:sp>
        <p:sp>
          <p:nvSpPr>
            <p:cNvPr id="10" name="Freccia circolare 9">
              <a:extLst>
                <a:ext uri="{FF2B5EF4-FFF2-40B4-BE49-F238E27FC236}">
                  <a16:creationId xmlns:a16="http://schemas.microsoft.com/office/drawing/2014/main" id="{7395C5BC-FA07-E18B-5FB2-DC298031570C}"/>
                </a:ext>
              </a:extLst>
            </p:cNvPr>
            <p:cNvSpPr/>
            <p:nvPr/>
          </p:nvSpPr>
          <p:spPr>
            <a:xfrm>
              <a:off x="8629719" y="489012"/>
              <a:ext cx="2225554" cy="2456099"/>
            </a:xfrm>
            <a:prstGeom prst="circularArrow">
              <a:avLst>
                <a:gd name="adj1" fmla="val 12500"/>
                <a:gd name="adj2" fmla="val 1142322"/>
                <a:gd name="adj3" fmla="val 20457678"/>
                <a:gd name="adj4" fmla="val 10800000"/>
                <a:gd name="adj5" fmla="val 125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it-IT" sz="1200">
                <a:latin typeface="Arial" panose="020B0604020202020204" pitchFamily="34" charset="0"/>
                <a:cs typeface="Arial" panose="020B0604020202020204" pitchFamily="34" charset="0"/>
              </a:endParaRPr>
            </a:p>
          </p:txBody>
        </p:sp>
      </p:grpSp>
      <p:sp>
        <p:nvSpPr>
          <p:cNvPr id="12" name="Rettangolo 11">
            <a:extLst>
              <a:ext uri="{FF2B5EF4-FFF2-40B4-BE49-F238E27FC236}">
                <a16:creationId xmlns:a16="http://schemas.microsoft.com/office/drawing/2014/main" id="{8DDF6271-A30F-23D2-95FE-0CE9F7C9997A}"/>
              </a:ext>
            </a:extLst>
          </p:cNvPr>
          <p:cNvSpPr/>
          <p:nvPr/>
        </p:nvSpPr>
        <p:spPr>
          <a:xfrm>
            <a:off x="1426029" y="2362200"/>
            <a:ext cx="5611585" cy="2476500"/>
          </a:xfrm>
          <a:prstGeom prst="rect">
            <a:avLst/>
          </a:prstGeom>
          <a:noFill/>
          <a:ln w="28575">
            <a:solidFill>
              <a:srgbClr val="009999"/>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5" name="Connettore a gomito 14">
            <a:extLst>
              <a:ext uri="{FF2B5EF4-FFF2-40B4-BE49-F238E27FC236}">
                <a16:creationId xmlns:a16="http://schemas.microsoft.com/office/drawing/2014/main" id="{A66A5155-48EA-4EED-C271-FF8126A9B0F2}"/>
              </a:ext>
            </a:extLst>
          </p:cNvPr>
          <p:cNvCxnSpPr>
            <a:cxnSpLocks/>
          </p:cNvCxnSpPr>
          <p:nvPr/>
        </p:nvCxnSpPr>
        <p:spPr>
          <a:xfrm flipV="1">
            <a:off x="7075714" y="3429000"/>
            <a:ext cx="413657" cy="1796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 name="Gruppo 1">
            <a:extLst>
              <a:ext uri="{FF2B5EF4-FFF2-40B4-BE49-F238E27FC236}">
                <a16:creationId xmlns:a16="http://schemas.microsoft.com/office/drawing/2014/main" id="{5D0C2F71-9CD5-9F58-9A18-2423D0967894}"/>
              </a:ext>
            </a:extLst>
          </p:cNvPr>
          <p:cNvGrpSpPr/>
          <p:nvPr/>
        </p:nvGrpSpPr>
        <p:grpSpPr>
          <a:xfrm>
            <a:off x="174172" y="5093780"/>
            <a:ext cx="7900154" cy="1389092"/>
            <a:chOff x="6633545" y="1241829"/>
            <a:chExt cx="5420642" cy="1678234"/>
          </a:xfrm>
        </p:grpSpPr>
        <p:sp>
          <p:nvSpPr>
            <p:cNvPr id="6" name="Rettangolo 5">
              <a:extLst>
                <a:ext uri="{FF2B5EF4-FFF2-40B4-BE49-F238E27FC236}">
                  <a16:creationId xmlns:a16="http://schemas.microsoft.com/office/drawing/2014/main" id="{3CE9CB2F-F1A0-F41A-29B4-C31F066AB801}"/>
                </a:ext>
              </a:extLst>
            </p:cNvPr>
            <p:cNvSpPr/>
            <p:nvPr/>
          </p:nvSpPr>
          <p:spPr>
            <a:xfrm>
              <a:off x="6633545" y="1241829"/>
              <a:ext cx="5420642" cy="167823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F99E0056-99B8-A92D-7A2E-FD90233D7E9D}"/>
                </a:ext>
              </a:extLst>
            </p:cNvPr>
            <p:cNvSpPr txBox="1"/>
            <p:nvPr/>
          </p:nvSpPr>
          <p:spPr>
            <a:xfrm>
              <a:off x="7040880" y="1295646"/>
              <a:ext cx="4744127" cy="1543140"/>
            </a:xfrm>
            <a:prstGeom prst="rect">
              <a:avLst/>
            </a:prstGeom>
            <a:solidFill>
              <a:schemeClr val="bg1">
                <a:lumMod val="95000"/>
              </a:schemeClr>
            </a:solidFill>
          </p:spPr>
          <p:txBody>
            <a:bodyPr wrap="square" rtlCol="0">
              <a:spAutoFit/>
            </a:bodyPr>
            <a:lstStyle/>
            <a:p>
              <a:pPr algn="just"/>
              <a:r>
                <a:rPr lang="it-IT" sz="1100" b="1" dirty="0">
                  <a:latin typeface="Arial" panose="020B0604020202020204" pitchFamily="34" charset="0"/>
                  <a:cs typeface="Arial" panose="020B0604020202020204" pitchFamily="34" charset="0"/>
                </a:rPr>
                <a:t>Possibili impatti su</a:t>
              </a:r>
              <a:r>
                <a:rPr lang="it-IT" sz="1100"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it-IT" sz="1100" dirty="0">
                  <a:latin typeface="Arial" panose="020B0604020202020204" pitchFamily="34" charset="0"/>
                  <a:cs typeface="Arial" panose="020B0604020202020204" pitchFamily="34" charset="0"/>
                </a:rPr>
                <a:t>Policy (necessità di integrare la Policy AML con le  nuove modalità di individuazione del titolare effettivo);</a:t>
              </a:r>
            </a:p>
            <a:p>
              <a:pPr marL="342900" indent="-342900" algn="just">
                <a:buFont typeface="Arial" panose="020B0604020202020204" pitchFamily="34" charset="0"/>
                <a:buChar char="•"/>
              </a:pPr>
              <a:r>
                <a:rPr lang="it-IT" sz="1100" dirty="0">
                  <a:latin typeface="Arial" panose="020B0604020202020204" pitchFamily="34" charset="0"/>
                  <a:cs typeface="Arial" panose="020B0604020202020204" pitchFamily="34" charset="0"/>
                </a:rPr>
                <a:t>Processi e procedure (necessità di aggiornamento del Manuale Antiriciclaggio e delle disposizioni operative per corretta individuazione e verifica titolare effettivo);</a:t>
              </a:r>
            </a:p>
            <a:p>
              <a:pPr marL="342900" indent="-342900" algn="just">
                <a:buFont typeface="Arial" panose="020B0604020202020204" pitchFamily="34" charset="0"/>
                <a:buChar char="•"/>
              </a:pPr>
              <a:r>
                <a:rPr lang="it-IT" sz="1100" dirty="0">
                  <a:latin typeface="Arial" panose="020B0604020202020204" pitchFamily="34" charset="0"/>
                  <a:cs typeface="Arial" panose="020B0604020202020204" pitchFamily="34" charset="0"/>
                </a:rPr>
                <a:t>controlli di primo – secondo e terzo livello (volte a individuare eventuali errori/inesatti aggiornamenti);</a:t>
              </a:r>
            </a:p>
            <a:p>
              <a:pPr marL="342900" indent="-342900" algn="just">
                <a:buFont typeface="Arial" panose="020B0604020202020204" pitchFamily="34" charset="0"/>
                <a:buChar char="•"/>
              </a:pPr>
              <a:r>
                <a:rPr lang="it-IT" sz="1100" dirty="0">
                  <a:latin typeface="Arial" panose="020B0604020202020204" pitchFamily="34" charset="0"/>
                  <a:cs typeface="Arial" panose="020B0604020202020204" pitchFamily="34" charset="0"/>
                </a:rPr>
                <a:t>Formazione;</a:t>
              </a:r>
            </a:p>
          </p:txBody>
        </p:sp>
      </p:grpSp>
      <p:pic>
        <p:nvPicPr>
          <p:cNvPr id="13" name="Immagine 12">
            <a:extLst>
              <a:ext uri="{FF2B5EF4-FFF2-40B4-BE49-F238E27FC236}">
                <a16:creationId xmlns:a16="http://schemas.microsoft.com/office/drawing/2014/main" id="{C76EBBEB-F856-E7B6-26D5-82EDF34F3EDB}"/>
              </a:ext>
            </a:extLst>
          </p:cNvPr>
          <p:cNvPicPr>
            <a:picLocks noChangeAspect="1"/>
          </p:cNvPicPr>
          <p:nvPr/>
        </p:nvPicPr>
        <p:blipFill>
          <a:blip r:embed="rId2"/>
          <a:stretch>
            <a:fillRect/>
          </a:stretch>
        </p:blipFill>
        <p:spPr>
          <a:xfrm>
            <a:off x="281863" y="5138325"/>
            <a:ext cx="419649" cy="350984"/>
          </a:xfrm>
          <a:prstGeom prst="rect">
            <a:avLst/>
          </a:prstGeom>
        </p:spPr>
      </p:pic>
    </p:spTree>
    <p:extLst>
      <p:ext uri="{BB962C8B-B14F-4D97-AF65-F5344CB8AC3E}">
        <p14:creationId xmlns:p14="http://schemas.microsoft.com/office/powerpoint/2010/main" val="544249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AE8005C8-7F9E-2CFE-4A64-97DD96E18A15}"/>
              </a:ext>
            </a:extLst>
          </p:cNvPr>
          <p:cNvSpPr txBox="1"/>
          <p:nvPr/>
        </p:nvSpPr>
        <p:spPr>
          <a:xfrm>
            <a:off x="109737" y="854640"/>
            <a:ext cx="9396571" cy="646331"/>
          </a:xfrm>
          <a:prstGeom prst="rect">
            <a:avLst/>
          </a:prstGeom>
          <a:noFill/>
        </p:spPr>
        <p:txBody>
          <a:bodyPr wrap="square">
            <a:spAutoFit/>
          </a:bodyPr>
          <a:lstStyle/>
          <a:p>
            <a:r>
              <a:rPr lang="it-IT" dirty="0">
                <a:latin typeface="Arial" panose="020B0604020202020204" pitchFamily="34" charset="0"/>
                <a:cs typeface="Arial" panose="020B0604020202020204" pitchFamily="34" charset="0"/>
              </a:rPr>
              <a:t>H</a:t>
            </a:r>
            <a:r>
              <a:rPr lang="it-IT" sz="1800" dirty="0">
                <a:latin typeface="Arial" panose="020B0604020202020204" pitchFamily="34" charset="0"/>
                <a:cs typeface="Arial" panose="020B0604020202020204" pitchFamily="34" charset="0"/>
              </a:rPr>
              <a:t>) DEFINIZIONE DI LEGITTIMO INTERESSE AI FINI DELL’ACCESSO AL </a:t>
            </a:r>
            <a:r>
              <a:rPr lang="it-IT" dirty="0">
                <a:latin typeface="Arial" panose="020B0604020202020204" pitchFamily="34" charset="0"/>
                <a:cs typeface="Arial" panose="020B0604020202020204" pitchFamily="34" charset="0"/>
              </a:rPr>
              <a:t>REGISTRO TITOLARE EFFETTIVO</a:t>
            </a:r>
            <a:endParaRPr lang="it-IT" sz="1800" dirty="0">
              <a:latin typeface="Arial" panose="020B0604020202020204" pitchFamily="34" charset="0"/>
              <a:cs typeface="Arial" panose="020B0604020202020204" pitchFamily="34" charset="0"/>
            </a:endParaRPr>
          </a:p>
        </p:txBody>
      </p:sp>
      <p:graphicFrame>
        <p:nvGraphicFramePr>
          <p:cNvPr id="5" name="Tabella 4">
            <a:extLst>
              <a:ext uri="{FF2B5EF4-FFF2-40B4-BE49-F238E27FC236}">
                <a16:creationId xmlns:a16="http://schemas.microsoft.com/office/drawing/2014/main" id="{28F7218A-CFD1-CB11-7393-0E874541565C}"/>
              </a:ext>
            </a:extLst>
          </p:cNvPr>
          <p:cNvGraphicFramePr>
            <a:graphicFrameLocks noGrp="1"/>
          </p:cNvGraphicFramePr>
          <p:nvPr>
            <p:extLst>
              <p:ext uri="{D42A27DB-BD31-4B8C-83A1-F6EECF244321}">
                <p14:modId xmlns:p14="http://schemas.microsoft.com/office/powerpoint/2010/main" val="704605872"/>
              </p:ext>
            </p:extLst>
          </p:nvPr>
        </p:nvGraphicFramePr>
        <p:xfrm>
          <a:off x="234557" y="1223972"/>
          <a:ext cx="10281043" cy="4263750"/>
        </p:xfrm>
        <a:graphic>
          <a:graphicData uri="http://schemas.openxmlformats.org/drawingml/2006/table">
            <a:tbl>
              <a:tblPr firstRow="1" bandRow="1">
                <a:tableStyleId>{5C22544A-7EE6-4342-B048-85BDC9FD1C3A}</a:tableStyleId>
              </a:tblPr>
              <a:tblGrid>
                <a:gridCol w="1119791">
                  <a:extLst>
                    <a:ext uri="{9D8B030D-6E8A-4147-A177-3AD203B41FA5}">
                      <a16:colId xmlns:a16="http://schemas.microsoft.com/office/drawing/2014/main" val="526275485"/>
                    </a:ext>
                  </a:extLst>
                </a:gridCol>
                <a:gridCol w="9161252">
                  <a:extLst>
                    <a:ext uri="{9D8B030D-6E8A-4147-A177-3AD203B41FA5}">
                      <a16:colId xmlns:a16="http://schemas.microsoft.com/office/drawing/2014/main" val="4082768777"/>
                    </a:ext>
                  </a:extLst>
                </a:gridCol>
              </a:tblGrid>
              <a:tr h="362310">
                <a:tc>
                  <a:txBody>
                    <a:bodyPr/>
                    <a:lstStyle/>
                    <a:p>
                      <a:r>
                        <a:rPr lang="it-IT" sz="10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000" dirty="0">
                          <a:latin typeface="Arial" panose="020B0604020202020204" pitchFamily="34" charset="0"/>
                          <a:cs typeface="Arial" panose="020B0604020202020204" pitchFamily="34" charset="0"/>
                        </a:rPr>
                        <a:t>Novità introdotta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462892"/>
                  </a:ext>
                </a:extLst>
              </a:tr>
              <a:tr h="3165446">
                <a:tc>
                  <a:txBody>
                    <a:bodyPr/>
                    <a:lstStyle/>
                    <a:p>
                      <a:r>
                        <a:rPr lang="it-IT" sz="1000" dirty="0">
                          <a:latin typeface="Arial" panose="020B0604020202020204" pitchFamily="34" charset="0"/>
                          <a:cs typeface="Arial" panose="020B0604020202020204" pitchFamily="34" charset="0"/>
                        </a:rPr>
                        <a:t>12 comma 2 Dir. 2024/1640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it-IT" sz="1000" dirty="0">
                          <a:latin typeface="Arial" panose="020B0604020202020204" pitchFamily="34" charset="0"/>
                          <a:cs typeface="Arial" panose="020B0604020202020204" pitchFamily="34" charset="0"/>
                        </a:rPr>
                        <a:t>2. Si considera che le persone fisiche o giuridiche seguenti abbiano un </a:t>
                      </a:r>
                      <a:r>
                        <a:rPr lang="it-IT" sz="1000" b="1" dirty="0">
                          <a:latin typeface="Arial" panose="020B0604020202020204" pitchFamily="34" charset="0"/>
                          <a:cs typeface="Arial" panose="020B0604020202020204" pitchFamily="34" charset="0"/>
                        </a:rPr>
                        <a:t>interesse legittimo ad accedere alle informazioni </a:t>
                      </a:r>
                      <a:r>
                        <a:rPr lang="it-IT" sz="1000" dirty="0">
                          <a:latin typeface="Arial" panose="020B0604020202020204" pitchFamily="34" charset="0"/>
                          <a:cs typeface="Arial" panose="020B0604020202020204" pitchFamily="34" charset="0"/>
                        </a:rPr>
                        <a:t>di cui al paragrafo 1:</a:t>
                      </a:r>
                    </a:p>
                    <a:p>
                      <a:pPr algn="just"/>
                      <a:r>
                        <a:rPr lang="it-IT" sz="1000" dirty="0">
                          <a:latin typeface="Arial" panose="020B0604020202020204" pitchFamily="34" charset="0"/>
                          <a:cs typeface="Arial" panose="020B0604020202020204" pitchFamily="34" charset="0"/>
                        </a:rPr>
                        <a:t>a) persone che agiscono a </a:t>
                      </a:r>
                      <a:r>
                        <a:rPr lang="it-IT" sz="1000" b="1" dirty="0">
                          <a:latin typeface="Arial" panose="020B0604020202020204" pitchFamily="34" charset="0"/>
                          <a:cs typeface="Arial" panose="020B0604020202020204" pitchFamily="34" charset="0"/>
                        </a:rPr>
                        <a:t>fini giornalistici</a:t>
                      </a:r>
                      <a:r>
                        <a:rPr lang="it-IT" sz="1000" dirty="0">
                          <a:latin typeface="Arial" panose="020B0604020202020204" pitchFamily="34" charset="0"/>
                          <a:cs typeface="Arial" panose="020B0604020202020204" pitchFamily="34" charset="0"/>
                        </a:rPr>
                        <a:t>, di </a:t>
                      </a:r>
                      <a:r>
                        <a:rPr lang="it-IT" sz="1000" b="1" dirty="0">
                          <a:latin typeface="Arial" panose="020B0604020202020204" pitchFamily="34" charset="0"/>
                          <a:cs typeface="Arial" panose="020B0604020202020204" pitchFamily="34" charset="0"/>
                        </a:rPr>
                        <a:t>segnalazione</a:t>
                      </a:r>
                      <a:r>
                        <a:rPr lang="it-IT" sz="1000" dirty="0">
                          <a:latin typeface="Arial" panose="020B0604020202020204" pitchFamily="34" charset="0"/>
                          <a:cs typeface="Arial" panose="020B0604020202020204" pitchFamily="34" charset="0"/>
                        </a:rPr>
                        <a:t> o di qualsiasi altra </a:t>
                      </a:r>
                      <a:r>
                        <a:rPr lang="it-IT" sz="1000" b="1" dirty="0">
                          <a:latin typeface="Arial" panose="020B0604020202020204" pitchFamily="34" charset="0"/>
                          <a:cs typeface="Arial" panose="020B0604020202020204" pitchFamily="34" charset="0"/>
                        </a:rPr>
                        <a:t>forma di espressione nei media</a:t>
                      </a:r>
                      <a:r>
                        <a:rPr lang="it-IT" sz="1000" dirty="0">
                          <a:latin typeface="Arial" panose="020B0604020202020204" pitchFamily="34" charset="0"/>
                          <a:cs typeface="Arial" panose="020B0604020202020204" pitchFamily="34" charset="0"/>
                        </a:rPr>
                        <a:t>, che sono connesse alla prevenzione o alla lotta contro il riciclaggio, i reati presupposto associati o il finanziamento del terrorismo;</a:t>
                      </a:r>
                    </a:p>
                    <a:p>
                      <a:pPr algn="just"/>
                      <a:r>
                        <a:rPr lang="it-IT" sz="1000" dirty="0">
                          <a:latin typeface="Arial" panose="020B0604020202020204" pitchFamily="34" charset="0"/>
                          <a:cs typeface="Arial" panose="020B0604020202020204" pitchFamily="34" charset="0"/>
                        </a:rPr>
                        <a:t>b) </a:t>
                      </a:r>
                      <a:r>
                        <a:rPr lang="it-IT" sz="1000" b="1" dirty="0">
                          <a:latin typeface="Arial" panose="020B0604020202020204" pitchFamily="34" charset="0"/>
                          <a:cs typeface="Arial" panose="020B0604020202020204" pitchFamily="34" charset="0"/>
                        </a:rPr>
                        <a:t>organizzazioni della società civile, compresi le organizzazioni non governative e il mondo accademico, </a:t>
                      </a:r>
                      <a:r>
                        <a:rPr lang="it-IT" sz="1000" dirty="0">
                          <a:latin typeface="Arial" panose="020B0604020202020204" pitchFamily="34" charset="0"/>
                          <a:cs typeface="Arial" panose="020B0604020202020204" pitchFamily="34" charset="0"/>
                        </a:rPr>
                        <a:t>che sono connesse alla prevenzione o alla lotta contro il riciclaggio, i reati presupposto associati o il finanziamento del terrorismo;</a:t>
                      </a:r>
                    </a:p>
                    <a:p>
                      <a:pPr algn="just"/>
                      <a:r>
                        <a:rPr lang="it-IT" sz="1000" dirty="0">
                          <a:latin typeface="Arial" panose="020B0604020202020204" pitchFamily="34" charset="0"/>
                          <a:cs typeface="Arial" panose="020B0604020202020204" pitchFamily="34" charset="0"/>
                        </a:rPr>
                        <a:t>c) persone fisiche o giuridiche che possono eseguire un'operazione con un soggetto giuridico o un istituto giuridico e che desiderano prevenire qualsiasi connessione tra tale operazione e il riciclaggio, i reati presupposto associati o il finanziamento del terrorismo;</a:t>
                      </a:r>
                    </a:p>
                    <a:p>
                      <a:pPr algn="just"/>
                      <a:r>
                        <a:rPr lang="it-IT" sz="1000" dirty="0">
                          <a:latin typeface="Arial" panose="020B0604020202020204" pitchFamily="34" charset="0"/>
                          <a:cs typeface="Arial" panose="020B0604020202020204" pitchFamily="34" charset="0"/>
                        </a:rPr>
                        <a:t>d) soggetti cui si applicano gli obblighi in materia di AML/CFT in paesi terzi, a condizione che possano dimostrare la necessità di accedere alle informazioni di cui al paragrafo 1 in relazione a un soggetto giuridico o un istituto giuridico per </a:t>
                      </a:r>
                      <a:r>
                        <a:rPr lang="it-IT" sz="1000" b="1" dirty="0">
                          <a:latin typeface="Arial" panose="020B0604020202020204" pitchFamily="34" charset="0"/>
                          <a:cs typeface="Arial" panose="020B0604020202020204" pitchFamily="34" charset="0"/>
                        </a:rPr>
                        <a:t>eseguire l'adeguata verifica della clientela </a:t>
                      </a:r>
                      <a:r>
                        <a:rPr lang="it-IT" sz="1000" dirty="0">
                          <a:latin typeface="Arial" panose="020B0604020202020204" pitchFamily="34" charset="0"/>
                          <a:cs typeface="Arial" panose="020B0604020202020204" pitchFamily="34" charset="0"/>
                        </a:rPr>
                        <a:t>nei confronti di un </a:t>
                      </a:r>
                      <a:r>
                        <a:rPr lang="it-IT" sz="1000" b="1" dirty="0">
                          <a:latin typeface="Arial" panose="020B0604020202020204" pitchFamily="34" charset="0"/>
                          <a:cs typeface="Arial" panose="020B0604020202020204" pitchFamily="34" charset="0"/>
                        </a:rPr>
                        <a:t>cliente o potenziale cliente</a:t>
                      </a:r>
                      <a:r>
                        <a:rPr lang="it-IT" sz="1000" dirty="0">
                          <a:latin typeface="Arial" panose="020B0604020202020204" pitchFamily="34" charset="0"/>
                          <a:cs typeface="Arial" panose="020B0604020202020204" pitchFamily="34" charset="0"/>
                        </a:rPr>
                        <a:t> a norma degli obblighi in materia di AML/CFT in tali paesi terzi; </a:t>
                      </a:r>
                    </a:p>
                    <a:p>
                      <a:pPr algn="just"/>
                      <a:r>
                        <a:rPr lang="it-IT" sz="1000" dirty="0">
                          <a:latin typeface="Arial" panose="020B0604020202020204" pitchFamily="34" charset="0"/>
                          <a:cs typeface="Arial" panose="020B0604020202020204" pitchFamily="34" charset="0"/>
                        </a:rPr>
                        <a:t>e) omologhi di paesi terzi delle autorità competenti dell'Unione in materia di AML/CFT, a condizione che possano dimostrare la necessità di accedere alle informazioni di cui al paragrafo 1 in relazione a un soggetto giuridico o un istituto giuridico per svolgere i loro compiti nell'ambito dei quadri AML/CFT di tali paesi terzi nel contesto di un caso specifico;</a:t>
                      </a:r>
                    </a:p>
                    <a:p>
                      <a:pPr algn="just"/>
                      <a:r>
                        <a:rPr lang="it-IT" sz="1000" dirty="0">
                          <a:latin typeface="Arial" panose="020B0604020202020204" pitchFamily="34" charset="0"/>
                          <a:cs typeface="Arial" panose="020B0604020202020204" pitchFamily="34" charset="0"/>
                        </a:rPr>
                        <a:t>f) autorità degli Stati membri incaricate dell'attuazione del titolo I, capi II e III, della direttiva (UE) 2017/1132, in particolare le autorità incaricate dell'iscrizione delle società nel registro di cui all'articolo 16 di tale direttiva, e le autorità dello Stato membro incaricato di controllare la legalità delle trasformazioni, delle fusioni e delle scissioni delle società di capitali a norma del titolo II di tale direttiva;</a:t>
                      </a:r>
                    </a:p>
                    <a:p>
                      <a:pPr algn="just"/>
                      <a:r>
                        <a:rPr lang="it-IT" sz="1000" dirty="0">
                          <a:latin typeface="Arial" panose="020B0604020202020204" pitchFamily="34" charset="0"/>
                          <a:cs typeface="Arial" panose="020B0604020202020204" pitchFamily="34" charset="0"/>
                        </a:rPr>
                        <a:t>g) autorità del programma individuate dagli Stati membri a norma dell'articolo 71 del regolamento (UE) 2021/1060, in relazione ai beneficiari dei fondi dell'Unione;</a:t>
                      </a:r>
                    </a:p>
                    <a:p>
                      <a:pPr algn="just"/>
                      <a:r>
                        <a:rPr lang="it-IT" sz="1000" dirty="0">
                          <a:latin typeface="Arial" panose="020B0604020202020204" pitchFamily="34" charset="0"/>
                          <a:cs typeface="Arial" panose="020B0604020202020204" pitchFamily="34" charset="0"/>
                        </a:rPr>
                        <a:t>h) autorità pubbliche che attuano il dispositivo per la ripresa e la resilienza a norma del regolamento (UE) 2021/241, in relazione ai beneficiari nell'ambito del dispositivo;</a:t>
                      </a:r>
                    </a:p>
                    <a:p>
                      <a:pPr algn="just"/>
                      <a:r>
                        <a:rPr lang="it-IT" sz="1000" dirty="0">
                          <a:latin typeface="Arial" panose="020B0604020202020204" pitchFamily="34" charset="0"/>
                          <a:cs typeface="Arial" panose="020B0604020202020204" pitchFamily="34" charset="0"/>
                        </a:rPr>
                        <a:t>i) autorità pubbliche degli Stati membri nell'ambito delle procedure di appalto pubblico, nei confronti degli offerenti e degli operatori ai quali viene aggiudicato l'appalto nell'ambito della procedura di appalto pubblico;</a:t>
                      </a:r>
                    </a:p>
                    <a:p>
                      <a:pPr algn="just"/>
                      <a:r>
                        <a:rPr lang="it-IT" sz="1000" dirty="0">
                          <a:latin typeface="Arial" panose="020B0604020202020204" pitchFamily="34" charset="0"/>
                          <a:cs typeface="Arial" panose="020B0604020202020204" pitchFamily="34" charset="0"/>
                        </a:rPr>
                        <a:t>j) fornitori di prodotti AML/CFT, rigorosamente nella misura in cui i prodotti sviluppati sulla base delle informazioni di cui al paragrafo 1 o contenenti tali informazioni siano forniti solo ai clienti che sono soggetti obbligati o autorità competenti, a condizione che tali fornitori possano dimostrare la necessità di accedere alle informazioni di cui al paragrafo 1 nel contesto di un contratto con un soggetto obbligato o un'autorità competente.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0823304"/>
                  </a:ext>
                </a:extLst>
              </a:tr>
            </a:tbl>
          </a:graphicData>
        </a:graphic>
      </p:graphicFrame>
      <p:sp>
        <p:nvSpPr>
          <p:cNvPr id="7" name="Freccia a destra con strisce 5">
            <a:extLst>
              <a:ext uri="{FF2B5EF4-FFF2-40B4-BE49-F238E27FC236}">
                <a16:creationId xmlns:a16="http://schemas.microsoft.com/office/drawing/2014/main" id="{1716E618-D2BF-20E5-5707-C055B3F96096}"/>
              </a:ext>
            </a:extLst>
          </p:cNvPr>
          <p:cNvSpPr/>
          <p:nvPr/>
        </p:nvSpPr>
        <p:spPr>
          <a:xfrm>
            <a:off x="555788" y="5687171"/>
            <a:ext cx="1176629" cy="851817"/>
          </a:xfrm>
          <a:prstGeom prst="stripedRightArrow">
            <a:avLst>
              <a:gd name="adj1" fmla="val 6307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NOTA</a:t>
            </a:r>
            <a:r>
              <a:rPr lang="it-IT" sz="1600" dirty="0"/>
              <a:t> BENE</a:t>
            </a:r>
          </a:p>
        </p:txBody>
      </p:sp>
      <p:grpSp>
        <p:nvGrpSpPr>
          <p:cNvPr id="10" name="Gruppo 9">
            <a:extLst>
              <a:ext uri="{FF2B5EF4-FFF2-40B4-BE49-F238E27FC236}">
                <a16:creationId xmlns:a16="http://schemas.microsoft.com/office/drawing/2014/main" id="{287144D6-CC2A-BB2B-B8AB-04A9F2C3B932}"/>
              </a:ext>
            </a:extLst>
          </p:cNvPr>
          <p:cNvGrpSpPr/>
          <p:nvPr/>
        </p:nvGrpSpPr>
        <p:grpSpPr>
          <a:xfrm>
            <a:off x="1857237" y="5531122"/>
            <a:ext cx="7433412" cy="1200595"/>
            <a:chOff x="7565494" y="1687439"/>
            <a:chExt cx="4354441" cy="3483662"/>
          </a:xfrm>
        </p:grpSpPr>
        <p:sp>
          <p:nvSpPr>
            <p:cNvPr id="11" name="Figura a mano libera: forma 10">
              <a:extLst>
                <a:ext uri="{FF2B5EF4-FFF2-40B4-BE49-F238E27FC236}">
                  <a16:creationId xmlns:a16="http://schemas.microsoft.com/office/drawing/2014/main" id="{FFFB4CA3-D70D-FAC1-DF15-EBD7813B908F}"/>
                </a:ext>
              </a:extLst>
            </p:cNvPr>
            <p:cNvSpPr/>
            <p:nvPr/>
          </p:nvSpPr>
          <p:spPr>
            <a:xfrm rot="21600000">
              <a:off x="7565494" y="1687439"/>
              <a:ext cx="2128887" cy="3483662"/>
            </a:xfrm>
            <a:custGeom>
              <a:avLst/>
              <a:gdLst>
                <a:gd name="csX0" fmla="*/ 354885 w 3483661"/>
                <a:gd name="csY0" fmla="*/ 0 h 2128886"/>
                <a:gd name="csX1" fmla="*/ 3128776 w 3483661"/>
                <a:gd name="csY1" fmla="*/ 0 h 2128886"/>
                <a:gd name="csX2" fmla="*/ 3483661 w 3483661"/>
                <a:gd name="csY2" fmla="*/ 354885 h 2128886"/>
                <a:gd name="csX3" fmla="*/ 3483661 w 3483661"/>
                <a:gd name="csY3" fmla="*/ 2128886 h 2128886"/>
                <a:gd name="csX4" fmla="*/ 3483661 w 3483661"/>
                <a:gd name="csY4" fmla="*/ 2128886 h 2128886"/>
                <a:gd name="csX5" fmla="*/ 0 w 3483661"/>
                <a:gd name="csY5" fmla="*/ 2128886 h 2128886"/>
                <a:gd name="csX6" fmla="*/ 0 w 3483661"/>
                <a:gd name="csY6" fmla="*/ 2128886 h 2128886"/>
                <a:gd name="csX7" fmla="*/ 0 w 3483661"/>
                <a:gd name="csY7" fmla="*/ 354885 h 2128886"/>
                <a:gd name="csX8" fmla="*/ 354885 w 3483661"/>
                <a:gd name="csY8" fmla="*/ 0 h 21288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3661" h="2128886">
                  <a:moveTo>
                    <a:pt x="1" y="1912013"/>
                  </a:moveTo>
                  <a:lnTo>
                    <a:pt x="1" y="216873"/>
                  </a:lnTo>
                  <a:cubicBezTo>
                    <a:pt x="1" y="97097"/>
                    <a:pt x="260000" y="0"/>
                    <a:pt x="580726" y="0"/>
                  </a:cubicBezTo>
                  <a:lnTo>
                    <a:pt x="3483660" y="0"/>
                  </a:lnTo>
                  <a:lnTo>
                    <a:pt x="3483660" y="0"/>
                  </a:lnTo>
                  <a:lnTo>
                    <a:pt x="3483660" y="2128886"/>
                  </a:lnTo>
                  <a:lnTo>
                    <a:pt x="3483660" y="2128886"/>
                  </a:lnTo>
                  <a:lnTo>
                    <a:pt x="580726" y="2128886"/>
                  </a:lnTo>
                  <a:cubicBezTo>
                    <a:pt x="260000" y="2128886"/>
                    <a:pt x="1" y="2031789"/>
                    <a:pt x="1" y="1912013"/>
                  </a:cubicBez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168712" tIns="211893" rIns="97156" bIns="211892" numCol="1" spcCol="1270" anchor="t" anchorCtr="0">
              <a:noAutofit/>
            </a:bodyPr>
            <a:lstStyle/>
            <a:p>
              <a:pPr marL="0" lvl="0" indent="0" algn="just" defTabSz="755650">
                <a:lnSpc>
                  <a:spcPct val="90000"/>
                </a:lnSpc>
                <a:spcBef>
                  <a:spcPct val="0"/>
                </a:spcBef>
                <a:spcAft>
                  <a:spcPct val="35000"/>
                </a:spcAft>
                <a:buNone/>
              </a:pPr>
              <a:r>
                <a:rPr lang="it-IT" sz="1200" kern="1200" dirty="0">
                  <a:solidFill>
                    <a:schemeClr val="tx1"/>
                  </a:solidFill>
                  <a:latin typeface="Arial" panose="020B0604020202020204" pitchFamily="34" charset="0"/>
                  <a:cs typeface="Arial" panose="020B0604020202020204" pitchFamily="34" charset="0"/>
                </a:rPr>
                <a:t>E’ </a:t>
              </a:r>
              <a:r>
                <a:rPr lang="it-IT" sz="1200" b="1" kern="1200" dirty="0">
                  <a:solidFill>
                    <a:schemeClr val="tx1"/>
                  </a:solidFill>
                  <a:latin typeface="Arial" panose="020B0604020202020204" pitchFamily="34" charset="0"/>
                  <a:cs typeface="Arial" panose="020B0604020202020204" pitchFamily="34" charset="0"/>
                </a:rPr>
                <a:t>all’esame del Parlamento </a:t>
              </a:r>
              <a:r>
                <a:rPr lang="it-IT" sz="1200" kern="1200" dirty="0">
                  <a:solidFill>
                    <a:schemeClr val="tx1"/>
                  </a:solidFill>
                  <a:latin typeface="Arial" panose="020B0604020202020204" pitchFamily="34" charset="0"/>
                  <a:cs typeface="Arial" panose="020B0604020202020204" pitchFamily="34" charset="0"/>
                </a:rPr>
                <a:t>lo schema di Decreto legislativo approvato dal Consiglio dei Ministri il 2 ottobre 2025, volto a dare attuazione alle disposizioni di accesso al Registro titolari effettivi da parte dei soggetti </a:t>
              </a:r>
              <a:r>
                <a:rPr lang="it-IT" sz="1200" b="1" kern="1200" dirty="0">
                  <a:solidFill>
                    <a:schemeClr val="tx1"/>
                  </a:solidFill>
                  <a:latin typeface="Arial" panose="020B0604020202020204" pitchFamily="34" charset="0"/>
                  <a:cs typeface="Arial" panose="020B0604020202020204" pitchFamily="34" charset="0"/>
                </a:rPr>
                <a:t>dotati di legittimo interesse</a:t>
              </a:r>
              <a:r>
                <a:rPr lang="it-IT" sz="1200" kern="1200" dirty="0">
                  <a:solidFill>
                    <a:schemeClr val="tx1"/>
                  </a:solidFill>
                  <a:latin typeface="Arial" panose="020B0604020202020204" pitchFamily="34" charset="0"/>
                  <a:cs typeface="Arial" panose="020B0604020202020204" pitchFamily="34" charset="0"/>
                </a:rPr>
                <a:t>.</a:t>
              </a:r>
            </a:p>
          </p:txBody>
        </p:sp>
        <p:sp>
          <p:nvSpPr>
            <p:cNvPr id="12" name="Figura a mano libera: forma 11">
              <a:extLst>
                <a:ext uri="{FF2B5EF4-FFF2-40B4-BE49-F238E27FC236}">
                  <a16:creationId xmlns:a16="http://schemas.microsoft.com/office/drawing/2014/main" id="{6B218DF6-BCB3-CCE1-2014-8740CEBBAD9A}"/>
                </a:ext>
              </a:extLst>
            </p:cNvPr>
            <p:cNvSpPr/>
            <p:nvPr/>
          </p:nvSpPr>
          <p:spPr>
            <a:xfrm>
              <a:off x="9791048" y="1687439"/>
              <a:ext cx="2128887" cy="3483662"/>
            </a:xfrm>
            <a:custGeom>
              <a:avLst/>
              <a:gdLst>
                <a:gd name="csX0" fmla="*/ 354885 w 3483661"/>
                <a:gd name="csY0" fmla="*/ 0 h 2128886"/>
                <a:gd name="csX1" fmla="*/ 3128776 w 3483661"/>
                <a:gd name="csY1" fmla="*/ 0 h 2128886"/>
                <a:gd name="csX2" fmla="*/ 3483661 w 3483661"/>
                <a:gd name="csY2" fmla="*/ 354885 h 2128886"/>
                <a:gd name="csX3" fmla="*/ 3483661 w 3483661"/>
                <a:gd name="csY3" fmla="*/ 2128886 h 2128886"/>
                <a:gd name="csX4" fmla="*/ 3483661 w 3483661"/>
                <a:gd name="csY4" fmla="*/ 2128886 h 2128886"/>
                <a:gd name="csX5" fmla="*/ 0 w 3483661"/>
                <a:gd name="csY5" fmla="*/ 2128886 h 2128886"/>
                <a:gd name="csX6" fmla="*/ 0 w 3483661"/>
                <a:gd name="csY6" fmla="*/ 2128886 h 2128886"/>
                <a:gd name="csX7" fmla="*/ 0 w 3483661"/>
                <a:gd name="csY7" fmla="*/ 354885 h 2128886"/>
                <a:gd name="csX8" fmla="*/ 354885 w 3483661"/>
                <a:gd name="csY8" fmla="*/ 0 h 21288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3661" h="2128886">
                  <a:moveTo>
                    <a:pt x="3483660" y="216873"/>
                  </a:moveTo>
                  <a:lnTo>
                    <a:pt x="3483660" y="1912013"/>
                  </a:lnTo>
                  <a:cubicBezTo>
                    <a:pt x="3483660" y="2031789"/>
                    <a:pt x="3223661" y="2128886"/>
                    <a:pt x="2902935" y="2128886"/>
                  </a:cubicBezTo>
                  <a:lnTo>
                    <a:pt x="1" y="2128886"/>
                  </a:lnTo>
                  <a:lnTo>
                    <a:pt x="1" y="2128886"/>
                  </a:lnTo>
                  <a:lnTo>
                    <a:pt x="1" y="0"/>
                  </a:lnTo>
                  <a:lnTo>
                    <a:pt x="1" y="0"/>
                  </a:lnTo>
                  <a:lnTo>
                    <a:pt x="2902935" y="0"/>
                  </a:lnTo>
                  <a:cubicBezTo>
                    <a:pt x="3223661" y="0"/>
                    <a:pt x="3483660" y="97097"/>
                    <a:pt x="3483660" y="216873"/>
                  </a:cubicBezTo>
                  <a:close/>
                </a:path>
              </a:pathLst>
            </a:cu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spcFirstLastPara="0" vert="horz" wrap="square" lIns="97155" tIns="211893" rIns="168713" bIns="211892" numCol="1" spcCol="1270" anchor="t" anchorCtr="0">
              <a:noAutofit/>
            </a:bodyPr>
            <a:lstStyle/>
            <a:p>
              <a:pPr marL="0" lvl="0" indent="0" algn="just" defTabSz="755650">
                <a:lnSpc>
                  <a:spcPct val="90000"/>
                </a:lnSpc>
                <a:spcBef>
                  <a:spcPct val="0"/>
                </a:spcBef>
                <a:spcAft>
                  <a:spcPct val="35000"/>
                </a:spcAft>
                <a:buNone/>
              </a:pPr>
              <a:r>
                <a:rPr lang="it-IT" sz="1200" kern="1200" dirty="0">
                  <a:solidFill>
                    <a:schemeClr val="tx1"/>
                  </a:solidFill>
                  <a:latin typeface="Arial" panose="020B0604020202020204" pitchFamily="34" charset="0"/>
                  <a:cs typeface="Arial" panose="020B0604020202020204" pitchFamily="34" charset="0"/>
                </a:rPr>
                <a:t>E’ in essere un </a:t>
              </a:r>
              <a:r>
                <a:rPr lang="it-IT" sz="1200" b="1" kern="1200" dirty="0">
                  <a:solidFill>
                    <a:schemeClr val="tx1"/>
                  </a:solidFill>
                  <a:latin typeface="Arial" panose="020B0604020202020204" pitchFamily="34" charset="0"/>
                  <a:cs typeface="Arial" panose="020B0604020202020204" pitchFamily="34" charset="0"/>
                </a:rPr>
                <a:t>tavolo di lavoro </a:t>
              </a:r>
              <a:r>
                <a:rPr lang="it-IT" sz="1200" kern="1200" dirty="0">
                  <a:solidFill>
                    <a:schemeClr val="tx1"/>
                  </a:solidFill>
                  <a:latin typeface="Arial" panose="020B0604020202020204" pitchFamily="34" charset="0"/>
                  <a:cs typeface="Arial" panose="020B0604020202020204" pitchFamily="34" charset="0"/>
                </a:rPr>
                <a:t>Ministero delle Imprese e del Made in </a:t>
              </a:r>
              <a:r>
                <a:rPr lang="it-IT" sz="1200" kern="1200" dirty="0" err="1">
                  <a:solidFill>
                    <a:schemeClr val="tx1"/>
                  </a:solidFill>
                  <a:latin typeface="Arial" panose="020B0604020202020204" pitchFamily="34" charset="0"/>
                  <a:cs typeface="Arial" panose="020B0604020202020204" pitchFamily="34" charset="0"/>
                </a:rPr>
                <a:t>Italy</a:t>
              </a:r>
              <a:r>
                <a:rPr lang="it-IT" sz="1200" kern="1200" dirty="0">
                  <a:solidFill>
                    <a:schemeClr val="tx1"/>
                  </a:solidFill>
                  <a:latin typeface="Arial" panose="020B0604020202020204" pitchFamily="34" charset="0"/>
                  <a:cs typeface="Arial" panose="020B0604020202020204" pitchFamily="34" charset="0"/>
                </a:rPr>
                <a:t> (MIMIT) e UnionCamere, volto a </a:t>
              </a:r>
              <a:r>
                <a:rPr lang="it-IT" sz="1200" b="1" kern="1200" dirty="0">
                  <a:solidFill>
                    <a:schemeClr val="tx1"/>
                  </a:solidFill>
                  <a:latin typeface="Arial" panose="020B0604020202020204" pitchFamily="34" charset="0"/>
                  <a:cs typeface="Arial" panose="020B0604020202020204" pitchFamily="34" charset="0"/>
                </a:rPr>
                <a:t>recepire la parte relativa alle modalità di accesso al Registro del titolare effettivo </a:t>
              </a:r>
              <a:r>
                <a:rPr lang="it-IT" sz="1200" kern="1200" dirty="0">
                  <a:solidFill>
                    <a:schemeClr val="tx1"/>
                  </a:solidFill>
                  <a:latin typeface="Arial" panose="020B0604020202020204" pitchFamily="34" charset="0"/>
                  <a:cs typeface="Arial" panose="020B0604020202020204" pitchFamily="34" charset="0"/>
                </a:rPr>
                <a:t>(art. 10 e </a:t>
              </a:r>
              <a:r>
                <a:rPr lang="it-IT" sz="1200" kern="1200" dirty="0" err="1">
                  <a:solidFill>
                    <a:schemeClr val="tx1"/>
                  </a:solidFill>
                  <a:latin typeface="Arial" panose="020B0604020202020204" pitchFamily="34" charset="0"/>
                  <a:cs typeface="Arial" panose="020B0604020202020204" pitchFamily="34" charset="0"/>
                </a:rPr>
                <a:t>ss</a:t>
              </a:r>
              <a:r>
                <a:rPr lang="it-IT" sz="1200" kern="1200" dirty="0">
                  <a:solidFill>
                    <a:schemeClr val="tx1"/>
                  </a:solidFill>
                  <a:latin typeface="Arial" panose="020B0604020202020204" pitchFamily="34" charset="0"/>
                  <a:cs typeface="Arial" panose="020B0604020202020204" pitchFamily="34" charset="0"/>
                </a:rPr>
                <a:t> Dir 2024/1640)</a:t>
              </a:r>
            </a:p>
          </p:txBody>
        </p:sp>
      </p:grpSp>
      <p:sp>
        <p:nvSpPr>
          <p:cNvPr id="16" name="Rettangolo 15">
            <a:extLst>
              <a:ext uri="{FF2B5EF4-FFF2-40B4-BE49-F238E27FC236}">
                <a16:creationId xmlns:a16="http://schemas.microsoft.com/office/drawing/2014/main" id="{CA8F967B-C78D-DE69-211B-3EA13D9C4960}"/>
              </a:ext>
            </a:extLst>
          </p:cNvPr>
          <p:cNvSpPr/>
          <p:nvPr/>
        </p:nvSpPr>
        <p:spPr>
          <a:xfrm>
            <a:off x="1732417" y="5443268"/>
            <a:ext cx="7653123" cy="1414732"/>
          </a:xfrm>
          <a:prstGeom prst="rect">
            <a:avLst/>
          </a:prstGeom>
          <a:noFill/>
          <a:ln>
            <a:solidFill>
              <a:srgbClr val="009999"/>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76994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81737-F4F9-9CD3-A162-B36F06301D52}"/>
            </a:ext>
          </a:extLst>
        </p:cNvPr>
        <p:cNvGrpSpPr/>
        <p:nvPr/>
      </p:nvGrpSpPr>
      <p:grpSpPr>
        <a:xfrm>
          <a:off x="0" y="0"/>
          <a:ext cx="0" cy="0"/>
          <a:chOff x="0" y="0"/>
          <a:chExt cx="0" cy="0"/>
        </a:xfrm>
      </p:grpSpPr>
      <p:sp>
        <p:nvSpPr>
          <p:cNvPr id="4" name="CasellaDiTesto 3">
            <a:extLst>
              <a:ext uri="{FF2B5EF4-FFF2-40B4-BE49-F238E27FC236}">
                <a16:creationId xmlns:a16="http://schemas.microsoft.com/office/drawing/2014/main" id="{39CFD227-D79B-DAA8-ABF3-347B80EFF240}"/>
              </a:ext>
            </a:extLst>
          </p:cNvPr>
          <p:cNvSpPr txBox="1"/>
          <p:nvPr/>
        </p:nvSpPr>
        <p:spPr>
          <a:xfrm>
            <a:off x="174171" y="812977"/>
            <a:ext cx="8039099" cy="338554"/>
          </a:xfrm>
          <a:prstGeom prst="rect">
            <a:avLst/>
          </a:prstGeom>
          <a:noFill/>
        </p:spPr>
        <p:txBody>
          <a:bodyPr wrap="square">
            <a:spAutoFit/>
          </a:bodyPr>
          <a:lstStyle/>
          <a:p>
            <a:r>
              <a:rPr lang="it-IT" sz="1600" dirty="0">
                <a:latin typeface="Arial" panose="020B0604020202020204" pitchFamily="34" charset="0"/>
                <a:cs typeface="Arial" panose="020B0604020202020204" pitchFamily="34" charset="0"/>
              </a:rPr>
              <a:t>I) CONTROLLI RAFFORZATI IN CASO DI CLIENTE CON PATRIMONIO RILEVANTE</a:t>
            </a:r>
          </a:p>
        </p:txBody>
      </p:sp>
      <p:graphicFrame>
        <p:nvGraphicFramePr>
          <p:cNvPr id="5" name="Tabella 4">
            <a:extLst>
              <a:ext uri="{FF2B5EF4-FFF2-40B4-BE49-F238E27FC236}">
                <a16:creationId xmlns:a16="http://schemas.microsoft.com/office/drawing/2014/main" id="{0ADB1704-1B98-D53A-2936-F83B44BEB869}"/>
              </a:ext>
            </a:extLst>
          </p:cNvPr>
          <p:cNvGraphicFramePr>
            <a:graphicFrameLocks noGrp="1"/>
          </p:cNvGraphicFramePr>
          <p:nvPr>
            <p:extLst>
              <p:ext uri="{D42A27DB-BD31-4B8C-83A1-F6EECF244321}">
                <p14:modId xmlns:p14="http://schemas.microsoft.com/office/powerpoint/2010/main" val="1524127849"/>
              </p:ext>
            </p:extLst>
          </p:nvPr>
        </p:nvGraphicFramePr>
        <p:xfrm>
          <a:off x="174172" y="1182309"/>
          <a:ext cx="6901542" cy="3618291"/>
        </p:xfrm>
        <a:graphic>
          <a:graphicData uri="http://schemas.openxmlformats.org/drawingml/2006/table">
            <a:tbl>
              <a:tblPr firstRow="1" bandRow="1">
                <a:tableStyleId>{5C22544A-7EE6-4342-B048-85BDC9FD1C3A}</a:tableStyleId>
              </a:tblPr>
              <a:tblGrid>
                <a:gridCol w="1191985">
                  <a:extLst>
                    <a:ext uri="{9D8B030D-6E8A-4147-A177-3AD203B41FA5}">
                      <a16:colId xmlns:a16="http://schemas.microsoft.com/office/drawing/2014/main" val="526275485"/>
                    </a:ext>
                  </a:extLst>
                </a:gridCol>
                <a:gridCol w="5709557">
                  <a:extLst>
                    <a:ext uri="{9D8B030D-6E8A-4147-A177-3AD203B41FA5}">
                      <a16:colId xmlns:a16="http://schemas.microsoft.com/office/drawing/2014/main" val="4082768777"/>
                    </a:ext>
                  </a:extLst>
                </a:gridCol>
              </a:tblGrid>
              <a:tr h="417891">
                <a:tc>
                  <a:txBody>
                    <a:bodyPr/>
                    <a:lstStyle/>
                    <a:p>
                      <a:r>
                        <a:rPr lang="it-IT" sz="12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Novità introdotta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462892"/>
                  </a:ext>
                </a:extLst>
              </a:tr>
              <a:tr h="370840">
                <a:tc>
                  <a:txBody>
                    <a:bodyPr/>
                    <a:lstStyle/>
                    <a:p>
                      <a:r>
                        <a:rPr lang="it-IT" sz="1200" dirty="0">
                          <a:latin typeface="Arial" panose="020B0604020202020204" pitchFamily="34" charset="0"/>
                          <a:cs typeface="Arial" panose="020B0604020202020204" pitchFamily="34" charset="0"/>
                        </a:rPr>
                        <a:t>34 comma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just">
                        <a:buNone/>
                      </a:pPr>
                      <a:r>
                        <a:rPr lang="it-IT" sz="1200" dirty="0">
                          <a:latin typeface="Arial" panose="020B0604020202020204" pitchFamily="34" charset="0"/>
                          <a:cs typeface="Arial" panose="020B0604020202020204" pitchFamily="34" charset="0"/>
                        </a:rPr>
                        <a:t>5. Quando un rapporto d'affari individuato come ad alto rischio comporta la gestione di beni con un valore di almeno </a:t>
                      </a:r>
                      <a:r>
                        <a:rPr lang="it-IT" sz="1200" b="1" u="sng" dirty="0">
                          <a:latin typeface="Arial" panose="020B0604020202020204" pitchFamily="34" charset="0"/>
                          <a:cs typeface="Arial" panose="020B0604020202020204" pitchFamily="34" charset="0"/>
                        </a:rPr>
                        <a:t>5 000 000 EUR</a:t>
                      </a:r>
                      <a:r>
                        <a:rPr lang="it-IT" sz="1200" dirty="0">
                          <a:latin typeface="Arial" panose="020B0604020202020204" pitchFamily="34" charset="0"/>
                          <a:cs typeface="Arial" panose="020B0604020202020204" pitchFamily="34" charset="0"/>
                        </a:rPr>
                        <a:t>, o del controvalore in moneta nazionale o estera, attraverso servizi su misura per un cliente che complessivamente detiene beni con un valore di almeno </a:t>
                      </a:r>
                      <a:r>
                        <a:rPr lang="it-IT" sz="1200" b="1" u="sng" dirty="0">
                          <a:latin typeface="Arial" panose="020B0604020202020204" pitchFamily="34" charset="0"/>
                          <a:cs typeface="Arial" panose="020B0604020202020204" pitchFamily="34" charset="0"/>
                        </a:rPr>
                        <a:t>50 000 000 EUR </a:t>
                      </a:r>
                      <a:r>
                        <a:rPr lang="it-IT" sz="1200" dirty="0">
                          <a:latin typeface="Arial" panose="020B0604020202020204" pitchFamily="34" charset="0"/>
                          <a:cs typeface="Arial" panose="020B0604020202020204" pitchFamily="34" charset="0"/>
                        </a:rPr>
                        <a:t>o del controvalore in moneta nazionale o estera in attività finanziarie, investibili o immobiliari, o una loro combinazione, </a:t>
                      </a:r>
                      <a:r>
                        <a:rPr lang="it-IT" sz="1200" b="1" dirty="0">
                          <a:latin typeface="Arial" panose="020B0604020202020204" pitchFamily="34" charset="0"/>
                          <a:cs typeface="Arial" panose="020B0604020202020204" pitchFamily="34" charset="0"/>
                        </a:rPr>
                        <a:t>ad esclusione della sua residenza privata</a:t>
                      </a:r>
                      <a:r>
                        <a:rPr lang="it-IT" sz="1200" dirty="0">
                          <a:latin typeface="Arial" panose="020B0604020202020204" pitchFamily="34" charset="0"/>
                          <a:cs typeface="Arial" panose="020B0604020202020204" pitchFamily="34" charset="0"/>
                        </a:rPr>
                        <a:t>, gli enti creditizi e finanziari e i prestatori di servizi relativi a società o trust applicano le </a:t>
                      </a:r>
                      <a:r>
                        <a:rPr lang="it-IT" sz="1200" b="1" u="sng" dirty="0">
                          <a:latin typeface="Arial" panose="020B0604020202020204" pitchFamily="34" charset="0"/>
                          <a:cs typeface="Arial" panose="020B0604020202020204" pitchFamily="34" charset="0"/>
                        </a:rPr>
                        <a:t>seguenti misure rafforzate </a:t>
                      </a:r>
                      <a:r>
                        <a:rPr lang="it-IT" sz="1200" dirty="0">
                          <a:latin typeface="Arial" panose="020B0604020202020204" pitchFamily="34" charset="0"/>
                          <a:cs typeface="Arial" panose="020B0604020202020204" pitchFamily="34" charset="0"/>
                        </a:rPr>
                        <a:t>di adeguata verifica, </a:t>
                      </a:r>
                      <a:r>
                        <a:rPr lang="it-IT" sz="1200" b="1" dirty="0">
                          <a:latin typeface="Arial" panose="020B0604020202020204" pitchFamily="34" charset="0"/>
                          <a:cs typeface="Arial" panose="020B0604020202020204" pitchFamily="34" charset="0"/>
                        </a:rPr>
                        <a:t>in aggiunta a qualsiasi misura rafforzata </a:t>
                      </a:r>
                      <a:r>
                        <a:rPr lang="it-IT" sz="1200" dirty="0">
                          <a:latin typeface="Arial" panose="020B0604020202020204" pitchFamily="34" charset="0"/>
                          <a:cs typeface="Arial" panose="020B0604020202020204" pitchFamily="34" charset="0"/>
                        </a:rPr>
                        <a:t>di adeguata verifica applicata a norma del paragrafo 4:</a:t>
                      </a:r>
                    </a:p>
                    <a:p>
                      <a:pPr marL="0" indent="0" algn="just">
                        <a:buNone/>
                      </a:pPr>
                      <a:r>
                        <a:rPr lang="it-IT" sz="1200" dirty="0">
                          <a:latin typeface="Arial" panose="020B0604020202020204" pitchFamily="34" charset="0"/>
                          <a:cs typeface="Arial" panose="020B0604020202020204" pitchFamily="34" charset="0"/>
                        </a:rPr>
                        <a:t>a) misure e procedure specifiche comprese misure per mitigare i rischi associati ai servizi e ai prodotti su misura offerti al cliente in questione;</a:t>
                      </a:r>
                    </a:p>
                    <a:p>
                      <a:pPr marL="0" indent="0" algn="just">
                        <a:buNone/>
                      </a:pPr>
                      <a:r>
                        <a:rPr lang="it-IT" sz="1200" dirty="0">
                          <a:latin typeface="Arial" panose="020B0604020202020204" pitchFamily="34" charset="0"/>
                          <a:cs typeface="Arial" panose="020B0604020202020204" pitchFamily="34" charset="0"/>
                        </a:rPr>
                        <a:t>b) ottenimento di informazioni supplementari sull'origine dei fondi del cliente in questione;</a:t>
                      </a:r>
                    </a:p>
                    <a:p>
                      <a:pPr marL="0" indent="0" algn="just">
                        <a:buNone/>
                      </a:pPr>
                      <a:r>
                        <a:rPr lang="it-IT" sz="1200" dirty="0">
                          <a:latin typeface="Arial" panose="020B0604020202020204" pitchFamily="34" charset="0"/>
                          <a:cs typeface="Arial" panose="020B0604020202020204" pitchFamily="34" charset="0"/>
                        </a:rPr>
                        <a:t>c) prevenzione e gestione dei conflitti di interessi tra il cliente e gli alti dirigenti o i dipendenti del soggetto obbligato che svolgono compiti connessi alla conformità del soggetto obbligato in relazione a tale cliente.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8085110"/>
                  </a:ext>
                </a:extLst>
              </a:tr>
            </a:tbl>
          </a:graphicData>
        </a:graphic>
      </p:graphicFrame>
      <p:grpSp>
        <p:nvGrpSpPr>
          <p:cNvPr id="2" name="Gruppo 1">
            <a:extLst>
              <a:ext uri="{FF2B5EF4-FFF2-40B4-BE49-F238E27FC236}">
                <a16:creationId xmlns:a16="http://schemas.microsoft.com/office/drawing/2014/main" id="{E5191B82-5028-57CA-06EF-9C5A3491B8A2}"/>
              </a:ext>
            </a:extLst>
          </p:cNvPr>
          <p:cNvGrpSpPr/>
          <p:nvPr/>
        </p:nvGrpSpPr>
        <p:grpSpPr>
          <a:xfrm>
            <a:off x="7085985" y="1647644"/>
            <a:ext cx="4999623" cy="1466491"/>
            <a:chOff x="7085985" y="1647644"/>
            <a:chExt cx="4999623" cy="1466491"/>
          </a:xfrm>
        </p:grpSpPr>
        <p:sp>
          <p:nvSpPr>
            <p:cNvPr id="6" name="Rettangolo 5">
              <a:extLst>
                <a:ext uri="{FF2B5EF4-FFF2-40B4-BE49-F238E27FC236}">
                  <a16:creationId xmlns:a16="http://schemas.microsoft.com/office/drawing/2014/main" id="{70245DBF-A7E4-3BB4-4169-7899874A10B3}"/>
                </a:ext>
              </a:extLst>
            </p:cNvPr>
            <p:cNvSpPr/>
            <p:nvPr/>
          </p:nvSpPr>
          <p:spPr>
            <a:xfrm>
              <a:off x="8272886" y="1647644"/>
              <a:ext cx="3812722" cy="146649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it-IT" sz="1200" dirty="0">
                  <a:solidFill>
                    <a:schemeClr val="tx1"/>
                  </a:solidFill>
                  <a:latin typeface="Arial" panose="020B0604020202020204" pitchFamily="34" charset="0"/>
                  <a:cs typeface="Arial" panose="020B0604020202020204" pitchFamily="34" charset="0"/>
                </a:rPr>
                <a:t>Entro il </a:t>
              </a:r>
              <a:r>
                <a:rPr lang="it-IT" sz="1200" b="1" dirty="0">
                  <a:solidFill>
                    <a:schemeClr val="tx1"/>
                  </a:solidFill>
                  <a:latin typeface="Arial" panose="020B0604020202020204" pitchFamily="34" charset="0"/>
                  <a:cs typeface="Arial" panose="020B0604020202020204" pitchFamily="34" charset="0"/>
                </a:rPr>
                <a:t>10 luglio 2027 </a:t>
              </a:r>
              <a:r>
                <a:rPr lang="it-IT" sz="1200" dirty="0">
                  <a:solidFill>
                    <a:schemeClr val="tx1"/>
                  </a:solidFill>
                  <a:latin typeface="Arial" panose="020B0604020202020204" pitchFamily="34" charset="0"/>
                  <a:cs typeface="Arial" panose="020B0604020202020204" pitchFamily="34" charset="0"/>
                </a:rPr>
                <a:t>l’AMLA  emanerà orientamenti in merito alle </a:t>
              </a:r>
              <a:r>
                <a:rPr lang="it-IT" sz="1200" b="1" dirty="0">
                  <a:solidFill>
                    <a:schemeClr val="tx1"/>
                  </a:solidFill>
                  <a:latin typeface="Arial" panose="020B0604020202020204" pitchFamily="34" charset="0"/>
                  <a:cs typeface="Arial" panose="020B0604020202020204" pitchFamily="34" charset="0"/>
                </a:rPr>
                <a:t>misure</a:t>
              </a:r>
              <a:r>
                <a:rPr lang="it-IT" sz="1200" dirty="0">
                  <a:solidFill>
                    <a:schemeClr val="tx1"/>
                  </a:solidFill>
                  <a:latin typeface="Arial" panose="020B0604020202020204" pitchFamily="34" charset="0"/>
                  <a:cs typeface="Arial" panose="020B0604020202020204" pitchFamily="34" charset="0"/>
                </a:rPr>
                <a:t> che gli Enti creditizi e finanziari dovranno adottare </a:t>
              </a:r>
              <a:r>
                <a:rPr lang="it-IT" sz="1200" b="1" dirty="0">
                  <a:solidFill>
                    <a:schemeClr val="tx1"/>
                  </a:solidFill>
                  <a:latin typeface="Arial" panose="020B0604020202020204" pitchFamily="34" charset="0"/>
                  <a:cs typeface="Arial" panose="020B0604020202020204" pitchFamily="34" charset="0"/>
                </a:rPr>
                <a:t>per stabilire se un cliente detiene complessivamente beni con un valore di almeno 50 000 000 EUR</a:t>
              </a:r>
              <a:r>
                <a:rPr lang="it-IT" sz="1200" dirty="0">
                  <a:solidFill>
                    <a:schemeClr val="tx1"/>
                  </a:solidFill>
                  <a:latin typeface="Arial" panose="020B0604020202020204" pitchFamily="34" charset="0"/>
                  <a:cs typeface="Arial" panose="020B0604020202020204" pitchFamily="34" charset="0"/>
                </a:rPr>
                <a:t>, o del controvalore in moneta nazionale o estera in attività finanziarie, investibili o immobiliari </a:t>
              </a:r>
              <a:r>
                <a:rPr lang="it-IT" sz="1200" b="1" dirty="0">
                  <a:solidFill>
                    <a:schemeClr val="tx1"/>
                  </a:solidFill>
                  <a:latin typeface="Arial" panose="020B0604020202020204" pitchFamily="34" charset="0"/>
                  <a:cs typeface="Arial" panose="020B0604020202020204" pitchFamily="34" charset="0"/>
                </a:rPr>
                <a:t>e le modalità per determinare tale valore.</a:t>
              </a:r>
            </a:p>
          </p:txBody>
        </p:sp>
        <p:sp>
          <p:nvSpPr>
            <p:cNvPr id="8" name="Freccia a destra con strisce 5">
              <a:extLst>
                <a:ext uri="{FF2B5EF4-FFF2-40B4-BE49-F238E27FC236}">
                  <a16:creationId xmlns:a16="http://schemas.microsoft.com/office/drawing/2014/main" id="{F30E936A-B093-0114-B945-D51A9FB953D1}"/>
                </a:ext>
              </a:extLst>
            </p:cNvPr>
            <p:cNvSpPr/>
            <p:nvPr/>
          </p:nvSpPr>
          <p:spPr>
            <a:xfrm>
              <a:off x="7085985" y="1954980"/>
              <a:ext cx="1176629" cy="851817"/>
            </a:xfrm>
            <a:prstGeom prst="stripedRightArrow">
              <a:avLst>
                <a:gd name="adj1" fmla="val 6307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just"/>
              <a:r>
                <a:rPr lang="it-IT" sz="1200" dirty="0">
                  <a:latin typeface="Arial" panose="020B0604020202020204" pitchFamily="34" charset="0"/>
                  <a:cs typeface="Arial" panose="020B0604020202020204" pitchFamily="34" charset="0"/>
                </a:rPr>
                <a:t>NOTA BENE</a:t>
              </a:r>
            </a:p>
          </p:txBody>
        </p:sp>
      </p:grpSp>
    </p:spTree>
    <p:extLst>
      <p:ext uri="{BB962C8B-B14F-4D97-AF65-F5344CB8AC3E}">
        <p14:creationId xmlns:p14="http://schemas.microsoft.com/office/powerpoint/2010/main" val="881659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B93FC792-A05B-871A-7AC7-A8E6310A9011}"/>
              </a:ext>
            </a:extLst>
          </p:cNvPr>
          <p:cNvSpPr txBox="1"/>
          <p:nvPr/>
        </p:nvSpPr>
        <p:spPr>
          <a:xfrm>
            <a:off x="131143" y="953091"/>
            <a:ext cx="7336370" cy="338554"/>
          </a:xfrm>
          <a:prstGeom prst="rect">
            <a:avLst/>
          </a:prstGeom>
          <a:noFill/>
        </p:spPr>
        <p:txBody>
          <a:bodyPr wrap="square">
            <a:spAutoFit/>
          </a:bodyPr>
          <a:lstStyle/>
          <a:p>
            <a:r>
              <a:rPr lang="it-IT" sz="1600" dirty="0">
                <a:latin typeface="Arial" panose="020B0604020202020204" pitchFamily="34" charset="0"/>
                <a:cs typeface="Arial" panose="020B0604020202020204" pitchFamily="34" charset="0"/>
              </a:rPr>
              <a:t>L)PUNTO DI ACCESSO UNICO ALLE INFORMAZIONI SUI BENI IMMOBILI</a:t>
            </a:r>
          </a:p>
        </p:txBody>
      </p:sp>
      <p:graphicFrame>
        <p:nvGraphicFramePr>
          <p:cNvPr id="5" name="Tabella 4">
            <a:extLst>
              <a:ext uri="{FF2B5EF4-FFF2-40B4-BE49-F238E27FC236}">
                <a16:creationId xmlns:a16="http://schemas.microsoft.com/office/drawing/2014/main" id="{E2CFBB01-761A-07D2-B5D1-1FB7420D63CC}"/>
              </a:ext>
            </a:extLst>
          </p:cNvPr>
          <p:cNvGraphicFramePr>
            <a:graphicFrameLocks noGrp="1"/>
          </p:cNvGraphicFramePr>
          <p:nvPr>
            <p:extLst>
              <p:ext uri="{D42A27DB-BD31-4B8C-83A1-F6EECF244321}">
                <p14:modId xmlns:p14="http://schemas.microsoft.com/office/powerpoint/2010/main" val="2310706780"/>
              </p:ext>
            </p:extLst>
          </p:nvPr>
        </p:nvGraphicFramePr>
        <p:xfrm>
          <a:off x="218229" y="1376864"/>
          <a:ext cx="7554172" cy="2286000"/>
        </p:xfrm>
        <a:graphic>
          <a:graphicData uri="http://schemas.openxmlformats.org/drawingml/2006/table">
            <a:tbl>
              <a:tblPr firstRow="1" bandRow="1">
                <a:tableStyleId>{5C22544A-7EE6-4342-B048-85BDC9FD1C3A}</a:tableStyleId>
              </a:tblPr>
              <a:tblGrid>
                <a:gridCol w="1054920">
                  <a:extLst>
                    <a:ext uri="{9D8B030D-6E8A-4147-A177-3AD203B41FA5}">
                      <a16:colId xmlns:a16="http://schemas.microsoft.com/office/drawing/2014/main" val="526275485"/>
                    </a:ext>
                  </a:extLst>
                </a:gridCol>
                <a:gridCol w="6499252">
                  <a:extLst>
                    <a:ext uri="{9D8B030D-6E8A-4147-A177-3AD203B41FA5}">
                      <a16:colId xmlns:a16="http://schemas.microsoft.com/office/drawing/2014/main" val="4082768777"/>
                    </a:ext>
                  </a:extLst>
                </a:gridCol>
              </a:tblGrid>
              <a:tr h="0">
                <a:tc>
                  <a:txBody>
                    <a:bodyPr/>
                    <a:lstStyle/>
                    <a:p>
                      <a:r>
                        <a:rPr lang="it-IT" sz="12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Novità introdotta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462892"/>
                  </a:ext>
                </a:extLst>
              </a:tr>
              <a:tr h="243935">
                <a:tc>
                  <a:txBody>
                    <a:bodyPr/>
                    <a:lstStyle/>
                    <a:p>
                      <a:r>
                        <a:rPr lang="it-IT" sz="1200" dirty="0">
                          <a:latin typeface="Arial" panose="020B0604020202020204" pitchFamily="34" charset="0"/>
                          <a:cs typeface="Arial" panose="020B0604020202020204" pitchFamily="34" charset="0"/>
                        </a:rPr>
                        <a:t>18 comma 1 Dir. 2024/1640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it-IT" sz="1200" dirty="0">
                          <a:latin typeface="Arial" panose="020B0604020202020204" pitchFamily="34" charset="0"/>
                          <a:cs typeface="Arial" panose="020B0604020202020204" pitchFamily="34" charset="0"/>
                        </a:rPr>
                        <a:t>1.Gli Stati membri provvedono affinché le autorità competenti abbiano gratuitamente un accesso immediato e diretto alle informazioni che consentono </a:t>
                      </a:r>
                      <a:r>
                        <a:rPr lang="it-IT" sz="1200" b="1" dirty="0">
                          <a:latin typeface="Arial" panose="020B0604020202020204" pitchFamily="34" charset="0"/>
                          <a:cs typeface="Arial" panose="020B0604020202020204" pitchFamily="34" charset="0"/>
                        </a:rPr>
                        <a:t>l'identificazione tempestiva di qualsiasi bene immobile </a:t>
                      </a:r>
                      <a:r>
                        <a:rPr lang="it-IT" sz="1200" dirty="0">
                          <a:latin typeface="Arial" panose="020B0604020202020204" pitchFamily="34" charset="0"/>
                          <a:cs typeface="Arial" panose="020B0604020202020204" pitchFamily="34" charset="0"/>
                        </a:rPr>
                        <a:t>e delle </a:t>
                      </a:r>
                      <a:r>
                        <a:rPr lang="it-IT" sz="1200" b="1" dirty="0">
                          <a:latin typeface="Arial" panose="020B0604020202020204" pitchFamily="34" charset="0"/>
                          <a:cs typeface="Arial" panose="020B0604020202020204" pitchFamily="34" charset="0"/>
                        </a:rPr>
                        <a:t>persone fisiche o giuridiche o degli istituti giuridici che possiedono tale terreno o bene immobile</a:t>
                      </a:r>
                      <a:r>
                        <a:rPr lang="it-IT" sz="1200" dirty="0">
                          <a:latin typeface="Arial" panose="020B0604020202020204" pitchFamily="34" charset="0"/>
                          <a:cs typeface="Arial" panose="020B0604020202020204" pitchFamily="34" charset="0"/>
                        </a:rPr>
                        <a:t>, nonché alle informazioni che consentono l'identificazione e l'analisi delle operazioni relative a beni immobili. Tale accesso è fornito mediante un punto di accesso unico da istituire in ciascuno Stato membro che consenta alle autorità competenti di accedere, tramite mezzi elettronici, alle informazioni in formato digitale, che sono, ove possibile, leggibili meccanicamente….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0823304"/>
                  </a:ext>
                </a:extLst>
              </a:tr>
              <a:tr h="256100">
                <a:tc>
                  <a:txBody>
                    <a:bodyPr/>
                    <a:lstStyle/>
                    <a:p>
                      <a:r>
                        <a:rPr lang="it-IT" sz="1200" dirty="0">
                          <a:latin typeface="Arial" panose="020B0604020202020204" pitchFamily="34" charset="0"/>
                          <a:cs typeface="Arial" panose="020B0604020202020204" pitchFamily="34" charset="0"/>
                        </a:rPr>
                        <a:t>18 comma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Gli Stati membri provvedono affinché i dati storici di cui alla lettera d), primo comma, coprano almeno il periodo </a:t>
                      </a:r>
                      <a:r>
                        <a:rPr lang="it-IT" sz="1200" b="1" dirty="0">
                          <a:latin typeface="Arial" panose="020B0604020202020204" pitchFamily="34" charset="0"/>
                          <a:cs typeface="Arial" panose="020B0604020202020204" pitchFamily="34" charset="0"/>
                        </a:rPr>
                        <a:t>dall'8 luglio 2019</a:t>
                      </a:r>
                      <a:r>
                        <a:rPr lang="it-IT" sz="1200"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1567848"/>
                  </a:ext>
                </a:extLst>
              </a:tr>
            </a:tbl>
          </a:graphicData>
        </a:graphic>
      </p:graphicFrame>
      <p:grpSp>
        <p:nvGrpSpPr>
          <p:cNvPr id="6" name="Gruppo 5">
            <a:extLst>
              <a:ext uri="{FF2B5EF4-FFF2-40B4-BE49-F238E27FC236}">
                <a16:creationId xmlns:a16="http://schemas.microsoft.com/office/drawing/2014/main" id="{FB6866CC-5677-1933-3C60-6EF10335565F}"/>
              </a:ext>
            </a:extLst>
          </p:cNvPr>
          <p:cNvGrpSpPr/>
          <p:nvPr/>
        </p:nvGrpSpPr>
        <p:grpSpPr>
          <a:xfrm>
            <a:off x="7870373" y="1637488"/>
            <a:ext cx="4250867" cy="1927583"/>
            <a:chOff x="8241711" y="1806217"/>
            <a:chExt cx="3888708" cy="1927583"/>
          </a:xfrm>
        </p:grpSpPr>
        <p:sp>
          <p:nvSpPr>
            <p:cNvPr id="7" name="Rettangolo 6">
              <a:extLst>
                <a:ext uri="{FF2B5EF4-FFF2-40B4-BE49-F238E27FC236}">
                  <a16:creationId xmlns:a16="http://schemas.microsoft.com/office/drawing/2014/main" id="{B59A77F9-34F0-F861-6F35-5FFA95C58857}"/>
                </a:ext>
              </a:extLst>
            </p:cNvPr>
            <p:cNvSpPr/>
            <p:nvPr/>
          </p:nvSpPr>
          <p:spPr>
            <a:xfrm>
              <a:off x="9267414" y="1806217"/>
              <a:ext cx="2863005" cy="19275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it-IT" sz="1200" dirty="0">
                  <a:solidFill>
                    <a:schemeClr val="tx1"/>
                  </a:solidFill>
                  <a:latin typeface="Arial" panose="020B0604020202020204" pitchFamily="34" charset="0"/>
                  <a:cs typeface="Arial" panose="020B0604020202020204" pitchFamily="34" charset="0"/>
                </a:rPr>
                <a:t>Entro il </a:t>
              </a:r>
              <a:r>
                <a:rPr lang="it-IT" sz="1200" b="1" dirty="0">
                  <a:solidFill>
                    <a:schemeClr val="tx1"/>
                  </a:solidFill>
                  <a:latin typeface="Arial" panose="020B0604020202020204" pitchFamily="34" charset="0"/>
                  <a:cs typeface="Arial" panose="020B0604020202020204" pitchFamily="34" charset="0"/>
                </a:rPr>
                <a:t>10 ottobre 2029 </a:t>
              </a:r>
              <a:r>
                <a:rPr lang="it-IT" sz="1200" dirty="0">
                  <a:solidFill>
                    <a:schemeClr val="tx1"/>
                  </a:solidFill>
                  <a:latin typeface="Arial" panose="020B0604020202020204" pitchFamily="34" charset="0"/>
                  <a:cs typeface="Arial" panose="020B0604020202020204" pitchFamily="34" charset="0"/>
                </a:rPr>
                <a:t>gli Stati membri notificano alla Commissione </a:t>
              </a:r>
              <a:r>
                <a:rPr lang="it-IT" sz="1200" b="1" dirty="0">
                  <a:solidFill>
                    <a:schemeClr val="tx1"/>
                  </a:solidFill>
                  <a:latin typeface="Arial" panose="020B0604020202020204" pitchFamily="34" charset="0"/>
                  <a:cs typeface="Arial" panose="020B0604020202020204" pitchFamily="34" charset="0"/>
                </a:rPr>
                <a:t>le caratteristiche del punto di accesso unico istituito a livello nazionale, compreso il sito web dal quale è possibile accedervi</a:t>
              </a:r>
              <a:r>
                <a:rPr lang="it-IT" sz="1200" dirty="0">
                  <a:solidFill>
                    <a:schemeClr val="tx1"/>
                  </a:solidFill>
                  <a:latin typeface="Arial" panose="020B0604020202020204" pitchFamily="34" charset="0"/>
                  <a:cs typeface="Arial" panose="020B0604020202020204" pitchFamily="34" charset="0"/>
                </a:rPr>
                <a:t>, l’elenco delle autorità competenti a cui è stato concesso l’accesso alle informazioni e </a:t>
              </a:r>
              <a:r>
                <a:rPr lang="it-IT" sz="1200" b="1" dirty="0">
                  <a:solidFill>
                    <a:schemeClr val="tx1"/>
                  </a:solidFill>
                  <a:latin typeface="Arial" panose="020B0604020202020204" pitchFamily="34" charset="0"/>
                  <a:cs typeface="Arial" panose="020B0604020202020204" pitchFamily="34" charset="0"/>
                </a:rPr>
                <a:t>tutti i dati messi a disposizione nel suddetto punto di accesso.</a:t>
              </a:r>
            </a:p>
          </p:txBody>
        </p:sp>
        <p:sp>
          <p:nvSpPr>
            <p:cNvPr id="8" name="Freccia a destra con strisce 5">
              <a:extLst>
                <a:ext uri="{FF2B5EF4-FFF2-40B4-BE49-F238E27FC236}">
                  <a16:creationId xmlns:a16="http://schemas.microsoft.com/office/drawing/2014/main" id="{D2D4A010-FC9F-C529-268E-F7B83948F625}"/>
                </a:ext>
              </a:extLst>
            </p:cNvPr>
            <p:cNvSpPr/>
            <p:nvPr/>
          </p:nvSpPr>
          <p:spPr>
            <a:xfrm>
              <a:off x="8241711" y="2257013"/>
              <a:ext cx="979494" cy="851817"/>
            </a:xfrm>
            <a:prstGeom prst="stripedRightArrow">
              <a:avLst>
                <a:gd name="adj1" fmla="val 6307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600" dirty="0"/>
                <a:t>NOTA BENE</a:t>
              </a:r>
            </a:p>
          </p:txBody>
        </p:sp>
      </p:grpSp>
      <p:sp>
        <p:nvSpPr>
          <p:cNvPr id="9" name="CasellaDiTesto 8">
            <a:extLst>
              <a:ext uri="{FF2B5EF4-FFF2-40B4-BE49-F238E27FC236}">
                <a16:creationId xmlns:a16="http://schemas.microsoft.com/office/drawing/2014/main" id="{665702F6-ECC4-FEE8-7C96-5FE3C0B59344}"/>
              </a:ext>
            </a:extLst>
          </p:cNvPr>
          <p:cNvSpPr txBox="1"/>
          <p:nvPr/>
        </p:nvSpPr>
        <p:spPr>
          <a:xfrm>
            <a:off x="76714" y="4080827"/>
            <a:ext cx="9138043" cy="323165"/>
          </a:xfrm>
          <a:prstGeom prst="rect">
            <a:avLst/>
          </a:prstGeom>
          <a:noFill/>
        </p:spPr>
        <p:txBody>
          <a:bodyPr wrap="square">
            <a:spAutoFit/>
          </a:bodyPr>
          <a:lstStyle/>
          <a:p>
            <a:r>
              <a:rPr lang="it-IT" sz="1500" dirty="0">
                <a:latin typeface="Arial" panose="020B0604020202020204" pitchFamily="34" charset="0"/>
                <a:cs typeface="Arial" panose="020B0604020202020204" pitchFamily="34" charset="0"/>
              </a:rPr>
              <a:t>M)REGISTRO DEI CONTI BANCARI E SISTEMI ELETTRONICI DI REPERIMENTO DEI DATI</a:t>
            </a:r>
          </a:p>
        </p:txBody>
      </p:sp>
      <p:graphicFrame>
        <p:nvGraphicFramePr>
          <p:cNvPr id="10" name="Tabella 9">
            <a:extLst>
              <a:ext uri="{FF2B5EF4-FFF2-40B4-BE49-F238E27FC236}">
                <a16:creationId xmlns:a16="http://schemas.microsoft.com/office/drawing/2014/main" id="{0EECA8D4-CAE9-D4BD-A947-68049CABF642}"/>
              </a:ext>
            </a:extLst>
          </p:cNvPr>
          <p:cNvGraphicFramePr>
            <a:graphicFrameLocks noGrp="1"/>
          </p:cNvGraphicFramePr>
          <p:nvPr>
            <p:extLst>
              <p:ext uri="{D42A27DB-BD31-4B8C-83A1-F6EECF244321}">
                <p14:modId xmlns:p14="http://schemas.microsoft.com/office/powerpoint/2010/main" val="217664878"/>
              </p:ext>
            </p:extLst>
          </p:nvPr>
        </p:nvGraphicFramePr>
        <p:xfrm>
          <a:off x="218229" y="4518653"/>
          <a:ext cx="7554172" cy="2286000"/>
        </p:xfrm>
        <a:graphic>
          <a:graphicData uri="http://schemas.openxmlformats.org/drawingml/2006/table">
            <a:tbl>
              <a:tblPr firstRow="1" bandRow="1">
                <a:tableStyleId>{5C22544A-7EE6-4342-B048-85BDC9FD1C3A}</a:tableStyleId>
              </a:tblPr>
              <a:tblGrid>
                <a:gridCol w="2014674">
                  <a:extLst>
                    <a:ext uri="{9D8B030D-6E8A-4147-A177-3AD203B41FA5}">
                      <a16:colId xmlns:a16="http://schemas.microsoft.com/office/drawing/2014/main" val="526275485"/>
                    </a:ext>
                  </a:extLst>
                </a:gridCol>
                <a:gridCol w="5539498">
                  <a:extLst>
                    <a:ext uri="{9D8B030D-6E8A-4147-A177-3AD203B41FA5}">
                      <a16:colId xmlns:a16="http://schemas.microsoft.com/office/drawing/2014/main" val="4082768777"/>
                    </a:ext>
                  </a:extLst>
                </a:gridCol>
              </a:tblGrid>
              <a:tr h="0">
                <a:tc>
                  <a:txBody>
                    <a:bodyPr/>
                    <a:lstStyle/>
                    <a:p>
                      <a:r>
                        <a:rPr lang="it-IT" sz="12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Novità introdotta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462892"/>
                  </a:ext>
                </a:extLst>
              </a:tr>
              <a:tr h="243935">
                <a:tc>
                  <a:txBody>
                    <a:bodyPr/>
                    <a:lstStyle/>
                    <a:p>
                      <a:r>
                        <a:rPr lang="it-IT" sz="1200" dirty="0">
                          <a:latin typeface="Arial" panose="020B0604020202020204" pitchFamily="34" charset="0"/>
                          <a:cs typeface="Arial" panose="020B0604020202020204" pitchFamily="34" charset="0"/>
                        </a:rPr>
                        <a:t>16 comma 1 Dir. 2024/1640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it-IT" sz="1200" dirty="0">
                          <a:latin typeface="Arial" panose="020B0604020202020204" pitchFamily="34" charset="0"/>
                          <a:cs typeface="Arial" panose="020B0604020202020204" pitchFamily="34" charset="0"/>
                        </a:rPr>
                        <a:t>1.Gli Stati membri istituiscono meccanismi centralizzati automatici, quali registri centrali o sistemi elettronici centrali di reperimento dei dati, che consentano </a:t>
                      </a:r>
                      <a:r>
                        <a:rPr lang="it-IT" sz="1200" b="1" dirty="0">
                          <a:latin typeface="Arial" panose="020B0604020202020204" pitchFamily="34" charset="0"/>
                          <a:cs typeface="Arial" panose="020B0604020202020204" pitchFamily="34" charset="0"/>
                        </a:rPr>
                        <a:t>l'identificazione tempestiva di qualsiasi persona fisica o giuridica che detenga o controlli conti di pagamento o conti bancari identificati dall'IBAN, IBAN virtuali compresi, conti titoli, conti di cripto-attività, e cassette di sicurezza detenuti da un ente creditizio o da un ente finanziario nel loro territorio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0823304"/>
                  </a:ext>
                </a:extLst>
              </a:tr>
              <a:tr h="256100">
                <a:tc>
                  <a:txBody>
                    <a:bodyPr/>
                    <a:lstStyle/>
                    <a:p>
                      <a:r>
                        <a:rPr lang="it-IT" sz="1200" dirty="0">
                          <a:latin typeface="Arial" panose="020B0604020202020204" pitchFamily="34" charset="0"/>
                          <a:cs typeface="Arial" panose="020B0604020202020204" pitchFamily="34" charset="0"/>
                        </a:rPr>
                        <a:t>16 comma 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it-IT" sz="1200" dirty="0">
                          <a:latin typeface="Arial" panose="020B0604020202020204" pitchFamily="34" charset="0"/>
                          <a:cs typeface="Arial" panose="020B0604020202020204" pitchFamily="34" charset="0"/>
                        </a:rPr>
                        <a:t>6.I meccanismi automatici centralizzati sono interconnessi attraverso i sistemi di interconnessione dei registri dei conti bancari </a:t>
                      </a:r>
                      <a:r>
                        <a:rPr lang="it-IT" sz="1200" b="1" dirty="0">
                          <a:latin typeface="Arial" panose="020B0604020202020204" pitchFamily="34" charset="0"/>
                          <a:cs typeface="Arial" panose="020B0604020202020204" pitchFamily="34" charset="0"/>
                        </a:rPr>
                        <a:t>(SIRCB)che sarà sviluppato e gestito dalla Commissione.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1567848"/>
                  </a:ext>
                </a:extLst>
              </a:tr>
            </a:tbl>
          </a:graphicData>
        </a:graphic>
      </p:graphicFrame>
      <p:grpSp>
        <p:nvGrpSpPr>
          <p:cNvPr id="13" name="Gruppo 12">
            <a:extLst>
              <a:ext uri="{FF2B5EF4-FFF2-40B4-BE49-F238E27FC236}">
                <a16:creationId xmlns:a16="http://schemas.microsoft.com/office/drawing/2014/main" id="{165877FC-833C-9B94-2B7F-07E6F9BAB2F2}"/>
              </a:ext>
            </a:extLst>
          </p:cNvPr>
          <p:cNvGrpSpPr/>
          <p:nvPr/>
        </p:nvGrpSpPr>
        <p:grpSpPr>
          <a:xfrm>
            <a:off x="7870372" y="5750018"/>
            <a:ext cx="4250868" cy="873447"/>
            <a:chOff x="7756911" y="1969266"/>
            <a:chExt cx="3888708" cy="851817"/>
          </a:xfrm>
        </p:grpSpPr>
        <p:sp>
          <p:nvSpPr>
            <p:cNvPr id="14" name="Rettangolo 13">
              <a:extLst>
                <a:ext uri="{FF2B5EF4-FFF2-40B4-BE49-F238E27FC236}">
                  <a16:creationId xmlns:a16="http://schemas.microsoft.com/office/drawing/2014/main" id="{AAA63752-5286-36BF-0650-3EF00D517D5D}"/>
                </a:ext>
              </a:extLst>
            </p:cNvPr>
            <p:cNvSpPr/>
            <p:nvPr/>
          </p:nvSpPr>
          <p:spPr>
            <a:xfrm>
              <a:off x="8782613" y="2050352"/>
              <a:ext cx="2863006" cy="68964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it-IT" sz="1200" dirty="0">
                  <a:solidFill>
                    <a:schemeClr val="tx1"/>
                  </a:solidFill>
                  <a:latin typeface="Arial" panose="020B0604020202020204" pitchFamily="34" charset="0"/>
                  <a:cs typeface="Arial" panose="020B0604020202020204" pitchFamily="34" charset="0"/>
                </a:rPr>
                <a:t>La Commissione garantisce tale interconnessione in cooperazione con gli Stati membri entro il </a:t>
              </a:r>
              <a:r>
                <a:rPr lang="it-IT" sz="1200" b="1" dirty="0">
                  <a:solidFill>
                    <a:schemeClr val="tx1"/>
                  </a:solidFill>
                  <a:latin typeface="Arial" panose="020B0604020202020204" pitchFamily="34" charset="0"/>
                  <a:cs typeface="Arial" panose="020B0604020202020204" pitchFamily="34" charset="0"/>
                </a:rPr>
                <a:t>10 luglio 2029</a:t>
              </a:r>
            </a:p>
          </p:txBody>
        </p:sp>
        <p:sp>
          <p:nvSpPr>
            <p:cNvPr id="15" name="Freccia a destra con strisce 5">
              <a:extLst>
                <a:ext uri="{FF2B5EF4-FFF2-40B4-BE49-F238E27FC236}">
                  <a16:creationId xmlns:a16="http://schemas.microsoft.com/office/drawing/2014/main" id="{568813B2-48E8-40A1-A0C2-6150281CCBC8}"/>
                </a:ext>
              </a:extLst>
            </p:cNvPr>
            <p:cNvSpPr/>
            <p:nvPr/>
          </p:nvSpPr>
          <p:spPr>
            <a:xfrm>
              <a:off x="7756911" y="1969266"/>
              <a:ext cx="1025702" cy="851817"/>
            </a:xfrm>
            <a:prstGeom prst="stripedRightArrow">
              <a:avLst>
                <a:gd name="adj1" fmla="val 6307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400" dirty="0">
                  <a:latin typeface="Arial" panose="020B0604020202020204" pitchFamily="34" charset="0"/>
                  <a:cs typeface="Arial" panose="020B0604020202020204" pitchFamily="34" charset="0"/>
                </a:rPr>
                <a:t>NOTA BENE</a:t>
              </a:r>
            </a:p>
          </p:txBody>
        </p:sp>
      </p:grpSp>
    </p:spTree>
    <p:extLst>
      <p:ext uri="{BB962C8B-B14F-4D97-AF65-F5344CB8AC3E}">
        <p14:creationId xmlns:p14="http://schemas.microsoft.com/office/powerpoint/2010/main" val="1163568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B1C78-D81C-DD28-782E-500D49655796}"/>
            </a:ext>
          </a:extLst>
        </p:cNvPr>
        <p:cNvGrpSpPr/>
        <p:nvPr/>
      </p:nvGrpSpPr>
      <p:grpSpPr>
        <a:xfrm>
          <a:off x="0" y="0"/>
          <a:ext cx="0" cy="0"/>
          <a:chOff x="0" y="0"/>
          <a:chExt cx="0" cy="0"/>
        </a:xfrm>
      </p:grpSpPr>
      <p:sp>
        <p:nvSpPr>
          <p:cNvPr id="4" name="CasellaDiTesto 3">
            <a:extLst>
              <a:ext uri="{FF2B5EF4-FFF2-40B4-BE49-F238E27FC236}">
                <a16:creationId xmlns:a16="http://schemas.microsoft.com/office/drawing/2014/main" id="{7ADA0F5D-4706-03FB-3429-7C33469882F3}"/>
              </a:ext>
            </a:extLst>
          </p:cNvPr>
          <p:cNvSpPr txBox="1"/>
          <p:nvPr/>
        </p:nvSpPr>
        <p:spPr>
          <a:xfrm>
            <a:off x="174172" y="812977"/>
            <a:ext cx="7336370" cy="369332"/>
          </a:xfrm>
          <a:prstGeom prst="rect">
            <a:avLst/>
          </a:prstGeom>
          <a:noFill/>
        </p:spPr>
        <p:txBody>
          <a:bodyPr wrap="square">
            <a:spAutoFit/>
          </a:bodyPr>
          <a:lstStyle/>
          <a:p>
            <a:r>
              <a:rPr lang="it-IT" dirty="0">
                <a:latin typeface="Arial" panose="020B0604020202020204" pitchFamily="34" charset="0"/>
                <a:cs typeface="Arial" panose="020B0604020202020204" pitchFamily="34" charset="0"/>
              </a:rPr>
              <a:t>N</a:t>
            </a:r>
            <a:r>
              <a:rPr lang="it-IT" sz="1800" dirty="0">
                <a:latin typeface="Arial" panose="020B0604020202020204" pitchFamily="34" charset="0"/>
                <a:cs typeface="Arial" panose="020B0604020202020204" pitchFamily="34" charset="0"/>
              </a:rPr>
              <a:t>)TEMPI DI RISPOSTA A FIU</a:t>
            </a:r>
          </a:p>
        </p:txBody>
      </p:sp>
      <p:graphicFrame>
        <p:nvGraphicFramePr>
          <p:cNvPr id="5" name="Tabella 4">
            <a:extLst>
              <a:ext uri="{FF2B5EF4-FFF2-40B4-BE49-F238E27FC236}">
                <a16:creationId xmlns:a16="http://schemas.microsoft.com/office/drawing/2014/main" id="{05389E4E-37C2-5697-08F5-4BAFC03BE6D7}"/>
              </a:ext>
            </a:extLst>
          </p:cNvPr>
          <p:cNvGraphicFramePr>
            <a:graphicFrameLocks noGrp="1"/>
          </p:cNvGraphicFramePr>
          <p:nvPr>
            <p:extLst>
              <p:ext uri="{D42A27DB-BD31-4B8C-83A1-F6EECF244321}">
                <p14:modId xmlns:p14="http://schemas.microsoft.com/office/powerpoint/2010/main" val="2813961265"/>
              </p:ext>
            </p:extLst>
          </p:nvPr>
        </p:nvGraphicFramePr>
        <p:xfrm>
          <a:off x="218229" y="1282519"/>
          <a:ext cx="7195436" cy="3108960"/>
        </p:xfrm>
        <a:graphic>
          <a:graphicData uri="http://schemas.openxmlformats.org/drawingml/2006/table">
            <a:tbl>
              <a:tblPr firstRow="1" bandRow="1">
                <a:tableStyleId>{5C22544A-7EE6-4342-B048-85BDC9FD1C3A}</a:tableStyleId>
              </a:tblPr>
              <a:tblGrid>
                <a:gridCol w="1004824">
                  <a:extLst>
                    <a:ext uri="{9D8B030D-6E8A-4147-A177-3AD203B41FA5}">
                      <a16:colId xmlns:a16="http://schemas.microsoft.com/office/drawing/2014/main" val="526275485"/>
                    </a:ext>
                  </a:extLst>
                </a:gridCol>
                <a:gridCol w="6190612">
                  <a:extLst>
                    <a:ext uri="{9D8B030D-6E8A-4147-A177-3AD203B41FA5}">
                      <a16:colId xmlns:a16="http://schemas.microsoft.com/office/drawing/2014/main" val="4082768777"/>
                    </a:ext>
                  </a:extLst>
                </a:gridCol>
              </a:tblGrid>
              <a:tr h="0">
                <a:tc>
                  <a:txBody>
                    <a:bodyPr/>
                    <a:lstStyle/>
                    <a:p>
                      <a:r>
                        <a:rPr lang="it-IT" sz="1200" dirty="0">
                          <a:latin typeface="Arial" panose="020B0604020202020204" pitchFamily="34" charset="0"/>
                          <a:cs typeface="Arial" panose="020B0604020202020204" pitchFamily="34" charset="0"/>
                        </a:rPr>
                        <a:t>ARTICOLI</a:t>
                      </a:r>
                    </a:p>
                  </a:txBody>
                  <a:tcPr>
                    <a:lnB w="12700" cap="flat" cmpd="sng" algn="ctr">
                      <a:solidFill>
                        <a:schemeClr val="tx1"/>
                      </a:solidFill>
                      <a:prstDash val="solid"/>
                      <a:round/>
                      <a:headEnd type="none" w="med" len="med"/>
                      <a:tailEnd type="none" w="med" len="med"/>
                    </a:lnB>
                  </a:tcPr>
                </a:tc>
                <a:tc>
                  <a:txBody>
                    <a:bodyPr/>
                    <a:lstStyle/>
                    <a:p>
                      <a:r>
                        <a:rPr lang="it-IT" sz="1200" dirty="0">
                          <a:latin typeface="Arial" panose="020B0604020202020204" pitchFamily="34" charset="0"/>
                          <a:cs typeface="Arial" panose="020B0604020202020204" pitchFamily="34" charset="0"/>
                        </a:rPr>
                        <a:t>Novità introdotta</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462892"/>
                  </a:ext>
                </a:extLst>
              </a:tr>
              <a:tr h="163199">
                <a:tc>
                  <a:txBody>
                    <a:bodyPr/>
                    <a:lstStyle/>
                    <a:p>
                      <a:r>
                        <a:rPr lang="it-IT" sz="1200" dirty="0">
                          <a:latin typeface="Arial" panose="020B0604020202020204" pitchFamily="34" charset="0"/>
                          <a:cs typeface="Arial" panose="020B0604020202020204" pitchFamily="34" charset="0"/>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it-IT" sz="1200" dirty="0">
                          <a:latin typeface="Arial" panose="020B0604020202020204" pitchFamily="34" charset="0"/>
                          <a:cs typeface="Arial" panose="020B0604020202020204" pitchFamily="34" charset="0"/>
                        </a:rPr>
                        <a:t>1.I soggetti obbligati e, se del caso, i loro amministratori e dipendenti collaborano pienamente con la FIU provvedendo tempestivamente a:</a:t>
                      </a:r>
                    </a:p>
                    <a:p>
                      <a:pPr algn="just"/>
                      <a:r>
                        <a:rPr lang="it-IT" sz="1200" dirty="0">
                          <a:latin typeface="Arial" panose="020B0604020202020204" pitchFamily="34" charset="0"/>
                          <a:cs typeface="Arial" panose="020B0604020202020204" pitchFamily="34" charset="0"/>
                        </a:rPr>
                        <a:t>a) segnalare alla FIU, di propria iniziativa, quando il soggetto obbligato sa, sospetta o ha motivo ragionevole di sospettare che i fondi o le attività, indipendentemente dalla loro entità, provengono da attività criminose o sono collegati al finanziamento del terrorismo o ad attività criminose e rispondendo, in tali casi, alle richieste di informazioni ulteriori da parte della FIU;</a:t>
                      </a:r>
                    </a:p>
                    <a:p>
                      <a:pPr algn="just"/>
                      <a:r>
                        <a:rPr lang="it-IT" sz="1200" dirty="0">
                          <a:latin typeface="Arial" panose="020B0604020202020204" pitchFamily="34" charset="0"/>
                          <a:cs typeface="Arial" panose="020B0604020202020204" pitchFamily="34" charset="0"/>
                        </a:rPr>
                        <a:t>b) fornire alla FIU, su sua richiesta, tutte le informazioni necessarie, comprese le informazioni sulle registrazioni delle operazioni, entro i termini imposti.</a:t>
                      </a:r>
                    </a:p>
                    <a:p>
                      <a:pPr algn="just"/>
                      <a:r>
                        <a:rPr lang="it-IT" sz="1200" dirty="0">
                          <a:latin typeface="Arial" panose="020B0604020202020204" pitchFamily="34" charset="0"/>
                          <a:cs typeface="Arial" panose="020B0604020202020204" pitchFamily="34" charset="0"/>
                        </a:rPr>
                        <a:t>Devono essere segnalate a norma del primo comma tutte le operazioni sospette, incluse quelle tentate, ivi compresi i sospetti generati dall'incapacità di applicare le misure di adeguata verifica della clientela.</a:t>
                      </a:r>
                    </a:p>
                    <a:p>
                      <a:pPr algn="just"/>
                      <a:r>
                        <a:rPr lang="it-IT" sz="1200" dirty="0">
                          <a:latin typeface="Arial" panose="020B0604020202020204" pitchFamily="34" charset="0"/>
                          <a:cs typeface="Arial" panose="020B0604020202020204" pitchFamily="34" charset="0"/>
                        </a:rPr>
                        <a:t>Ai fini del primo comma, i soggetti obbligati rispondono a una richiesta di informazioni da parte della FIU </a:t>
                      </a:r>
                      <a:r>
                        <a:rPr lang="it-IT" sz="1200" b="1" u="sng" dirty="0">
                          <a:latin typeface="Arial" panose="020B0604020202020204" pitchFamily="34" charset="0"/>
                          <a:cs typeface="Arial" panose="020B0604020202020204" pitchFamily="34" charset="0"/>
                        </a:rPr>
                        <a:t>entro cinque giorni lavorativi</a:t>
                      </a:r>
                      <a:r>
                        <a:rPr lang="it-IT" sz="1200" dirty="0">
                          <a:latin typeface="Arial" panose="020B0604020202020204" pitchFamily="34" charset="0"/>
                          <a:cs typeface="Arial" panose="020B0604020202020204" pitchFamily="34" charset="0"/>
                        </a:rPr>
                        <a:t>. In casi giustificati e urgenti, le FIU possono abbreviare tale termine anche fino a </a:t>
                      </a:r>
                      <a:r>
                        <a:rPr lang="it-IT" sz="1200" b="1" u="sng" kern="1200" dirty="0">
                          <a:solidFill>
                            <a:schemeClr val="dk1"/>
                          </a:solidFill>
                          <a:latin typeface="Arial" panose="020B0604020202020204" pitchFamily="34" charset="0"/>
                          <a:ea typeface="+mn-ea"/>
                          <a:cs typeface="Arial" panose="020B0604020202020204" pitchFamily="34" charset="0"/>
                        </a:rPr>
                        <a:t>meno di 24 ore</a:t>
                      </a:r>
                      <a:r>
                        <a:rPr lang="it-IT" sz="1200"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0823304"/>
                  </a:ext>
                </a:extLst>
              </a:tr>
            </a:tbl>
          </a:graphicData>
        </a:graphic>
      </p:graphicFrame>
      <p:grpSp>
        <p:nvGrpSpPr>
          <p:cNvPr id="6" name="Gruppo 5">
            <a:extLst>
              <a:ext uri="{FF2B5EF4-FFF2-40B4-BE49-F238E27FC236}">
                <a16:creationId xmlns:a16="http://schemas.microsoft.com/office/drawing/2014/main" id="{5098A58F-F232-EA89-FCFA-DA4102772597}"/>
              </a:ext>
            </a:extLst>
          </p:cNvPr>
          <p:cNvGrpSpPr/>
          <p:nvPr/>
        </p:nvGrpSpPr>
        <p:grpSpPr>
          <a:xfrm>
            <a:off x="7510542" y="1942289"/>
            <a:ext cx="4610700" cy="1269728"/>
            <a:chOff x="7912536" y="1806218"/>
            <a:chExt cx="4217884" cy="1269728"/>
          </a:xfrm>
        </p:grpSpPr>
        <p:sp>
          <p:nvSpPr>
            <p:cNvPr id="7" name="Rettangolo 6">
              <a:extLst>
                <a:ext uri="{FF2B5EF4-FFF2-40B4-BE49-F238E27FC236}">
                  <a16:creationId xmlns:a16="http://schemas.microsoft.com/office/drawing/2014/main" id="{BD75AB3D-D2A1-942C-0B83-90058BA156DF}"/>
                </a:ext>
              </a:extLst>
            </p:cNvPr>
            <p:cNvSpPr/>
            <p:nvPr/>
          </p:nvSpPr>
          <p:spPr>
            <a:xfrm>
              <a:off x="9177789" y="1806218"/>
              <a:ext cx="2952631" cy="126972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it-IT" sz="1200" dirty="0">
                  <a:solidFill>
                    <a:schemeClr val="tx1"/>
                  </a:solidFill>
                  <a:latin typeface="Arial" panose="020B0604020202020204" pitchFamily="34" charset="0"/>
                  <a:cs typeface="Arial" panose="020B0604020202020204" pitchFamily="34" charset="0"/>
                </a:rPr>
                <a:t>Entro il </a:t>
              </a:r>
              <a:r>
                <a:rPr lang="it-IT" sz="1200" b="1" dirty="0">
                  <a:solidFill>
                    <a:schemeClr val="tx1"/>
                  </a:solidFill>
                  <a:latin typeface="Arial" panose="020B0604020202020204" pitchFamily="34" charset="0"/>
                  <a:cs typeface="Arial" panose="020B0604020202020204" pitchFamily="34" charset="0"/>
                </a:rPr>
                <a:t>10 luglio 2026 l’AMLA è chiamata ad emanare norme tecniche di attuazione su formato da utilizzare per la trasmissione delle SOS alle FIU </a:t>
              </a:r>
            </a:p>
          </p:txBody>
        </p:sp>
        <p:sp>
          <p:nvSpPr>
            <p:cNvPr id="8" name="Freccia a destra con strisce 5">
              <a:extLst>
                <a:ext uri="{FF2B5EF4-FFF2-40B4-BE49-F238E27FC236}">
                  <a16:creationId xmlns:a16="http://schemas.microsoft.com/office/drawing/2014/main" id="{67D98455-9592-827E-079A-50DD6007FBBF}"/>
                </a:ext>
              </a:extLst>
            </p:cNvPr>
            <p:cNvSpPr/>
            <p:nvPr/>
          </p:nvSpPr>
          <p:spPr>
            <a:xfrm>
              <a:off x="7912536" y="2084816"/>
              <a:ext cx="1176629" cy="851817"/>
            </a:xfrm>
            <a:prstGeom prst="stripedRightArrow">
              <a:avLst>
                <a:gd name="adj1" fmla="val 63070"/>
                <a:gd name="adj2" fmla="val 50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NOTA BENE</a:t>
              </a:r>
            </a:p>
          </p:txBody>
        </p:sp>
      </p:grpSp>
      <p:grpSp>
        <p:nvGrpSpPr>
          <p:cNvPr id="2" name="Gruppo 1">
            <a:extLst>
              <a:ext uri="{FF2B5EF4-FFF2-40B4-BE49-F238E27FC236}">
                <a16:creationId xmlns:a16="http://schemas.microsoft.com/office/drawing/2014/main" id="{76D8E841-8832-4EC2-45D3-9E306796BEC6}"/>
              </a:ext>
            </a:extLst>
          </p:cNvPr>
          <p:cNvGrpSpPr/>
          <p:nvPr/>
        </p:nvGrpSpPr>
        <p:grpSpPr>
          <a:xfrm>
            <a:off x="7592170" y="3924495"/>
            <a:ext cx="4529072" cy="1050846"/>
            <a:chOff x="6633545" y="1241829"/>
            <a:chExt cx="5420642" cy="2400224"/>
          </a:xfrm>
        </p:grpSpPr>
        <p:sp>
          <p:nvSpPr>
            <p:cNvPr id="3" name="Rettangolo 2">
              <a:extLst>
                <a:ext uri="{FF2B5EF4-FFF2-40B4-BE49-F238E27FC236}">
                  <a16:creationId xmlns:a16="http://schemas.microsoft.com/office/drawing/2014/main" id="{F824F7E9-FC28-1055-2AEC-83C873EDDF5F}"/>
                </a:ext>
              </a:extLst>
            </p:cNvPr>
            <p:cNvSpPr/>
            <p:nvPr/>
          </p:nvSpPr>
          <p:spPr>
            <a:xfrm>
              <a:off x="6633545" y="1241829"/>
              <a:ext cx="5420642" cy="2400224"/>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latin typeface="Arial" panose="020B0604020202020204" pitchFamily="34" charset="0"/>
                <a:cs typeface="Arial" panose="020B0604020202020204" pitchFamily="34" charset="0"/>
              </a:endParaRPr>
            </a:p>
          </p:txBody>
        </p:sp>
        <p:sp>
          <p:nvSpPr>
            <p:cNvPr id="11" name="CasellaDiTesto 10">
              <a:extLst>
                <a:ext uri="{FF2B5EF4-FFF2-40B4-BE49-F238E27FC236}">
                  <a16:creationId xmlns:a16="http://schemas.microsoft.com/office/drawing/2014/main" id="{D45AD5AC-8E24-1B2A-E6D4-69DBB46A4A04}"/>
                </a:ext>
              </a:extLst>
            </p:cNvPr>
            <p:cNvSpPr txBox="1"/>
            <p:nvPr/>
          </p:nvSpPr>
          <p:spPr>
            <a:xfrm>
              <a:off x="7251324" y="1322190"/>
              <a:ext cx="4728709" cy="1898070"/>
            </a:xfrm>
            <a:prstGeom prst="rect">
              <a:avLst/>
            </a:prstGeom>
            <a:solidFill>
              <a:schemeClr val="bg1">
                <a:lumMod val="95000"/>
              </a:schemeClr>
            </a:solidFill>
          </p:spPr>
          <p:txBody>
            <a:bodyPr wrap="square" rtlCol="0">
              <a:spAutoFit/>
            </a:bodyPr>
            <a:lstStyle/>
            <a:p>
              <a:pPr algn="just"/>
              <a:r>
                <a:rPr lang="it-IT" sz="1200" b="1" dirty="0">
                  <a:latin typeface="Arial" panose="020B0604020202020204" pitchFamily="34" charset="0"/>
                  <a:cs typeface="Arial" panose="020B0604020202020204" pitchFamily="34" charset="0"/>
                </a:rPr>
                <a:t>Possibili impatti su</a:t>
              </a:r>
              <a:r>
                <a:rPr lang="it-IT" sz="1200"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Processi e Procedure (va garantita evasione nei termini previsti);</a:t>
              </a:r>
            </a:p>
            <a:p>
              <a:pPr marL="342900" indent="-342900" algn="just">
                <a:buFont typeface="Arial" panose="020B0604020202020204" pitchFamily="34" charset="0"/>
                <a:buChar char="•"/>
              </a:pPr>
              <a:r>
                <a:rPr lang="it-IT" sz="1200" dirty="0">
                  <a:latin typeface="Arial" panose="020B0604020202020204" pitchFamily="34" charset="0"/>
                  <a:cs typeface="Arial" panose="020B0604020202020204" pitchFamily="34" charset="0"/>
                </a:rPr>
                <a:t>controlli di primo – secondo e terzo livello.</a:t>
              </a:r>
            </a:p>
          </p:txBody>
        </p:sp>
      </p:grpSp>
      <p:pic>
        <p:nvPicPr>
          <p:cNvPr id="12" name="Immagine 11">
            <a:extLst>
              <a:ext uri="{FF2B5EF4-FFF2-40B4-BE49-F238E27FC236}">
                <a16:creationId xmlns:a16="http://schemas.microsoft.com/office/drawing/2014/main" id="{BC9A6420-BE97-06F2-0E90-70F110F11689}"/>
              </a:ext>
            </a:extLst>
          </p:cNvPr>
          <p:cNvPicPr>
            <a:picLocks noChangeAspect="1"/>
          </p:cNvPicPr>
          <p:nvPr/>
        </p:nvPicPr>
        <p:blipFill>
          <a:blip r:embed="rId2"/>
          <a:stretch>
            <a:fillRect/>
          </a:stretch>
        </p:blipFill>
        <p:spPr>
          <a:xfrm>
            <a:off x="7647502" y="4019728"/>
            <a:ext cx="419649" cy="350984"/>
          </a:xfrm>
          <a:prstGeom prst="rect">
            <a:avLst/>
          </a:prstGeom>
        </p:spPr>
      </p:pic>
    </p:spTree>
    <p:extLst>
      <p:ext uri="{BB962C8B-B14F-4D97-AF65-F5344CB8AC3E}">
        <p14:creationId xmlns:p14="http://schemas.microsoft.com/office/powerpoint/2010/main" val="340800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D318FFF7-D82D-22EC-1FBD-E1527D97DF95}"/>
              </a:ext>
            </a:extLst>
          </p:cNvPr>
          <p:cNvSpPr/>
          <p:nvPr/>
        </p:nvSpPr>
        <p:spPr>
          <a:xfrm>
            <a:off x="223220" y="2049720"/>
            <a:ext cx="1931845" cy="12997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OBIETTIVI</a:t>
            </a:r>
          </a:p>
        </p:txBody>
      </p:sp>
      <p:cxnSp>
        <p:nvCxnSpPr>
          <p:cNvPr id="19" name="Connettore diritto 18">
            <a:extLst>
              <a:ext uri="{FF2B5EF4-FFF2-40B4-BE49-F238E27FC236}">
                <a16:creationId xmlns:a16="http://schemas.microsoft.com/office/drawing/2014/main" id="{2EC717B7-14F9-3626-4AE0-703100BD0060}"/>
              </a:ext>
            </a:extLst>
          </p:cNvPr>
          <p:cNvCxnSpPr>
            <a:cxnSpLocks/>
          </p:cNvCxnSpPr>
          <p:nvPr/>
        </p:nvCxnSpPr>
        <p:spPr>
          <a:xfrm>
            <a:off x="174172" y="3940080"/>
            <a:ext cx="11931902" cy="0"/>
          </a:xfrm>
          <a:prstGeom prst="line">
            <a:avLst/>
          </a:prstGeom>
        </p:spPr>
        <p:style>
          <a:lnRef idx="1">
            <a:schemeClr val="accent6"/>
          </a:lnRef>
          <a:fillRef idx="0">
            <a:schemeClr val="accent6"/>
          </a:fillRef>
          <a:effectRef idx="0">
            <a:schemeClr val="accent6"/>
          </a:effectRef>
          <a:fontRef idx="minor">
            <a:schemeClr val="tx1"/>
          </a:fontRef>
        </p:style>
      </p:cxnSp>
      <p:sp>
        <p:nvSpPr>
          <p:cNvPr id="22" name="CasellaDiTesto 21">
            <a:extLst>
              <a:ext uri="{FF2B5EF4-FFF2-40B4-BE49-F238E27FC236}">
                <a16:creationId xmlns:a16="http://schemas.microsoft.com/office/drawing/2014/main" id="{C3F2EE23-779E-CCC4-41DD-7099AC6BA26A}"/>
              </a:ext>
            </a:extLst>
          </p:cNvPr>
          <p:cNvSpPr txBox="1"/>
          <p:nvPr/>
        </p:nvSpPr>
        <p:spPr>
          <a:xfrm>
            <a:off x="146999" y="1575964"/>
            <a:ext cx="11805373" cy="307777"/>
          </a:xfrm>
          <a:prstGeom prst="rect">
            <a:avLst/>
          </a:prstGeom>
          <a:noFill/>
        </p:spPr>
        <p:txBody>
          <a:bodyPr wrap="square">
            <a:spAutoFit/>
          </a:bodyPr>
          <a:lstStyle/>
          <a:p>
            <a:r>
              <a:rPr lang="it-IT" sz="1400" dirty="0">
                <a:latin typeface="Arial" panose="020B0604020202020204" pitchFamily="34" charset="0"/>
                <a:cs typeface="Arial" panose="020B0604020202020204" pitchFamily="34" charset="0"/>
              </a:rPr>
              <a:t>Il Regolamento Ue 2024/1620 ha istituito l’Anti-Money </a:t>
            </a:r>
            <a:r>
              <a:rPr lang="it-IT" sz="1400" dirty="0" err="1">
                <a:latin typeface="Arial" panose="020B0604020202020204" pitchFamily="34" charset="0"/>
                <a:cs typeface="Arial" panose="020B0604020202020204" pitchFamily="34" charset="0"/>
              </a:rPr>
              <a:t>Laundering</a:t>
            </a:r>
            <a:r>
              <a:rPr lang="it-IT" sz="1400" dirty="0">
                <a:latin typeface="Arial" panose="020B0604020202020204" pitchFamily="34" charset="0"/>
                <a:cs typeface="Arial" panose="020B0604020202020204" pitchFamily="34" charset="0"/>
              </a:rPr>
              <a:t> Authority (AMLA), costituita a partire dal 26 giugno 2024.</a:t>
            </a:r>
          </a:p>
        </p:txBody>
      </p:sp>
      <p:grpSp>
        <p:nvGrpSpPr>
          <p:cNvPr id="31" name="Gruppo 30">
            <a:extLst>
              <a:ext uri="{FF2B5EF4-FFF2-40B4-BE49-F238E27FC236}">
                <a16:creationId xmlns:a16="http://schemas.microsoft.com/office/drawing/2014/main" id="{8BA13768-7AA8-12EB-3621-B92E1AA3E28F}"/>
              </a:ext>
            </a:extLst>
          </p:cNvPr>
          <p:cNvGrpSpPr/>
          <p:nvPr/>
        </p:nvGrpSpPr>
        <p:grpSpPr>
          <a:xfrm>
            <a:off x="174172" y="2061737"/>
            <a:ext cx="11887199" cy="4735123"/>
            <a:chOff x="473896" y="1263371"/>
            <a:chExt cx="11592865" cy="5439076"/>
          </a:xfrm>
        </p:grpSpPr>
        <p:sp>
          <p:nvSpPr>
            <p:cNvPr id="5" name="CasellaDiTesto 4">
              <a:extLst>
                <a:ext uri="{FF2B5EF4-FFF2-40B4-BE49-F238E27FC236}">
                  <a16:creationId xmlns:a16="http://schemas.microsoft.com/office/drawing/2014/main" id="{7A823E6F-16C8-DB2F-E471-747CB9E3A390}"/>
                </a:ext>
              </a:extLst>
            </p:cNvPr>
            <p:cNvSpPr txBox="1"/>
            <p:nvPr/>
          </p:nvSpPr>
          <p:spPr>
            <a:xfrm>
              <a:off x="2362145" y="1263371"/>
              <a:ext cx="9704616" cy="1467160"/>
            </a:xfrm>
            <a:prstGeom prst="rect">
              <a:avLst/>
            </a:prstGeom>
            <a:noFill/>
          </p:spPr>
          <p:txBody>
            <a:bodyPr wrap="square">
              <a:spAutoFit/>
            </a:bodyPr>
            <a:lstStyle/>
            <a:p>
              <a:pPr marL="171450" indent="-171450" algn="just">
                <a:buFont typeface="Arial" panose="020B0604020202020204" pitchFamily="34" charset="0"/>
                <a:buChar char="•"/>
              </a:pPr>
              <a:r>
                <a:rPr lang="it-IT" sz="1100" dirty="0">
                  <a:latin typeface="Arial" panose="020B0604020202020204" pitchFamily="34" charset="0"/>
                  <a:cs typeface="Arial" panose="020B0604020202020204" pitchFamily="34" charset="0"/>
                </a:rPr>
                <a:t>contribuire a </a:t>
              </a:r>
              <a:r>
                <a:rPr lang="it-IT" sz="1100" b="1" u="sng" dirty="0">
                  <a:latin typeface="Arial" panose="020B0604020202020204" pitchFamily="34" charset="0"/>
                  <a:cs typeface="Arial" panose="020B0604020202020204" pitchFamily="34" charset="0"/>
                </a:rPr>
                <a:t>individuare e valutare i rischi </a:t>
              </a:r>
              <a:r>
                <a:rPr lang="it-IT" sz="1100" dirty="0">
                  <a:latin typeface="Arial" panose="020B0604020202020204" pitchFamily="34" charset="0"/>
                  <a:cs typeface="Arial" panose="020B0604020202020204" pitchFamily="34" charset="0"/>
                </a:rPr>
                <a:t>e le minacce di riciclaggio e finanziamento del terrorismo in tutto il mercato interno, nonché i rischi e le minacce provenienti dall'esterno dell'Unione che incidono o sono suscettibili di incidere sul mercato interno;</a:t>
              </a:r>
            </a:p>
            <a:p>
              <a:pPr marL="171450" indent="-171450" algn="just">
                <a:buFont typeface="Arial" panose="020B0604020202020204" pitchFamily="34" charset="0"/>
                <a:buChar char="•"/>
              </a:pPr>
              <a:r>
                <a:rPr lang="it-IT" sz="1100" dirty="0">
                  <a:latin typeface="Arial" panose="020B0604020202020204" pitchFamily="34" charset="0"/>
                  <a:cs typeface="Arial" panose="020B0604020202020204" pitchFamily="34" charset="0"/>
                </a:rPr>
                <a:t>assicurare </a:t>
              </a:r>
              <a:r>
                <a:rPr lang="it-IT" sz="1100" b="1" u="sng" dirty="0">
                  <a:latin typeface="Arial" panose="020B0604020202020204" pitchFamily="34" charset="0"/>
                  <a:cs typeface="Arial" panose="020B0604020202020204" pitchFamily="34" charset="0"/>
                </a:rPr>
                <a:t>una supervisione di qualità elevata</a:t>
              </a:r>
              <a:r>
                <a:rPr lang="it-IT" sz="1100" dirty="0">
                  <a:latin typeface="Arial" panose="020B0604020202020204" pitchFamily="34" charset="0"/>
                  <a:cs typeface="Arial" panose="020B0604020202020204" pitchFamily="34" charset="0"/>
                </a:rPr>
                <a:t> nel settore della lotta al riciclaggio e al finanziamento del terrorismo («AML/CFT») in tutto il mercato interno;</a:t>
              </a:r>
            </a:p>
            <a:p>
              <a:pPr marL="171450" indent="-171450" algn="just">
                <a:buFont typeface="Arial" panose="020B0604020202020204" pitchFamily="34" charset="0"/>
                <a:buChar char="•"/>
              </a:pPr>
              <a:r>
                <a:rPr lang="it-IT" sz="1100" dirty="0">
                  <a:latin typeface="Arial" panose="020B0604020202020204" pitchFamily="34" charset="0"/>
                  <a:cs typeface="Arial" panose="020B0604020202020204" pitchFamily="34" charset="0"/>
                </a:rPr>
                <a:t>contribuire a una </a:t>
              </a:r>
              <a:r>
                <a:rPr lang="it-IT" sz="1100" b="1" u="sng" dirty="0">
                  <a:latin typeface="Arial" panose="020B0604020202020204" pitchFamily="34" charset="0"/>
                  <a:cs typeface="Arial" panose="020B0604020202020204" pitchFamily="34" charset="0"/>
                </a:rPr>
                <a:t>convergenza della supervisione </a:t>
              </a:r>
              <a:r>
                <a:rPr lang="it-IT" sz="1100" dirty="0">
                  <a:latin typeface="Arial" panose="020B0604020202020204" pitchFamily="34" charset="0"/>
                  <a:cs typeface="Arial" panose="020B0604020202020204" pitchFamily="34" charset="0"/>
                </a:rPr>
                <a:t>nel settore della AML/CFT in tutto il mercato interno;</a:t>
              </a:r>
            </a:p>
            <a:p>
              <a:pPr marL="171450" indent="-171450" algn="just">
                <a:buFont typeface="Arial" panose="020B0604020202020204" pitchFamily="34" charset="0"/>
                <a:buChar char="•"/>
              </a:pPr>
              <a:r>
                <a:rPr lang="it-IT" sz="1100" b="1" u="sng" dirty="0">
                  <a:latin typeface="Arial" panose="020B0604020202020204" pitchFamily="34" charset="0"/>
                  <a:cs typeface="Arial" panose="020B0604020202020204" pitchFamily="34" charset="0"/>
                </a:rPr>
                <a:t>contribuire all'armonizzazione delle prassi </a:t>
              </a:r>
              <a:r>
                <a:rPr lang="it-IT" sz="1100" dirty="0">
                  <a:latin typeface="Arial" panose="020B0604020202020204" pitchFamily="34" charset="0"/>
                  <a:cs typeface="Arial" panose="020B0604020202020204" pitchFamily="34" charset="0"/>
                </a:rPr>
                <a:t>nell'individuazione di operazioni o attività sospette da parte delle unità di informazione finanziaria («FIU»);</a:t>
              </a:r>
            </a:p>
            <a:p>
              <a:pPr marL="171450" indent="-171450" algn="just">
                <a:buFont typeface="Arial" panose="020B0604020202020204" pitchFamily="34" charset="0"/>
                <a:buChar char="•"/>
              </a:pPr>
              <a:r>
                <a:rPr lang="it-IT" sz="1100" b="1" u="sng" dirty="0">
                  <a:latin typeface="Arial" panose="020B0604020202020204" pitchFamily="34" charset="0"/>
                  <a:cs typeface="Arial" panose="020B0604020202020204" pitchFamily="34" charset="0"/>
                </a:rPr>
                <a:t>Sostenere  e coordinare lo scambio di informazioni </a:t>
              </a:r>
              <a:r>
                <a:rPr lang="it-IT" sz="1100" dirty="0">
                  <a:latin typeface="Arial" panose="020B0604020202020204" pitchFamily="34" charset="0"/>
                  <a:cs typeface="Arial" panose="020B0604020202020204" pitchFamily="34" charset="0"/>
                </a:rPr>
                <a:t>tra le FIU e tra le FIU e altre autorità competenti</a:t>
              </a:r>
            </a:p>
          </p:txBody>
        </p:sp>
        <p:cxnSp>
          <p:nvCxnSpPr>
            <p:cNvPr id="9" name="Connettore diritto 8">
              <a:extLst>
                <a:ext uri="{FF2B5EF4-FFF2-40B4-BE49-F238E27FC236}">
                  <a16:creationId xmlns:a16="http://schemas.microsoft.com/office/drawing/2014/main" id="{D439E112-5629-D84E-C0C8-F175B9714F93}"/>
                </a:ext>
              </a:extLst>
            </p:cNvPr>
            <p:cNvCxnSpPr>
              <a:cxnSpLocks/>
            </p:cNvCxnSpPr>
            <p:nvPr/>
          </p:nvCxnSpPr>
          <p:spPr>
            <a:xfrm flipV="1">
              <a:off x="473897" y="2852002"/>
              <a:ext cx="11543931" cy="0"/>
            </a:xfrm>
            <a:prstGeom prst="line">
              <a:avLst/>
            </a:prstGeom>
          </p:spPr>
          <p:style>
            <a:lnRef idx="1">
              <a:schemeClr val="accent6"/>
            </a:lnRef>
            <a:fillRef idx="0">
              <a:schemeClr val="accent6"/>
            </a:fillRef>
            <a:effectRef idx="0">
              <a:schemeClr val="accent6"/>
            </a:effectRef>
            <a:fontRef idx="minor">
              <a:schemeClr val="tx1"/>
            </a:fontRef>
          </p:style>
        </p:cxnSp>
        <p:sp>
          <p:nvSpPr>
            <p:cNvPr id="12" name="CasellaDiTesto 11">
              <a:extLst>
                <a:ext uri="{FF2B5EF4-FFF2-40B4-BE49-F238E27FC236}">
                  <a16:creationId xmlns:a16="http://schemas.microsoft.com/office/drawing/2014/main" id="{7695568E-60F6-C65A-A72D-305453E23DC2}"/>
                </a:ext>
              </a:extLst>
            </p:cNvPr>
            <p:cNvSpPr txBox="1"/>
            <p:nvPr/>
          </p:nvSpPr>
          <p:spPr>
            <a:xfrm>
              <a:off x="2456091" y="2960186"/>
              <a:ext cx="6104164" cy="318179"/>
            </a:xfrm>
            <a:prstGeom prst="rect">
              <a:avLst/>
            </a:prstGeom>
            <a:noFill/>
          </p:spPr>
          <p:txBody>
            <a:bodyPr wrap="square">
              <a:spAutoFit/>
            </a:bodyPr>
            <a:lstStyle/>
            <a:p>
              <a:r>
                <a:rPr lang="it-IT" sz="1200" b="0" i="0" u="none" strike="noStrike" baseline="0" dirty="0">
                  <a:solidFill>
                    <a:srgbClr val="000000"/>
                  </a:solidFill>
                  <a:latin typeface="Arial" panose="020B0604020202020204" pitchFamily="34" charset="0"/>
                  <a:cs typeface="Arial" panose="020B0604020202020204" pitchFamily="34" charset="0"/>
                </a:rPr>
                <a:t>L'Autorità ha sede a Francoforte, Germania.</a:t>
              </a:r>
              <a:endParaRPr lang="it-IT" sz="1200" dirty="0">
                <a:latin typeface="Arial" panose="020B0604020202020204" pitchFamily="34" charset="0"/>
                <a:cs typeface="Arial" panose="020B0604020202020204" pitchFamily="34" charset="0"/>
              </a:endParaRPr>
            </a:p>
          </p:txBody>
        </p:sp>
        <p:sp>
          <p:nvSpPr>
            <p:cNvPr id="13" name="Rettangolo 12">
              <a:extLst>
                <a:ext uri="{FF2B5EF4-FFF2-40B4-BE49-F238E27FC236}">
                  <a16:creationId xmlns:a16="http://schemas.microsoft.com/office/drawing/2014/main" id="{B2DBDFC3-3596-BBFC-33CD-12E1BBE02171}"/>
                </a:ext>
              </a:extLst>
            </p:cNvPr>
            <p:cNvSpPr/>
            <p:nvPr/>
          </p:nvSpPr>
          <p:spPr>
            <a:xfrm>
              <a:off x="473896" y="2948731"/>
              <a:ext cx="1931845" cy="4257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SEDE</a:t>
              </a:r>
              <a:endParaRPr lang="it-IT" dirty="0">
                <a:latin typeface="Arial" panose="020B0604020202020204" pitchFamily="34" charset="0"/>
                <a:cs typeface="Arial" panose="020B0604020202020204" pitchFamily="34" charset="0"/>
              </a:endParaRPr>
            </a:p>
          </p:txBody>
        </p:sp>
        <p:sp>
          <p:nvSpPr>
            <p:cNvPr id="16" name="Rettangolo 15">
              <a:extLst>
                <a:ext uri="{FF2B5EF4-FFF2-40B4-BE49-F238E27FC236}">
                  <a16:creationId xmlns:a16="http://schemas.microsoft.com/office/drawing/2014/main" id="{07EB89BA-573C-1D2C-8497-6C6B412B1050}"/>
                </a:ext>
              </a:extLst>
            </p:cNvPr>
            <p:cNvSpPr/>
            <p:nvPr/>
          </p:nvSpPr>
          <p:spPr>
            <a:xfrm>
              <a:off x="473898" y="3557251"/>
              <a:ext cx="1931845" cy="11007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STRUTTURA AMMINISTRATIVA E DI GESTIONE</a:t>
              </a:r>
            </a:p>
          </p:txBody>
        </p:sp>
        <p:sp>
          <p:nvSpPr>
            <p:cNvPr id="18" name="CasellaDiTesto 17">
              <a:extLst>
                <a:ext uri="{FF2B5EF4-FFF2-40B4-BE49-F238E27FC236}">
                  <a16:creationId xmlns:a16="http://schemas.microsoft.com/office/drawing/2014/main" id="{C0226146-8B5B-885F-82CC-9C5188EFA60E}"/>
                </a:ext>
              </a:extLst>
            </p:cNvPr>
            <p:cNvSpPr txBox="1"/>
            <p:nvPr/>
          </p:nvSpPr>
          <p:spPr>
            <a:xfrm>
              <a:off x="2528205" y="3513020"/>
              <a:ext cx="9459687" cy="1166658"/>
            </a:xfrm>
            <a:prstGeom prst="rect">
              <a:avLst/>
            </a:prstGeom>
            <a:noFill/>
          </p:spPr>
          <p:txBody>
            <a:bodyPr wrap="square">
              <a:spAutoFit/>
            </a:bodyPr>
            <a:lstStyle/>
            <a:p>
              <a:r>
                <a:rPr lang="it-IT" sz="1200" b="0" i="0" u="none" strike="noStrike" baseline="0" dirty="0">
                  <a:solidFill>
                    <a:srgbClr val="000000"/>
                  </a:solidFill>
                  <a:latin typeface="Arial" panose="020B0604020202020204" pitchFamily="34" charset="0"/>
                  <a:cs typeface="Arial" panose="020B0604020202020204" pitchFamily="34" charset="0"/>
                </a:rPr>
                <a:t>La struttura dell'Autorità prevede:</a:t>
              </a:r>
            </a:p>
            <a:p>
              <a:endParaRPr lang="it-IT" sz="1200" b="0" i="0" u="none" strike="noStrike" baseline="0" dirty="0">
                <a:solidFill>
                  <a:srgbClr val="000000"/>
                </a:solidFill>
                <a:latin typeface="Arial" panose="020B0604020202020204" pitchFamily="34" charset="0"/>
                <a:cs typeface="Arial" panose="020B0604020202020204" pitchFamily="34" charset="0"/>
              </a:endParaRPr>
            </a:p>
            <a:p>
              <a:pPr marL="228600" indent="-228600">
                <a:buAutoNum type="arabicParenR"/>
              </a:pPr>
              <a:r>
                <a:rPr lang="it-IT" sz="1200" b="0" i="0" u="none" strike="noStrike" baseline="0" dirty="0">
                  <a:solidFill>
                    <a:srgbClr val="000000"/>
                  </a:solidFill>
                  <a:latin typeface="Arial" panose="020B0604020202020204" pitchFamily="34" charset="0"/>
                  <a:cs typeface="Arial" panose="020B0604020202020204" pitchFamily="34" charset="0"/>
                </a:rPr>
                <a:t>un Comitato Esecutivo con potere decisionale operativo;</a:t>
              </a:r>
            </a:p>
            <a:p>
              <a:pPr marL="228600" indent="-228600">
                <a:buAutoNum type="arabicParenR"/>
              </a:pPr>
              <a:r>
                <a:rPr lang="it-IT" sz="1200" b="0" i="0" u="none" strike="noStrike" baseline="0" dirty="0">
                  <a:solidFill>
                    <a:srgbClr val="000000"/>
                  </a:solidFill>
                  <a:latin typeface="Arial" panose="020B0604020202020204" pitchFamily="34" charset="0"/>
                  <a:cs typeface="Arial" panose="020B0604020202020204" pitchFamily="34" charset="0"/>
                </a:rPr>
                <a:t>un Consiglio Generale con rappresentanti delle FIU e delle autorità AML nazionali;</a:t>
              </a:r>
            </a:p>
            <a:p>
              <a:pPr marL="228600" indent="-228600">
                <a:buAutoNum type="arabicParenR"/>
              </a:pPr>
              <a:r>
                <a:rPr lang="it-IT" sz="1200" b="0" i="0" u="none" strike="noStrike" baseline="0" dirty="0">
                  <a:solidFill>
                    <a:srgbClr val="000000"/>
                  </a:solidFill>
                  <a:latin typeface="Arial" panose="020B0604020202020204" pitchFamily="34" charset="0"/>
                  <a:cs typeface="Arial" panose="020B0604020202020204" pitchFamily="34" charset="0"/>
                </a:rPr>
                <a:t>un Presidente e un Direttore Esecutivo per la gestione strategica e quotidiana.</a:t>
              </a:r>
            </a:p>
          </p:txBody>
        </p:sp>
        <p:cxnSp>
          <p:nvCxnSpPr>
            <p:cNvPr id="20" name="Connettore diritto 19">
              <a:extLst>
                <a:ext uri="{FF2B5EF4-FFF2-40B4-BE49-F238E27FC236}">
                  <a16:creationId xmlns:a16="http://schemas.microsoft.com/office/drawing/2014/main" id="{7CEB4050-741D-92FB-9F4C-EE1C66514E7B}"/>
                </a:ext>
              </a:extLst>
            </p:cNvPr>
            <p:cNvCxnSpPr>
              <a:cxnSpLocks/>
            </p:cNvCxnSpPr>
            <p:nvPr/>
          </p:nvCxnSpPr>
          <p:spPr>
            <a:xfrm flipV="1">
              <a:off x="473896" y="4743049"/>
              <a:ext cx="11543931" cy="0"/>
            </a:xfrm>
            <a:prstGeom prst="line">
              <a:avLst/>
            </a:prstGeom>
          </p:spPr>
          <p:style>
            <a:lnRef idx="1">
              <a:schemeClr val="accent6"/>
            </a:lnRef>
            <a:fillRef idx="0">
              <a:schemeClr val="accent6"/>
            </a:fillRef>
            <a:effectRef idx="0">
              <a:schemeClr val="accent6"/>
            </a:effectRef>
            <a:fontRef idx="minor">
              <a:schemeClr val="tx1"/>
            </a:fontRef>
          </p:style>
        </p:cxnSp>
        <p:sp>
          <p:nvSpPr>
            <p:cNvPr id="23" name="Rettangolo 22">
              <a:extLst>
                <a:ext uri="{FF2B5EF4-FFF2-40B4-BE49-F238E27FC236}">
                  <a16:creationId xmlns:a16="http://schemas.microsoft.com/office/drawing/2014/main" id="{DCE599E6-B665-7925-7199-886F977D1B95}"/>
                </a:ext>
              </a:extLst>
            </p:cNvPr>
            <p:cNvSpPr/>
            <p:nvPr/>
          </p:nvSpPr>
          <p:spPr>
            <a:xfrm>
              <a:off x="473896" y="4925860"/>
              <a:ext cx="1931845" cy="17765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COMPITI PRINCIPALI</a:t>
              </a:r>
            </a:p>
          </p:txBody>
        </p:sp>
        <p:sp>
          <p:nvSpPr>
            <p:cNvPr id="25" name="CasellaDiTesto 24">
              <a:extLst>
                <a:ext uri="{FF2B5EF4-FFF2-40B4-BE49-F238E27FC236}">
                  <a16:creationId xmlns:a16="http://schemas.microsoft.com/office/drawing/2014/main" id="{3159CADC-ADCD-7E83-6751-2F6211915423}"/>
                </a:ext>
              </a:extLst>
            </p:cNvPr>
            <p:cNvSpPr txBox="1"/>
            <p:nvPr/>
          </p:nvSpPr>
          <p:spPr>
            <a:xfrm>
              <a:off x="4838683" y="4734390"/>
              <a:ext cx="7149208" cy="1078275"/>
            </a:xfrm>
            <a:prstGeom prst="rect">
              <a:avLst/>
            </a:prstGeom>
            <a:noFill/>
          </p:spPr>
          <p:txBody>
            <a:bodyPr wrap="square">
              <a:spAutoFit/>
            </a:bodyPr>
            <a:lstStyle/>
            <a:p>
              <a:pPr marL="285750" indent="-285750" algn="just">
                <a:buFont typeface="Arial" panose="020B0604020202020204" pitchFamily="34" charset="0"/>
                <a:buChar char="•"/>
              </a:pPr>
              <a:r>
                <a:rPr lang="it-IT" sz="1100" dirty="0">
                  <a:latin typeface="Arial" panose="020B0604020202020204" pitchFamily="34" charset="0"/>
                  <a:cs typeface="Arial" panose="020B0604020202020204" pitchFamily="34" charset="0"/>
                </a:rPr>
                <a:t>Nel settore finanziario, supervisionerà direttamente una serie di soggetti selezionati (40) del settore finanziario che sono esposti all'elevato rischio di riciclaggio di denaro e di finanziamento del terrorismo e operano su base transfrontaliera in almeno sei Stati membri. L’elenco verrà revisionato ogni 3 anni;</a:t>
              </a:r>
            </a:p>
            <a:p>
              <a:pPr marL="285750" indent="-285750" algn="just">
                <a:buFont typeface="Arial" panose="020B0604020202020204" pitchFamily="34" charset="0"/>
                <a:buChar char="•"/>
              </a:pPr>
              <a:r>
                <a:rPr lang="it-IT" sz="1100" dirty="0">
                  <a:latin typeface="Arial" panose="020B0604020202020204" pitchFamily="34" charset="0"/>
                  <a:cs typeface="Arial" panose="020B0604020202020204" pitchFamily="34" charset="0"/>
                </a:rPr>
                <a:t> Sarà inoltre in grado di assumere la supervisione di qualsiasi soggetto obbligato su richiesta del supervisore nazionale o di propria iniziativa, qualora vi sia un interesse dell'Unione a farlo. </a:t>
              </a:r>
            </a:p>
          </p:txBody>
        </p:sp>
        <p:sp>
          <p:nvSpPr>
            <p:cNvPr id="27" name="CasellaDiTesto 26">
              <a:extLst>
                <a:ext uri="{FF2B5EF4-FFF2-40B4-BE49-F238E27FC236}">
                  <a16:creationId xmlns:a16="http://schemas.microsoft.com/office/drawing/2014/main" id="{2D14EC76-C6C0-B548-AF90-629990BED159}"/>
                </a:ext>
              </a:extLst>
            </p:cNvPr>
            <p:cNvSpPr txBox="1"/>
            <p:nvPr/>
          </p:nvSpPr>
          <p:spPr>
            <a:xfrm>
              <a:off x="5160048" y="5960028"/>
              <a:ext cx="6800413" cy="689388"/>
            </a:xfrm>
            <a:prstGeom prst="rect">
              <a:avLst/>
            </a:prstGeom>
            <a:noFill/>
          </p:spPr>
          <p:txBody>
            <a:bodyPr wrap="square">
              <a:spAutoFit/>
            </a:bodyPr>
            <a:lstStyle/>
            <a:p>
              <a:pPr algn="just"/>
              <a:r>
                <a:rPr kumimoji="0" lang="it-IT"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Al fine di istituire prassi di supervisione e relative alle FIU uniformi, efficienti ed efficaci, e per assicurare l'applicazione comune, uniforme e coerente del diritto dell'Unione, l'Autorità emana orientamenti e raccomandazioni rivolti alle autorità di supervisione, ai supervisori, alle FIU o ai soggetti obbligati</a:t>
              </a:r>
              <a:endParaRPr lang="it-IT" sz="1100" dirty="0">
                <a:latin typeface="Arial" panose="020B0604020202020204" pitchFamily="34" charset="0"/>
                <a:cs typeface="Arial" panose="020B0604020202020204" pitchFamily="34" charset="0"/>
              </a:endParaRPr>
            </a:p>
          </p:txBody>
        </p:sp>
        <p:sp>
          <p:nvSpPr>
            <p:cNvPr id="29" name="Rettangolo 28">
              <a:extLst>
                <a:ext uri="{FF2B5EF4-FFF2-40B4-BE49-F238E27FC236}">
                  <a16:creationId xmlns:a16="http://schemas.microsoft.com/office/drawing/2014/main" id="{D378CEE9-56DE-8BB8-129B-190D6F1CE2D2}"/>
                </a:ext>
              </a:extLst>
            </p:cNvPr>
            <p:cNvSpPr/>
            <p:nvPr/>
          </p:nvSpPr>
          <p:spPr>
            <a:xfrm>
              <a:off x="2604060" y="4925860"/>
              <a:ext cx="2271028" cy="690333"/>
            </a:xfrm>
            <a:prstGeom prst="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latin typeface="Arial" panose="020B0604020202020204" pitchFamily="34" charset="0"/>
                  <a:cs typeface="Arial" panose="020B0604020202020204" pitchFamily="34" charset="0"/>
                </a:rPr>
                <a:t>SUPERVISIONE DEI SOGGETTI OBBLIGATI</a:t>
              </a:r>
            </a:p>
          </p:txBody>
        </p:sp>
        <p:sp>
          <p:nvSpPr>
            <p:cNvPr id="30" name="Rettangolo 29">
              <a:extLst>
                <a:ext uri="{FF2B5EF4-FFF2-40B4-BE49-F238E27FC236}">
                  <a16:creationId xmlns:a16="http://schemas.microsoft.com/office/drawing/2014/main" id="{F0D2FBCC-548D-6B38-1BFF-7CA86665D610}"/>
                </a:ext>
              </a:extLst>
            </p:cNvPr>
            <p:cNvSpPr/>
            <p:nvPr/>
          </p:nvSpPr>
          <p:spPr>
            <a:xfrm>
              <a:off x="2604060" y="5915048"/>
              <a:ext cx="2271028" cy="787398"/>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400" dirty="0">
                  <a:solidFill>
                    <a:schemeClr val="tx1"/>
                  </a:solidFill>
                  <a:latin typeface="Arial" panose="020B0604020202020204" pitchFamily="34" charset="0"/>
                  <a:cs typeface="Arial" panose="020B0604020202020204" pitchFamily="34" charset="0"/>
                </a:rPr>
                <a:t>EMANAZIONE DI ORIENTAMENTI E RACCOMANDAZIONI</a:t>
              </a:r>
            </a:p>
          </p:txBody>
        </p:sp>
      </p:grpSp>
      <p:sp>
        <p:nvSpPr>
          <p:cNvPr id="33" name="CasellaDiTesto 32">
            <a:extLst>
              <a:ext uri="{FF2B5EF4-FFF2-40B4-BE49-F238E27FC236}">
                <a16:creationId xmlns:a16="http://schemas.microsoft.com/office/drawing/2014/main" id="{4E165DBF-B9D7-3A93-7395-029A74597431}"/>
              </a:ext>
            </a:extLst>
          </p:cNvPr>
          <p:cNvSpPr txBox="1"/>
          <p:nvPr/>
        </p:nvSpPr>
        <p:spPr>
          <a:xfrm>
            <a:off x="223220" y="763022"/>
            <a:ext cx="11859904" cy="775084"/>
          </a:xfrm>
          <a:prstGeom prst="rect">
            <a:avLst/>
          </a:prstGeom>
          <a:noFill/>
        </p:spPr>
        <p:txBody>
          <a:bodyPr wrap="square">
            <a:spAutoFit/>
          </a:bodyPr>
          <a:lstStyle/>
          <a:p>
            <a:pPr algn="just">
              <a:lnSpc>
                <a:spcPct val="130000"/>
              </a:lnSpc>
              <a:spcAft>
                <a:spcPts val="1200"/>
              </a:spcAft>
            </a:pPr>
            <a:r>
              <a:rPr lang="it-IT" dirty="0">
                <a:latin typeface="Arial" panose="020B0604020202020204" pitchFamily="34" charset="0"/>
                <a:cs typeface="Arial" panose="020B0604020202020204" pitchFamily="34" charset="0"/>
              </a:rPr>
              <a:t>4. AMLA: MISSION, COMPITI E PRINCIPALI PROVVEDIMENTI CHE TALE ENTE SARA’ CHIAMATO AD EMANARE (1/3)</a:t>
            </a:r>
          </a:p>
        </p:txBody>
      </p:sp>
      <p:cxnSp>
        <p:nvCxnSpPr>
          <p:cNvPr id="36" name="Connettore diritto 35">
            <a:extLst>
              <a:ext uri="{FF2B5EF4-FFF2-40B4-BE49-F238E27FC236}">
                <a16:creationId xmlns:a16="http://schemas.microsoft.com/office/drawing/2014/main" id="{F03A5B8E-C16B-087E-1644-CEE14D85A68D}"/>
              </a:ext>
            </a:extLst>
          </p:cNvPr>
          <p:cNvCxnSpPr>
            <a:cxnSpLocks/>
          </p:cNvCxnSpPr>
          <p:nvPr/>
        </p:nvCxnSpPr>
        <p:spPr>
          <a:xfrm>
            <a:off x="2358419" y="6013364"/>
            <a:ext cx="962208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9" name="Connettore diritto 38">
            <a:extLst>
              <a:ext uri="{FF2B5EF4-FFF2-40B4-BE49-F238E27FC236}">
                <a16:creationId xmlns:a16="http://schemas.microsoft.com/office/drawing/2014/main" id="{09E9FA24-3CBB-8348-7A30-5D1F28417AF0}"/>
              </a:ext>
            </a:extLst>
          </p:cNvPr>
          <p:cNvCxnSpPr>
            <a:cxnSpLocks/>
          </p:cNvCxnSpPr>
          <p:nvPr/>
        </p:nvCxnSpPr>
        <p:spPr>
          <a:xfrm flipV="1">
            <a:off x="223220" y="1883741"/>
            <a:ext cx="11787975"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3860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B4ACE55D-EE9A-A681-6111-11EAF6A047F0}"/>
              </a:ext>
            </a:extLst>
          </p:cNvPr>
          <p:cNvSpPr txBox="1"/>
          <p:nvPr/>
        </p:nvSpPr>
        <p:spPr>
          <a:xfrm>
            <a:off x="246969" y="1182538"/>
            <a:ext cx="11698062" cy="307777"/>
          </a:xfrm>
          <a:prstGeom prst="rect">
            <a:avLst/>
          </a:prstGeom>
          <a:noFill/>
        </p:spPr>
        <p:txBody>
          <a:bodyPr wrap="square">
            <a:spAutoFit/>
          </a:bodyPr>
          <a:lstStyle/>
          <a:p>
            <a:pPr algn="just"/>
            <a:r>
              <a:rPr lang="it-IT" sz="1400" b="0" i="0" u="none" strike="noStrike" baseline="0" dirty="0">
                <a:solidFill>
                  <a:srgbClr val="000000"/>
                </a:solidFill>
                <a:latin typeface="Arial" panose="020B0604020202020204" pitchFamily="34" charset="0"/>
                <a:cs typeface="Arial" panose="020B0604020202020204" pitchFamily="34" charset="0"/>
              </a:rPr>
              <a:t>Qui di seguito i </a:t>
            </a:r>
            <a:r>
              <a:rPr lang="it-IT" sz="1400" b="1" i="0" u="none" strike="noStrike" baseline="0" dirty="0">
                <a:solidFill>
                  <a:srgbClr val="000000"/>
                </a:solidFill>
                <a:latin typeface="Arial" panose="020B0604020202020204" pitchFamily="34" charset="0"/>
                <a:cs typeface="Arial" panose="020B0604020202020204" pitchFamily="34" charset="0"/>
              </a:rPr>
              <a:t>principali provvedimenti </a:t>
            </a:r>
            <a:r>
              <a:rPr lang="it-IT" sz="1400" b="0" i="0" u="none" strike="noStrike" baseline="0" dirty="0">
                <a:solidFill>
                  <a:srgbClr val="000000"/>
                </a:solidFill>
                <a:latin typeface="Arial" panose="020B0604020202020204" pitchFamily="34" charset="0"/>
                <a:cs typeface="Arial" panose="020B0604020202020204" pitchFamily="34" charset="0"/>
              </a:rPr>
              <a:t>che l’AMLA sarà chiamata ad emanare </a:t>
            </a:r>
            <a:r>
              <a:rPr lang="it-IT" sz="1400" dirty="0">
                <a:solidFill>
                  <a:srgbClr val="000000"/>
                </a:solidFill>
                <a:latin typeface="Arial" panose="020B0604020202020204" pitchFamily="34" charset="0"/>
                <a:cs typeface="Arial" panose="020B0604020202020204" pitchFamily="34" charset="0"/>
              </a:rPr>
              <a:t>nei prossimi 2 anni:</a:t>
            </a:r>
            <a:endParaRPr lang="it-IT" sz="1400" b="0" i="0" u="none" strike="noStrike" baseline="0" dirty="0">
              <a:solidFill>
                <a:srgbClr val="000000"/>
              </a:solidFill>
              <a:latin typeface="Arial" panose="020B0604020202020204" pitchFamily="34" charset="0"/>
              <a:cs typeface="Arial" panose="020B0604020202020204" pitchFamily="34" charset="0"/>
            </a:endParaRPr>
          </a:p>
        </p:txBody>
      </p:sp>
      <p:sp>
        <p:nvSpPr>
          <p:cNvPr id="12" name="CasellaDiTesto 11">
            <a:extLst>
              <a:ext uri="{FF2B5EF4-FFF2-40B4-BE49-F238E27FC236}">
                <a16:creationId xmlns:a16="http://schemas.microsoft.com/office/drawing/2014/main" id="{C6328194-6FD7-5F7F-F687-89953F30E76B}"/>
              </a:ext>
            </a:extLst>
          </p:cNvPr>
          <p:cNvSpPr txBox="1"/>
          <p:nvPr/>
        </p:nvSpPr>
        <p:spPr>
          <a:xfrm>
            <a:off x="3042555" y="1605907"/>
            <a:ext cx="8818791" cy="3077766"/>
          </a:xfrm>
          <a:prstGeom prst="rect">
            <a:avLst/>
          </a:prstGeom>
          <a:solidFill>
            <a:schemeClr val="accent5">
              <a:lumMod val="20000"/>
              <a:lumOff val="80000"/>
            </a:schemeClr>
          </a:solidFill>
          <a:ln>
            <a:solidFill>
              <a:schemeClr val="tx1"/>
            </a:solidFill>
          </a:ln>
        </p:spPr>
        <p:txBody>
          <a:bodyPr wrap="square">
            <a:spAutoFit/>
          </a:bodyPr>
          <a:lstStyle/>
          <a:p>
            <a:pPr marL="171450" indent="-171450" algn="just">
              <a:buFont typeface="Wingdings" panose="05000000000000000000" pitchFamily="2" charset="2"/>
              <a:buChar char="Ø"/>
            </a:pPr>
            <a:r>
              <a:rPr lang="it-IT" sz="1000" b="0" i="0" u="none" strike="noStrike" baseline="0" dirty="0">
                <a:solidFill>
                  <a:srgbClr val="000000"/>
                </a:solidFill>
                <a:latin typeface="Arial" panose="020B0604020202020204" pitchFamily="34" charset="0"/>
                <a:cs typeface="Arial" panose="020B0604020202020204" pitchFamily="34" charset="0"/>
              </a:rPr>
              <a:t>Orientamenti su elementi di cui i soggetti obbligati devono </a:t>
            </a:r>
            <a:r>
              <a:rPr lang="it-IT" sz="1000" dirty="0">
                <a:solidFill>
                  <a:srgbClr val="000000"/>
                </a:solidFill>
                <a:latin typeface="Arial" panose="020B0604020202020204" pitchFamily="34" charset="0"/>
                <a:cs typeface="Arial" panose="020B0604020202020204" pitchFamily="34" charset="0"/>
              </a:rPr>
              <a:t>tenere </a:t>
            </a:r>
            <a:r>
              <a:rPr lang="it-IT" sz="1000" b="0" i="0" u="none" strike="noStrike" baseline="0" dirty="0">
                <a:solidFill>
                  <a:srgbClr val="000000"/>
                </a:solidFill>
                <a:latin typeface="Arial" panose="020B0604020202020204" pitchFamily="34" charset="0"/>
                <a:cs typeface="Arial" panose="020B0604020202020204" pitchFamily="34" charset="0"/>
              </a:rPr>
              <a:t>conto, nel decidere la portata delle </a:t>
            </a:r>
            <a:r>
              <a:rPr lang="it-IT" sz="1000" b="1" i="0" u="none" strike="noStrike" baseline="0" dirty="0">
                <a:solidFill>
                  <a:srgbClr val="000000"/>
                </a:solidFill>
                <a:latin typeface="Arial" panose="020B0604020202020204" pitchFamily="34" charset="0"/>
                <a:cs typeface="Arial" panose="020B0604020202020204" pitchFamily="34" charset="0"/>
              </a:rPr>
              <a:t>politiche, delle procedure e dei controlli interni</a:t>
            </a:r>
            <a:r>
              <a:rPr lang="it-IT" sz="1000" b="0" i="0" u="none" strike="noStrike" baseline="0" dirty="0">
                <a:solidFill>
                  <a:srgbClr val="000000"/>
                </a:solidFill>
                <a:latin typeface="Arial" panose="020B0604020202020204" pitchFamily="34" charset="0"/>
                <a:cs typeface="Arial" panose="020B0604020202020204" pitchFamily="34" charset="0"/>
              </a:rPr>
              <a:t>, in particolare per quanto riguarda il personale assegnato a </a:t>
            </a:r>
            <a:r>
              <a:rPr lang="it-IT" sz="1000" b="1" i="0" u="none" strike="noStrike" baseline="0" dirty="0">
                <a:solidFill>
                  <a:srgbClr val="000000"/>
                </a:solidFill>
                <a:latin typeface="Arial" panose="020B0604020202020204" pitchFamily="34" charset="0"/>
                <a:cs typeface="Arial" panose="020B0604020202020204" pitchFamily="34" charset="0"/>
              </a:rPr>
              <a:t>funzione </a:t>
            </a:r>
            <a:r>
              <a:rPr lang="it-IT" sz="1000" b="1" dirty="0">
                <a:solidFill>
                  <a:srgbClr val="000000"/>
                </a:solidFill>
                <a:latin typeface="Arial" panose="020B0604020202020204" pitchFamily="34" charset="0"/>
                <a:cs typeface="Arial" panose="020B0604020202020204" pitchFamily="34" charset="0"/>
              </a:rPr>
              <a:t>di controllo della conformità</a:t>
            </a:r>
            <a:r>
              <a:rPr lang="it-IT" sz="1000" dirty="0">
                <a:solidFill>
                  <a:srgbClr val="000000"/>
                </a:solidFill>
                <a:latin typeface="Arial" panose="020B0604020202020204" pitchFamily="34" charset="0"/>
                <a:cs typeface="Arial" panose="020B0604020202020204" pitchFamily="34" charset="0"/>
              </a:rPr>
              <a:t>; </a:t>
            </a:r>
          </a:p>
          <a:p>
            <a:pPr marL="171450" indent="-171450" algn="just">
              <a:buFont typeface="Wingdings" panose="05000000000000000000" pitchFamily="2" charset="2"/>
              <a:buChar char="Ø"/>
            </a:pPr>
            <a:r>
              <a:rPr lang="it-IT" sz="1000" dirty="0">
                <a:solidFill>
                  <a:srgbClr val="000000"/>
                </a:solidFill>
                <a:latin typeface="Arial" panose="020B0604020202020204" pitchFamily="34" charset="0"/>
                <a:cs typeface="Arial" panose="020B0604020202020204" pitchFamily="34" charset="0"/>
              </a:rPr>
              <a:t>Orientamenti su requisiti minimi per i contenuti della </a:t>
            </a:r>
            <a:r>
              <a:rPr lang="it-IT" sz="1000" b="1" dirty="0">
                <a:solidFill>
                  <a:srgbClr val="000000"/>
                </a:solidFill>
                <a:latin typeface="Arial" panose="020B0604020202020204" pitchFamily="34" charset="0"/>
                <a:cs typeface="Arial" panose="020B0604020202020204" pitchFamily="34" charset="0"/>
              </a:rPr>
              <a:t>valutazione del rischio per l'intera attività elaborata dal soggetto obbligato </a:t>
            </a:r>
            <a:r>
              <a:rPr lang="it-IT" sz="1000" dirty="0">
                <a:solidFill>
                  <a:srgbClr val="000000"/>
                </a:solidFill>
                <a:latin typeface="Arial" panose="020B0604020202020204" pitchFamily="34" charset="0"/>
                <a:cs typeface="Arial" panose="020B0604020202020204" pitchFamily="34" charset="0"/>
              </a:rPr>
              <a:t>e sulle fonti di informazioni supplementari da tenere in considerazione nello svolgimento della valutazione del rischio per l'intera attività;</a:t>
            </a:r>
          </a:p>
          <a:p>
            <a:pPr marL="171450" indent="-171450" algn="just">
              <a:buFont typeface="Wingdings" panose="05000000000000000000" pitchFamily="2" charset="2"/>
              <a:buChar char="Ø"/>
            </a:pPr>
            <a:r>
              <a:rPr lang="it-IT" sz="1000" b="0" i="0" u="none" strike="noStrike" baseline="0" dirty="0">
                <a:solidFill>
                  <a:srgbClr val="000000"/>
                </a:solidFill>
                <a:latin typeface="Arial" panose="020B0604020202020204" pitchFamily="34" charset="0"/>
                <a:cs typeface="Arial" panose="020B0604020202020204" pitchFamily="34" charset="0"/>
              </a:rPr>
              <a:t>progetti di norme tecniche di regolamentazione su obblighi e i requisiti minimi delle </a:t>
            </a:r>
            <a:r>
              <a:rPr lang="it-IT" sz="1000" b="1" i="0" u="none" strike="noStrike" baseline="0" dirty="0">
                <a:solidFill>
                  <a:srgbClr val="000000"/>
                </a:solidFill>
                <a:latin typeface="Arial" panose="020B0604020202020204" pitchFamily="34" charset="0"/>
                <a:cs typeface="Arial" panose="020B0604020202020204" pitchFamily="34" charset="0"/>
              </a:rPr>
              <a:t>politiche, procedure e controlli a livello di gruppo</a:t>
            </a:r>
            <a:r>
              <a:rPr lang="it-IT" sz="1000" b="0" i="0" u="none" strike="noStrike" baseline="0" dirty="0">
                <a:solidFill>
                  <a:srgbClr val="000000"/>
                </a:solidFill>
                <a:latin typeface="Arial" panose="020B0604020202020204" pitchFamily="34" charset="0"/>
                <a:cs typeface="Arial" panose="020B0604020202020204" pitchFamily="34" charset="0"/>
              </a:rPr>
              <a:t>, incluse le norme minime per la condivisione delle informazioni all'interno del gruppo;</a:t>
            </a:r>
          </a:p>
          <a:p>
            <a:pPr marL="171450" indent="-171450" algn="just">
              <a:buFont typeface="Wingdings" panose="05000000000000000000" pitchFamily="2" charset="2"/>
              <a:buChar char="Ø"/>
            </a:pPr>
            <a:r>
              <a:rPr lang="it-IT" sz="1000" b="0" i="0" u="none" strike="noStrike" baseline="0" dirty="0">
                <a:solidFill>
                  <a:srgbClr val="000000"/>
                </a:solidFill>
                <a:latin typeface="Arial" panose="020B0604020202020204" pitchFamily="34" charset="0"/>
                <a:cs typeface="Arial" panose="020B0604020202020204" pitchFamily="34" charset="0"/>
              </a:rPr>
              <a:t>progetti di norme tecniche di regolamentazione sul tipo di misure </a:t>
            </a:r>
            <a:r>
              <a:rPr lang="it-IT" sz="1000" dirty="0">
                <a:solidFill>
                  <a:srgbClr val="000000"/>
                </a:solidFill>
                <a:latin typeface="Arial" panose="020B0604020202020204" pitchFamily="34" charset="0"/>
                <a:cs typeface="Arial" panose="020B0604020202020204" pitchFamily="34" charset="0"/>
              </a:rPr>
              <a:t>supplementari che l'impresa madre è tenuta a far rispettare a succursali o filiazioni </a:t>
            </a:r>
            <a:r>
              <a:rPr lang="it-IT" sz="1000" b="0" i="0" u="none" strike="noStrike" baseline="0" dirty="0">
                <a:solidFill>
                  <a:srgbClr val="000000"/>
                </a:solidFill>
                <a:latin typeface="Arial" panose="020B0604020202020204" pitchFamily="34" charset="0"/>
                <a:cs typeface="Arial" panose="020B0604020202020204" pitchFamily="34" charset="0"/>
              </a:rPr>
              <a:t>in paesi terzi in cui gli obblighi minimi in materia di AML/CFT sono meno rigorosi di quelli stabiliti dal presente regolamento;</a:t>
            </a:r>
          </a:p>
          <a:p>
            <a:pPr marL="171450" indent="-171450" algn="just">
              <a:buFont typeface="Wingdings" panose="05000000000000000000" pitchFamily="2" charset="2"/>
              <a:buChar char="Ø"/>
            </a:pPr>
            <a:r>
              <a:rPr lang="it-IT" sz="1000" b="0" i="0" u="none" strike="noStrike" baseline="0" dirty="0">
                <a:solidFill>
                  <a:srgbClr val="000000"/>
                </a:solidFill>
                <a:latin typeface="Arial" panose="020B0604020202020204" pitchFamily="34" charset="0"/>
                <a:cs typeface="Arial" panose="020B0604020202020204" pitchFamily="34" charset="0"/>
              </a:rPr>
              <a:t>progetti di norme tecniche di regolamentazione su:</a:t>
            </a:r>
          </a:p>
          <a:p>
            <a:pPr marL="685800" lvl="1" indent="-228600" algn="just">
              <a:buFont typeface="+mj-lt"/>
              <a:buAutoNum type="alphaLcParenR"/>
            </a:pPr>
            <a:r>
              <a:rPr lang="it-IT" sz="1000" b="0" i="0" u="none" strike="noStrike" baseline="0" dirty="0">
                <a:solidFill>
                  <a:srgbClr val="000000"/>
                </a:solidFill>
                <a:latin typeface="Arial" panose="020B0604020202020204" pitchFamily="34" charset="0"/>
                <a:cs typeface="Arial" panose="020B0604020202020204" pitchFamily="34" charset="0"/>
              </a:rPr>
              <a:t>i soggetti obbligati, i settori o le operazioni associati a un rischio più elevato di riciclaggio e di finanziamento del terrorismo e a cui si applica un valore inferiore al valore fissato al paragrafo 1, lettera b) (</a:t>
            </a:r>
            <a:r>
              <a:rPr lang="it-IT" sz="1000" b="1" i="1" u="none" strike="noStrike" baseline="0" dirty="0">
                <a:solidFill>
                  <a:srgbClr val="000000"/>
                </a:solidFill>
                <a:latin typeface="Arial" panose="020B0604020202020204" pitchFamily="34" charset="0"/>
                <a:cs typeface="Arial" panose="020B0604020202020204" pitchFamily="34" charset="0"/>
              </a:rPr>
              <a:t>10.000 euro</a:t>
            </a:r>
            <a:r>
              <a:rPr lang="it-IT" sz="1000" b="0" i="0" u="none" strike="noStrike" baseline="0" dirty="0">
                <a:solidFill>
                  <a:srgbClr val="000000"/>
                </a:solidFill>
                <a:latin typeface="Arial" panose="020B0604020202020204" pitchFamily="34" charset="0"/>
                <a:cs typeface="Arial" panose="020B0604020202020204" pitchFamily="34" charset="0"/>
              </a:rPr>
              <a:t>);</a:t>
            </a:r>
          </a:p>
          <a:p>
            <a:pPr marL="685800" lvl="1" indent="-228600" algn="just">
              <a:buFont typeface="+mj-lt"/>
              <a:buAutoNum type="alphaLcParenR"/>
            </a:pPr>
            <a:r>
              <a:rPr lang="it-IT" sz="1000" b="0" i="0" u="none" strike="noStrike" baseline="0" dirty="0">
                <a:solidFill>
                  <a:srgbClr val="000000"/>
                </a:solidFill>
                <a:latin typeface="Arial" panose="020B0604020202020204" pitchFamily="34" charset="0"/>
                <a:cs typeface="Arial" panose="020B0604020202020204" pitchFamily="34" charset="0"/>
              </a:rPr>
              <a:t> valori corrispondenti relative alle operazioni occasionali;</a:t>
            </a:r>
          </a:p>
          <a:p>
            <a:pPr marL="685800" lvl="1" indent="-228600" algn="just">
              <a:buFont typeface="+mj-lt"/>
              <a:buAutoNum type="alphaLcParenR"/>
            </a:pPr>
            <a:r>
              <a:rPr lang="it-IT" sz="1000" b="0" i="0" u="none" strike="noStrike" baseline="0" dirty="0">
                <a:solidFill>
                  <a:srgbClr val="000000"/>
                </a:solidFill>
                <a:latin typeface="Arial" panose="020B0604020202020204" pitchFamily="34" charset="0"/>
                <a:cs typeface="Arial" panose="020B0604020202020204" pitchFamily="34" charset="0"/>
              </a:rPr>
              <a:t>i criteri da prendere in considerazione per individuare le operazioni occasionali e i rapporti d'affari;</a:t>
            </a:r>
          </a:p>
          <a:p>
            <a:pPr marL="685800" lvl="1" indent="-228600" algn="just">
              <a:buFont typeface="+mj-lt"/>
              <a:buAutoNum type="alphaLcParenR"/>
            </a:pPr>
            <a:r>
              <a:rPr lang="it-IT" sz="1000" b="0" i="0" u="none" strike="noStrike" baseline="0" dirty="0">
                <a:solidFill>
                  <a:srgbClr val="000000"/>
                </a:solidFill>
                <a:latin typeface="Arial" panose="020B0604020202020204" pitchFamily="34" charset="0"/>
                <a:cs typeface="Arial" panose="020B0604020202020204" pitchFamily="34" charset="0"/>
              </a:rPr>
              <a:t>i criteri per individuare le operazioni collegate.</a:t>
            </a:r>
          </a:p>
          <a:p>
            <a:pPr marL="171450" indent="-171450" algn="just">
              <a:buFont typeface="Wingdings" panose="05000000000000000000" pitchFamily="2" charset="2"/>
              <a:buChar char="Ø"/>
            </a:pPr>
            <a:r>
              <a:rPr lang="it-IT" sz="1000" b="0" i="0" u="none" strike="noStrike" baseline="0" dirty="0">
                <a:solidFill>
                  <a:srgbClr val="000000"/>
                </a:solidFill>
                <a:latin typeface="Arial" panose="020B0604020202020204" pitchFamily="34" charset="0"/>
                <a:cs typeface="Arial" panose="020B0604020202020204" pitchFamily="34" charset="0"/>
              </a:rPr>
              <a:t>orientamenti sulle variabili di rischio e sui </a:t>
            </a:r>
            <a:r>
              <a:rPr lang="it-IT" sz="1000" b="1" i="0" u="none" strike="noStrike" baseline="0" dirty="0">
                <a:solidFill>
                  <a:srgbClr val="000000"/>
                </a:solidFill>
                <a:latin typeface="Arial" panose="020B0604020202020204" pitchFamily="34" charset="0"/>
                <a:cs typeface="Arial" panose="020B0604020202020204" pitchFamily="34" charset="0"/>
              </a:rPr>
              <a:t>fattori di rischio </a:t>
            </a:r>
            <a:r>
              <a:rPr lang="it-IT" sz="1000" b="0" i="0" u="none" strike="noStrike" baseline="0" dirty="0">
                <a:solidFill>
                  <a:srgbClr val="000000"/>
                </a:solidFill>
                <a:latin typeface="Arial" panose="020B0604020202020204" pitchFamily="34" charset="0"/>
                <a:cs typeface="Arial" panose="020B0604020202020204" pitchFamily="34" charset="0"/>
              </a:rPr>
              <a:t>che i soggetti obbligati devono prendere in considerazione quando avviano </a:t>
            </a:r>
            <a:r>
              <a:rPr lang="it-IT" sz="1000" b="1" i="0" u="none" strike="noStrike" baseline="0" dirty="0">
                <a:solidFill>
                  <a:srgbClr val="000000"/>
                </a:solidFill>
                <a:latin typeface="Arial" panose="020B0604020202020204" pitchFamily="34" charset="0"/>
                <a:cs typeface="Arial" panose="020B0604020202020204" pitchFamily="34" charset="0"/>
              </a:rPr>
              <a:t>rapporti d'affari o effettuano operazioni occasionali;</a:t>
            </a:r>
          </a:p>
          <a:p>
            <a:pPr marL="171450" indent="-171450" algn="just">
              <a:buFont typeface="Wingdings" panose="05000000000000000000" pitchFamily="2" charset="2"/>
              <a:buChar char="Ø"/>
            </a:pPr>
            <a:r>
              <a:rPr lang="it-IT" sz="1000" b="0" i="0" u="none" strike="noStrike" baseline="0" dirty="0">
                <a:solidFill>
                  <a:srgbClr val="000000"/>
                </a:solidFill>
                <a:latin typeface="Arial" panose="020B0604020202020204" pitchFamily="34" charset="0"/>
                <a:cs typeface="Arial" panose="020B0604020202020204" pitchFamily="34" charset="0"/>
              </a:rPr>
              <a:t>orientamenti sul </a:t>
            </a:r>
            <a:r>
              <a:rPr lang="it-IT" sz="1000" b="1" i="0" u="none" strike="noStrike" baseline="0" dirty="0">
                <a:solidFill>
                  <a:srgbClr val="000000"/>
                </a:solidFill>
                <a:latin typeface="Arial" panose="020B0604020202020204" pitchFamily="34" charset="0"/>
                <a:cs typeface="Arial" panose="020B0604020202020204" pitchFamily="34" charset="0"/>
              </a:rPr>
              <a:t>controllo costante di un rapporto d'affari </a:t>
            </a:r>
            <a:r>
              <a:rPr lang="it-IT" sz="1000" b="0" i="0" u="none" strike="noStrike" baseline="0" dirty="0">
                <a:solidFill>
                  <a:srgbClr val="000000"/>
                </a:solidFill>
                <a:latin typeface="Arial" panose="020B0604020202020204" pitchFamily="34" charset="0"/>
                <a:cs typeface="Arial" panose="020B0604020202020204" pitchFamily="34" charset="0"/>
              </a:rPr>
              <a:t>e sul controllo delle operazioni effettuate nel contesto di tale rapporto;</a:t>
            </a:r>
          </a:p>
          <a:p>
            <a:pPr marL="171450" indent="-171450" algn="just">
              <a:buFont typeface="Wingdings" panose="05000000000000000000" pitchFamily="2" charset="2"/>
              <a:buChar char="Ø"/>
            </a:pPr>
            <a:r>
              <a:rPr lang="it-IT" sz="1000" dirty="0">
                <a:solidFill>
                  <a:srgbClr val="000000"/>
                </a:solidFill>
                <a:latin typeface="Arial" panose="020B0604020202020204" pitchFamily="34" charset="0"/>
                <a:cs typeface="Arial" panose="020B0604020202020204" pitchFamily="34" charset="0"/>
              </a:rPr>
              <a:t>Norme tecniche di regolamentazione sulle </a:t>
            </a:r>
            <a:r>
              <a:rPr lang="it-IT" sz="1000" b="1" dirty="0">
                <a:solidFill>
                  <a:srgbClr val="000000"/>
                </a:solidFill>
                <a:latin typeface="Arial" panose="020B0604020202020204" pitchFamily="34" charset="0"/>
                <a:cs typeface="Arial" panose="020B0604020202020204" pitchFamily="34" charset="0"/>
              </a:rPr>
              <a:t>informazioni necessarie per eseguire l'adeguata verifica della </a:t>
            </a:r>
            <a:r>
              <a:rPr lang="it-IT" sz="1000" dirty="0">
                <a:solidFill>
                  <a:srgbClr val="000000"/>
                </a:solidFill>
                <a:latin typeface="Arial" panose="020B0604020202020204" pitchFamily="34" charset="0"/>
                <a:cs typeface="Arial" panose="020B0604020202020204" pitchFamily="34" charset="0"/>
              </a:rPr>
              <a:t>clientela;</a:t>
            </a:r>
          </a:p>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norme tecniche di attuazione su formato da utilizzare per la </a:t>
            </a:r>
            <a:r>
              <a:rPr lang="it-IT" sz="1000" b="1" dirty="0">
                <a:latin typeface="Arial" panose="020B0604020202020204" pitchFamily="34" charset="0"/>
                <a:cs typeface="Arial" panose="020B0604020202020204" pitchFamily="34" charset="0"/>
              </a:rPr>
              <a:t>trasmissione delle SOS </a:t>
            </a:r>
            <a:r>
              <a:rPr lang="it-IT" sz="1000" dirty="0">
                <a:latin typeface="Arial" panose="020B0604020202020204" pitchFamily="34" charset="0"/>
                <a:cs typeface="Arial" panose="020B0604020202020204" pitchFamily="34" charset="0"/>
              </a:rPr>
              <a:t>alle FIU e a EPPO.</a:t>
            </a:r>
            <a:endParaRPr lang="it-IT" sz="1000" b="0" i="0" u="none" strike="noStrike" baseline="0" dirty="0">
              <a:solidFill>
                <a:srgbClr val="000000"/>
              </a:solidFill>
              <a:latin typeface="Arial" panose="020B0604020202020204" pitchFamily="34" charset="0"/>
              <a:cs typeface="Arial" panose="020B0604020202020204" pitchFamily="34" charset="0"/>
            </a:endParaRPr>
          </a:p>
        </p:txBody>
      </p:sp>
      <p:sp>
        <p:nvSpPr>
          <p:cNvPr id="29" name="CasellaDiTesto 28">
            <a:extLst>
              <a:ext uri="{FF2B5EF4-FFF2-40B4-BE49-F238E27FC236}">
                <a16:creationId xmlns:a16="http://schemas.microsoft.com/office/drawing/2014/main" id="{0CC7C12B-0BF6-9C86-A6CA-3487872A12A7}"/>
              </a:ext>
            </a:extLst>
          </p:cNvPr>
          <p:cNvSpPr txBox="1"/>
          <p:nvPr/>
        </p:nvSpPr>
        <p:spPr>
          <a:xfrm>
            <a:off x="3042556" y="4799265"/>
            <a:ext cx="8818791" cy="1938992"/>
          </a:xfrm>
          <a:prstGeom prst="rect">
            <a:avLst/>
          </a:prstGeom>
          <a:solidFill>
            <a:schemeClr val="accent5">
              <a:lumMod val="20000"/>
              <a:lumOff val="80000"/>
            </a:schemeClr>
          </a:solidFill>
          <a:ln>
            <a:solidFill>
              <a:schemeClr val="tx1"/>
            </a:solidFill>
          </a:ln>
        </p:spPr>
        <p:txBody>
          <a:bodyPr wrap="square">
            <a:spAutoFit/>
          </a:bodyPr>
          <a:lstStyle/>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Orientamenti su </a:t>
            </a:r>
            <a:r>
              <a:rPr lang="it-IT" sz="1000" b="1" dirty="0">
                <a:latin typeface="Arial" panose="020B0604020202020204" pitchFamily="34" charset="0"/>
                <a:cs typeface="Arial" panose="020B0604020202020204" pitchFamily="34" charset="0"/>
              </a:rPr>
              <a:t>instaurazione di rapporti di esternalizzazione</a:t>
            </a:r>
            <a:r>
              <a:rPr lang="it-IT" sz="1000" dirty="0">
                <a:latin typeface="Arial" panose="020B0604020202020204" pitchFamily="34" charset="0"/>
                <a:cs typeface="Arial" panose="020B0604020202020204" pitchFamily="34" charset="0"/>
              </a:rPr>
              <a:t>, la loro governance e le </a:t>
            </a:r>
            <a:r>
              <a:rPr lang="it-IT" sz="1000" b="1" dirty="0">
                <a:latin typeface="Arial" panose="020B0604020202020204" pitchFamily="34" charset="0"/>
                <a:cs typeface="Arial" panose="020B0604020202020204" pitchFamily="34" charset="0"/>
              </a:rPr>
              <a:t>procedure per monitorare l'attuazione delle funzioni da parte del prestatore di servizi;</a:t>
            </a:r>
          </a:p>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Orientamenti volti a definire rischi, tendenze e metodi del riciclaggio e del finanziamento del terrorismo che interessano qualsiasi area geografica all'esterno dell'Unione;</a:t>
            </a:r>
          </a:p>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orientamenti in merito alle misure da adottare per stabilire se un cliente detiene complessivamente beni con un valore di almeno 5000000 EUR;</a:t>
            </a:r>
          </a:p>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orientamenti su criteri ed elementi di cui i prestatori di servizi per le cripto-attività tengono conto per avvio rapporti di corrispondenza transfrontalieri;</a:t>
            </a:r>
          </a:p>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orientamenti su criteri per l'identificazione dei soggetti con i quali le persone intrattengono notoriamente stretti legami e  livello di rischio associato a una particolare categoria di persone politicamente esposte, al familiare o a un soggetto con i quali le persone intrattengono notoriamente stretti legami, compresi gli orientamenti sulle modalità di valutazione di tali rischi quando la persona non ricopre più un'importante carica pubblica;</a:t>
            </a:r>
          </a:p>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orientamenti su condizioni di ammissibilità e validità delle informazioni raccolte da un altro soggetto obbligato, anche nel caso di adeguata verifica della clientela a distanza, nonché ruoli e le responsabilità dei soggetti obbligati coinvolti in una situazione di ricorso a un altro soggetto obbligato;</a:t>
            </a:r>
          </a:p>
          <a:p>
            <a:pPr marL="171450" indent="-171450" algn="just">
              <a:buFont typeface="Wingdings" panose="05000000000000000000" pitchFamily="2" charset="2"/>
              <a:buChar char="Ø"/>
            </a:pPr>
            <a:r>
              <a:rPr lang="it-IT" sz="1000" dirty="0">
                <a:latin typeface="Arial" panose="020B0604020202020204" pitchFamily="34" charset="0"/>
                <a:cs typeface="Arial" panose="020B0604020202020204" pitchFamily="34" charset="0"/>
              </a:rPr>
              <a:t>orientamenti sugli indicatori di attività o comportamenti sospetti.</a:t>
            </a:r>
          </a:p>
        </p:txBody>
      </p:sp>
      <p:sp>
        <p:nvSpPr>
          <p:cNvPr id="43" name="Rettangolo 42">
            <a:extLst>
              <a:ext uri="{FF2B5EF4-FFF2-40B4-BE49-F238E27FC236}">
                <a16:creationId xmlns:a16="http://schemas.microsoft.com/office/drawing/2014/main" id="{C9100E7B-7F57-925C-94C1-99EA9F77CA0E}"/>
              </a:ext>
            </a:extLst>
          </p:cNvPr>
          <p:cNvSpPr/>
          <p:nvPr/>
        </p:nvSpPr>
        <p:spPr>
          <a:xfrm>
            <a:off x="429986" y="2477829"/>
            <a:ext cx="1230086" cy="11647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atin typeface="Arial" panose="020B0604020202020204" pitchFamily="34" charset="0"/>
                <a:cs typeface="Arial" panose="020B0604020202020204" pitchFamily="34" charset="0"/>
              </a:rPr>
              <a:t>Entro il 10 luglio 2026</a:t>
            </a:r>
          </a:p>
        </p:txBody>
      </p:sp>
      <p:sp>
        <p:nvSpPr>
          <p:cNvPr id="44" name="Freccia destra con strisce 43">
            <a:extLst>
              <a:ext uri="{FF2B5EF4-FFF2-40B4-BE49-F238E27FC236}">
                <a16:creationId xmlns:a16="http://schemas.microsoft.com/office/drawing/2014/main" id="{3D0C9DBB-FD25-ABCD-48DF-1CD8AB8E58EB}"/>
              </a:ext>
            </a:extLst>
          </p:cNvPr>
          <p:cNvSpPr/>
          <p:nvPr/>
        </p:nvSpPr>
        <p:spPr>
          <a:xfrm>
            <a:off x="1981199" y="2570358"/>
            <a:ext cx="903515" cy="107224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5" name="Rettangolo 44">
            <a:extLst>
              <a:ext uri="{FF2B5EF4-FFF2-40B4-BE49-F238E27FC236}">
                <a16:creationId xmlns:a16="http://schemas.microsoft.com/office/drawing/2014/main" id="{BB6E45D7-AF29-6746-4516-30CB119A6A4C}"/>
              </a:ext>
            </a:extLst>
          </p:cNvPr>
          <p:cNvSpPr/>
          <p:nvPr/>
        </p:nvSpPr>
        <p:spPr>
          <a:xfrm>
            <a:off x="429986" y="5227298"/>
            <a:ext cx="1230086" cy="11647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latin typeface="Arial" panose="020B0604020202020204" pitchFamily="34" charset="0"/>
                <a:cs typeface="Arial" panose="020B0604020202020204" pitchFamily="34" charset="0"/>
              </a:rPr>
              <a:t>Entro il 10 luglio 2027</a:t>
            </a:r>
          </a:p>
        </p:txBody>
      </p:sp>
      <p:sp>
        <p:nvSpPr>
          <p:cNvPr id="46" name="Freccia destra con strisce 45">
            <a:extLst>
              <a:ext uri="{FF2B5EF4-FFF2-40B4-BE49-F238E27FC236}">
                <a16:creationId xmlns:a16="http://schemas.microsoft.com/office/drawing/2014/main" id="{667705B6-C571-E3F8-EC81-19E18A97C887}"/>
              </a:ext>
            </a:extLst>
          </p:cNvPr>
          <p:cNvSpPr/>
          <p:nvPr/>
        </p:nvSpPr>
        <p:spPr>
          <a:xfrm>
            <a:off x="1899557" y="5308839"/>
            <a:ext cx="903515" cy="1072243"/>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 name="CasellaDiTesto 46">
            <a:extLst>
              <a:ext uri="{FF2B5EF4-FFF2-40B4-BE49-F238E27FC236}">
                <a16:creationId xmlns:a16="http://schemas.microsoft.com/office/drawing/2014/main" id="{53810371-0CC6-C3D4-C9AD-53CA4C725A6F}"/>
              </a:ext>
            </a:extLst>
          </p:cNvPr>
          <p:cNvSpPr txBox="1"/>
          <p:nvPr/>
        </p:nvSpPr>
        <p:spPr>
          <a:xfrm>
            <a:off x="201467" y="690827"/>
            <a:ext cx="11859904" cy="460126"/>
          </a:xfrm>
          <a:prstGeom prst="rect">
            <a:avLst/>
          </a:prstGeom>
          <a:noFill/>
        </p:spPr>
        <p:txBody>
          <a:bodyPr wrap="square">
            <a:spAutoFit/>
          </a:bodyPr>
          <a:lstStyle/>
          <a:p>
            <a:pPr algn="just">
              <a:lnSpc>
                <a:spcPct val="130000"/>
              </a:lnSpc>
              <a:spcAft>
                <a:spcPts val="1200"/>
              </a:spcAft>
            </a:pPr>
            <a:r>
              <a:rPr lang="it-IT" sz="2000" dirty="0">
                <a:cs typeface="Arial" panose="020B0604020202020204" pitchFamily="34" charset="0"/>
              </a:rPr>
              <a:t>4. AMLA: MISSION, COMPITI E PRINCIPALI PROVVEDIMENTI CHE TALE ENTE SARA’ CHIAMATO AD EMANARE (2/3)</a:t>
            </a:r>
          </a:p>
        </p:txBody>
      </p:sp>
    </p:spTree>
    <p:extLst>
      <p:ext uri="{BB962C8B-B14F-4D97-AF65-F5344CB8AC3E}">
        <p14:creationId xmlns:p14="http://schemas.microsoft.com/office/powerpoint/2010/main" val="2859983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08DDB-30BF-3046-0CA9-639C896BB3FD}"/>
            </a:ext>
          </a:extLst>
        </p:cNvPr>
        <p:cNvGrpSpPr/>
        <p:nvPr/>
      </p:nvGrpSpPr>
      <p:grpSpPr>
        <a:xfrm>
          <a:off x="0" y="0"/>
          <a:ext cx="0" cy="0"/>
          <a:chOff x="0" y="0"/>
          <a:chExt cx="0" cy="0"/>
        </a:xfrm>
      </p:grpSpPr>
      <p:sp>
        <p:nvSpPr>
          <p:cNvPr id="7" name="CasellaDiTesto 6">
            <a:extLst>
              <a:ext uri="{FF2B5EF4-FFF2-40B4-BE49-F238E27FC236}">
                <a16:creationId xmlns:a16="http://schemas.microsoft.com/office/drawing/2014/main" id="{DBBF1D40-7EA2-E4D8-104D-86C9A4F1EF1F}"/>
              </a:ext>
            </a:extLst>
          </p:cNvPr>
          <p:cNvSpPr txBox="1"/>
          <p:nvPr/>
        </p:nvSpPr>
        <p:spPr>
          <a:xfrm>
            <a:off x="246969" y="1182538"/>
            <a:ext cx="11698062" cy="307777"/>
          </a:xfrm>
          <a:prstGeom prst="rect">
            <a:avLst/>
          </a:prstGeom>
          <a:noFill/>
        </p:spPr>
        <p:txBody>
          <a:bodyPr wrap="square">
            <a:spAutoFit/>
          </a:bodyPr>
          <a:lstStyle/>
          <a:p>
            <a:pPr algn="just"/>
            <a:r>
              <a:rPr lang="it-IT" sz="1400" b="0" i="0" u="none" strike="noStrike" baseline="0" dirty="0">
                <a:solidFill>
                  <a:srgbClr val="000000"/>
                </a:solidFill>
                <a:latin typeface="Arial" panose="020B0604020202020204" pitchFamily="34" charset="0"/>
                <a:cs typeface="Arial" panose="020B0604020202020204" pitchFamily="34" charset="0"/>
              </a:rPr>
              <a:t>Qui di seguito i </a:t>
            </a:r>
            <a:r>
              <a:rPr lang="it-IT" sz="1400" b="1" i="0" u="none" strike="noStrike" baseline="0" dirty="0">
                <a:solidFill>
                  <a:srgbClr val="000000"/>
                </a:solidFill>
                <a:latin typeface="Arial" panose="020B0604020202020204" pitchFamily="34" charset="0"/>
                <a:cs typeface="Arial" panose="020B0604020202020204" pitchFamily="34" charset="0"/>
              </a:rPr>
              <a:t>principali provvedimenti </a:t>
            </a:r>
            <a:r>
              <a:rPr lang="it-IT" sz="1400" b="0" i="0" u="none" strike="noStrike" baseline="0" dirty="0">
                <a:solidFill>
                  <a:srgbClr val="000000"/>
                </a:solidFill>
                <a:latin typeface="Arial" panose="020B0604020202020204" pitchFamily="34" charset="0"/>
                <a:cs typeface="Arial" panose="020B0604020202020204" pitchFamily="34" charset="0"/>
              </a:rPr>
              <a:t>che l’AMLA sarà chiamata ad emanare </a:t>
            </a:r>
            <a:r>
              <a:rPr lang="it-IT" sz="1400" dirty="0">
                <a:solidFill>
                  <a:srgbClr val="000000"/>
                </a:solidFill>
                <a:latin typeface="Arial" panose="020B0604020202020204" pitchFamily="34" charset="0"/>
                <a:cs typeface="Arial" panose="020B0604020202020204" pitchFamily="34" charset="0"/>
              </a:rPr>
              <a:t>nei prossimi 2 anni:</a:t>
            </a:r>
            <a:endParaRPr lang="it-IT" sz="1400" b="0" i="0" u="none" strike="noStrike" baseline="0" dirty="0">
              <a:solidFill>
                <a:srgbClr val="000000"/>
              </a:solidFill>
              <a:latin typeface="Arial" panose="020B0604020202020204" pitchFamily="34" charset="0"/>
              <a:cs typeface="Arial" panose="020B0604020202020204" pitchFamily="34" charset="0"/>
            </a:endParaRPr>
          </a:p>
        </p:txBody>
      </p:sp>
      <p:sp>
        <p:nvSpPr>
          <p:cNvPr id="12" name="CasellaDiTesto 11">
            <a:extLst>
              <a:ext uri="{FF2B5EF4-FFF2-40B4-BE49-F238E27FC236}">
                <a16:creationId xmlns:a16="http://schemas.microsoft.com/office/drawing/2014/main" id="{0EC35C82-E54F-8DBA-E0C0-270D3CCC93E2}"/>
              </a:ext>
            </a:extLst>
          </p:cNvPr>
          <p:cNvSpPr txBox="1"/>
          <p:nvPr/>
        </p:nvSpPr>
        <p:spPr>
          <a:xfrm>
            <a:off x="3205839" y="1908893"/>
            <a:ext cx="8818791" cy="1384995"/>
          </a:xfrm>
          <a:prstGeom prst="rect">
            <a:avLst/>
          </a:prstGeom>
          <a:solidFill>
            <a:schemeClr val="accent5">
              <a:lumMod val="20000"/>
              <a:lumOff val="80000"/>
            </a:schemeClr>
          </a:solidFill>
          <a:ln>
            <a:solidFill>
              <a:schemeClr val="tx1"/>
            </a:solidFill>
          </a:ln>
        </p:spPr>
        <p:txBody>
          <a:bodyPr wrap="square">
            <a:spAutoFit/>
          </a:bodyPr>
          <a:lstStyle/>
          <a:p>
            <a:pPr marL="171450" indent="-171450" algn="just">
              <a:buFont typeface="Wingdings" panose="05000000000000000000" pitchFamily="2" charset="2"/>
              <a:buChar char="Ø"/>
            </a:pPr>
            <a:r>
              <a:rPr lang="it-IT" sz="1400" dirty="0">
                <a:solidFill>
                  <a:srgbClr val="000000"/>
                </a:solidFill>
                <a:latin typeface="Arial" panose="020B0604020202020204" pitchFamily="34" charset="0"/>
                <a:cs typeface="Arial" panose="020B0604020202020204" pitchFamily="34" charset="0"/>
              </a:rPr>
              <a:t>Avvio del primo processo di selezione degli intermediari finanziari da sottoporre a supervisione diretta, da concludersi entro </a:t>
            </a:r>
            <a:r>
              <a:rPr lang="it-IT" sz="1400" b="0" i="0" u="none" strike="noStrike" baseline="0" dirty="0">
                <a:solidFill>
                  <a:srgbClr val="000000"/>
                </a:solidFill>
                <a:latin typeface="Arial" panose="020B0604020202020204" pitchFamily="34" charset="0"/>
                <a:cs typeface="Arial" panose="020B0604020202020204" pitchFamily="34" charset="0"/>
              </a:rPr>
              <a:t>sei mesi dalla data di avvio. Successivamente, il processo di selezione è svolto ogni tre anni a partire dalla data di avvio della prima selezione e, per ogni processo di selezione, si conclude entro sei mesi. L'elenco dei soggetti obbligati selezionati è pubblicato dall'Autorità senza indebito ritardo una volta completato il processo di selezione. L'Autorità inizia la supervisione diretta dei soggetti obbligati selezionati sei mesi dopo la pubblicazione di tale elenco.</a:t>
            </a:r>
          </a:p>
        </p:txBody>
      </p:sp>
      <p:sp>
        <p:nvSpPr>
          <p:cNvPr id="29" name="CasellaDiTesto 28">
            <a:extLst>
              <a:ext uri="{FF2B5EF4-FFF2-40B4-BE49-F238E27FC236}">
                <a16:creationId xmlns:a16="http://schemas.microsoft.com/office/drawing/2014/main" id="{69A4F556-E06F-59C4-2429-4C892DB0FC6C}"/>
              </a:ext>
            </a:extLst>
          </p:cNvPr>
          <p:cNvSpPr txBox="1"/>
          <p:nvPr/>
        </p:nvSpPr>
        <p:spPr>
          <a:xfrm>
            <a:off x="3205838" y="3725380"/>
            <a:ext cx="8818791" cy="307777"/>
          </a:xfrm>
          <a:prstGeom prst="rect">
            <a:avLst/>
          </a:prstGeom>
          <a:solidFill>
            <a:schemeClr val="accent5">
              <a:lumMod val="20000"/>
              <a:lumOff val="80000"/>
            </a:schemeClr>
          </a:solidFill>
          <a:ln>
            <a:solidFill>
              <a:schemeClr val="tx1"/>
            </a:solidFill>
          </a:ln>
        </p:spPr>
        <p:txBody>
          <a:bodyPr wrap="square">
            <a:spAutoFit/>
          </a:bodyPr>
          <a:lstStyle/>
          <a:p>
            <a:pPr marL="171450" indent="-171450" algn="just">
              <a:buFont typeface="Wingdings" panose="05000000000000000000" pitchFamily="2" charset="2"/>
              <a:buChar char="Ø"/>
            </a:pPr>
            <a:r>
              <a:rPr lang="it-IT" sz="1400" dirty="0">
                <a:latin typeface="Arial" panose="020B0604020202020204" pitchFamily="34" charset="0"/>
                <a:cs typeface="Arial" panose="020B0604020202020204" pitchFamily="34" charset="0"/>
              </a:rPr>
              <a:t>Avvio del processo di supervisione diretta degli intermediari finanziari come sopra specificato </a:t>
            </a:r>
          </a:p>
        </p:txBody>
      </p:sp>
      <p:sp>
        <p:nvSpPr>
          <p:cNvPr id="43" name="Rettangolo 42">
            <a:extLst>
              <a:ext uri="{FF2B5EF4-FFF2-40B4-BE49-F238E27FC236}">
                <a16:creationId xmlns:a16="http://schemas.microsoft.com/office/drawing/2014/main" id="{A18C92F8-84F8-B77F-A811-1D7A1EEB8283}"/>
              </a:ext>
            </a:extLst>
          </p:cNvPr>
          <p:cNvSpPr/>
          <p:nvPr/>
        </p:nvSpPr>
        <p:spPr>
          <a:xfrm>
            <a:off x="246971" y="2126612"/>
            <a:ext cx="1511075" cy="7225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Entro il 1° luglio 2027</a:t>
            </a:r>
          </a:p>
        </p:txBody>
      </p:sp>
      <p:sp>
        <p:nvSpPr>
          <p:cNvPr id="44" name="Freccia destra con strisce 43">
            <a:extLst>
              <a:ext uri="{FF2B5EF4-FFF2-40B4-BE49-F238E27FC236}">
                <a16:creationId xmlns:a16="http://schemas.microsoft.com/office/drawing/2014/main" id="{48D45F6D-F35B-0059-97F9-01FE26A1E6A0}"/>
              </a:ext>
            </a:extLst>
          </p:cNvPr>
          <p:cNvSpPr/>
          <p:nvPr/>
        </p:nvSpPr>
        <p:spPr>
          <a:xfrm>
            <a:off x="2030183" y="2126611"/>
            <a:ext cx="903515" cy="722571"/>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5" name="Rettangolo 44">
            <a:extLst>
              <a:ext uri="{FF2B5EF4-FFF2-40B4-BE49-F238E27FC236}">
                <a16:creationId xmlns:a16="http://schemas.microsoft.com/office/drawing/2014/main" id="{FA5E18AA-7690-0FE4-A5D6-16CB5F68E357}"/>
              </a:ext>
            </a:extLst>
          </p:cNvPr>
          <p:cNvSpPr/>
          <p:nvPr/>
        </p:nvSpPr>
        <p:spPr>
          <a:xfrm>
            <a:off x="246969" y="3636207"/>
            <a:ext cx="1456646" cy="5476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600" dirty="0">
                <a:latin typeface="Arial" panose="020B0604020202020204" pitchFamily="34" charset="0"/>
                <a:cs typeface="Arial" panose="020B0604020202020204" pitchFamily="34" charset="0"/>
              </a:rPr>
              <a:t>Entro il 1° luglio 2028</a:t>
            </a:r>
          </a:p>
        </p:txBody>
      </p:sp>
      <p:sp>
        <p:nvSpPr>
          <p:cNvPr id="46" name="Freccia destra con strisce 45">
            <a:extLst>
              <a:ext uri="{FF2B5EF4-FFF2-40B4-BE49-F238E27FC236}">
                <a16:creationId xmlns:a16="http://schemas.microsoft.com/office/drawing/2014/main" id="{308FC420-3881-35A8-8698-5CF183324251}"/>
              </a:ext>
            </a:extLst>
          </p:cNvPr>
          <p:cNvSpPr/>
          <p:nvPr/>
        </p:nvSpPr>
        <p:spPr>
          <a:xfrm>
            <a:off x="2030182" y="3563880"/>
            <a:ext cx="903515" cy="692331"/>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 name="CasellaDiTesto 46">
            <a:extLst>
              <a:ext uri="{FF2B5EF4-FFF2-40B4-BE49-F238E27FC236}">
                <a16:creationId xmlns:a16="http://schemas.microsoft.com/office/drawing/2014/main" id="{D672A6E0-AACD-0D11-10AE-370FECD5D971}"/>
              </a:ext>
            </a:extLst>
          </p:cNvPr>
          <p:cNvSpPr txBox="1"/>
          <p:nvPr/>
        </p:nvSpPr>
        <p:spPr>
          <a:xfrm>
            <a:off x="201467" y="690827"/>
            <a:ext cx="11859904" cy="460126"/>
          </a:xfrm>
          <a:prstGeom prst="rect">
            <a:avLst/>
          </a:prstGeom>
          <a:noFill/>
        </p:spPr>
        <p:txBody>
          <a:bodyPr wrap="square">
            <a:spAutoFit/>
          </a:bodyPr>
          <a:lstStyle/>
          <a:p>
            <a:pPr algn="just">
              <a:lnSpc>
                <a:spcPct val="130000"/>
              </a:lnSpc>
              <a:spcAft>
                <a:spcPts val="1200"/>
              </a:spcAft>
            </a:pPr>
            <a:r>
              <a:rPr lang="it-IT" sz="2000" dirty="0">
                <a:cs typeface="Arial" panose="020B0604020202020204" pitchFamily="34" charset="0"/>
              </a:rPr>
              <a:t>4. AMLA: MISSION, COMPITI E PRINCIPALI PROVVEDIMENTI CHE TALE ENTE SARA’ CHIAMATO AD EMANARE (3/3)</a:t>
            </a:r>
          </a:p>
        </p:txBody>
      </p:sp>
    </p:spTree>
    <p:extLst>
      <p:ext uri="{BB962C8B-B14F-4D97-AF65-F5344CB8AC3E}">
        <p14:creationId xmlns:p14="http://schemas.microsoft.com/office/powerpoint/2010/main" val="2410612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sellaDiTesto 3">
            <a:extLst>
              <a:ext uri="{FF2B5EF4-FFF2-40B4-BE49-F238E27FC236}">
                <a16:creationId xmlns:a16="http://schemas.microsoft.com/office/drawing/2014/main" id="{E5C88075-AF8C-0472-10A1-8155527655FC}"/>
              </a:ext>
            </a:extLst>
          </p:cNvPr>
          <p:cNvSpPr txBox="1"/>
          <p:nvPr/>
        </p:nvSpPr>
        <p:spPr>
          <a:xfrm>
            <a:off x="3817972" y="3136612"/>
            <a:ext cx="4556055" cy="584775"/>
          </a:xfrm>
          <a:prstGeom prst="rect">
            <a:avLst/>
          </a:prstGeom>
          <a:noFill/>
        </p:spPr>
        <p:txBody>
          <a:bodyPr wrap="none" rtlCol="0">
            <a:spAutoFit/>
          </a:bodyPr>
          <a:lstStyle/>
          <a:p>
            <a:r>
              <a:rPr lang="it-IT" sz="3200" b="1" dirty="0">
                <a:latin typeface="Arial" panose="020B0604020202020204" pitchFamily="34" charset="0"/>
                <a:cs typeface="Arial" panose="020B0604020202020204" pitchFamily="34" charset="0"/>
              </a:rPr>
              <a:t>Grazie per l’attenzione</a:t>
            </a:r>
          </a:p>
        </p:txBody>
      </p:sp>
      <p:sp>
        <p:nvSpPr>
          <p:cNvPr id="5" name="CasellaDiTesto 4">
            <a:extLst>
              <a:ext uri="{FF2B5EF4-FFF2-40B4-BE49-F238E27FC236}">
                <a16:creationId xmlns:a16="http://schemas.microsoft.com/office/drawing/2014/main" id="{94DFBF17-0492-D5CF-09E4-CA2F780E4929}"/>
              </a:ext>
            </a:extLst>
          </p:cNvPr>
          <p:cNvSpPr txBox="1"/>
          <p:nvPr/>
        </p:nvSpPr>
        <p:spPr>
          <a:xfrm>
            <a:off x="8049985" y="5970814"/>
            <a:ext cx="3962944" cy="707886"/>
          </a:xfrm>
          <a:prstGeom prst="rect">
            <a:avLst/>
          </a:prstGeom>
          <a:noFill/>
        </p:spPr>
        <p:txBody>
          <a:bodyPr wrap="none" rtlCol="0">
            <a:spAutoFit/>
          </a:bodyPr>
          <a:lstStyle/>
          <a:p>
            <a:r>
              <a:rPr lang="it-IT" sz="2000" b="1" i="1" dirty="0">
                <a:latin typeface="Arial" panose="020B0604020202020204" pitchFamily="34" charset="0"/>
                <a:cs typeface="Arial" panose="020B0604020202020204" pitchFamily="34" charset="0"/>
              </a:rPr>
              <a:t>Serena Ferrario</a:t>
            </a:r>
          </a:p>
          <a:p>
            <a:r>
              <a:rPr lang="it-IT" sz="2000" dirty="0">
                <a:latin typeface="Arial" panose="020B0604020202020204" pitchFamily="34" charset="0"/>
                <a:cs typeface="Arial" panose="020B0604020202020204" pitchFamily="34" charset="0"/>
              </a:rPr>
              <a:t>Serena.ferrario@credit-agricole.it</a:t>
            </a:r>
          </a:p>
        </p:txBody>
      </p:sp>
    </p:spTree>
    <p:extLst>
      <p:ext uri="{BB962C8B-B14F-4D97-AF65-F5344CB8AC3E}">
        <p14:creationId xmlns:p14="http://schemas.microsoft.com/office/powerpoint/2010/main" val="134199902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6bdcdc3-0269-4956-afc7-5dbf3ac3b2c1}" enabled="1" method="Privileged" siteId="{7d5fa3eb-ec46-4a26-b218-5b6b3a14139d}" contentBits="2" removed="0"/>
</clbl:labelList>
</file>

<file path=docProps/app.xml><?xml version="1.0" encoding="utf-8"?>
<Properties xmlns="http://schemas.openxmlformats.org/officeDocument/2006/extended-properties" xmlns:vt="http://schemas.openxmlformats.org/officeDocument/2006/docPropsVTypes">
  <TotalTime>1521</TotalTime>
  <Words>5498</Words>
  <Application>Microsoft Office PowerPoint</Application>
  <PresentationFormat>Widescreen</PresentationFormat>
  <Paragraphs>344</Paragraphs>
  <Slides>20</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20</vt:i4>
      </vt:variant>
    </vt:vector>
  </HeadingPairs>
  <TitlesOfParts>
    <vt:vector size="27" baseType="lpstr">
      <vt:lpstr>Aptos</vt:lpstr>
      <vt:lpstr>Arial</vt:lpstr>
      <vt:lpstr>Calibri</vt:lpstr>
      <vt:lpstr>Calibri Light</vt:lpstr>
      <vt:lpstr>Source Sans Pro</vt:lpstr>
      <vt:lpstr>Wingdings</vt:lpstr>
      <vt:lpstr>Tema di Office</vt:lpstr>
      <vt:lpstr>Presentazione standard di PowerPoint</vt:lpstr>
      <vt:lpstr>AML PACKAGE  ANALISI PRINCIPALI NOVITA’ E POSSIBILI IMPATTI SU SISTEMA PROCEDURE E CONTROLLI INTERMEDIARI BANCARI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Riccardo Scardino</dc:creator>
  <cp:lastModifiedBy>Balducci Sara</cp:lastModifiedBy>
  <cp:revision>35</cp:revision>
  <dcterms:created xsi:type="dcterms:W3CDTF">2024-01-18T11:24:20Z</dcterms:created>
  <dcterms:modified xsi:type="dcterms:W3CDTF">2026-06-06T09:53:57Z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Tema di Office:11</vt:lpwstr>
  </property>
  <property fmtid="{D5CDD505-2E9C-101B-9397-08002B2CF9AE}" pid="3" name="ClassificationContentMarkingFooterText">
    <vt:lpwstr>Pubblico</vt:lpwstr>
  </property>
</Properties>
</file>